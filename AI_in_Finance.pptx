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929" r:id="rId3"/>
    <p:sldId id="911" r:id="rId4"/>
    <p:sldId id="1064" r:id="rId5"/>
    <p:sldId id="1065" r:id="rId6"/>
    <p:sldId id="1066" r:id="rId7"/>
    <p:sldId id="1068" r:id="rId8"/>
    <p:sldId id="1067" r:id="rId9"/>
    <p:sldId id="1069" r:id="rId10"/>
    <p:sldId id="1070" r:id="rId11"/>
    <p:sldId id="1062" r:id="rId12"/>
    <p:sldId id="1071" r:id="rId13"/>
    <p:sldId id="1063" r:id="rId14"/>
    <p:sldId id="1041" r:id="rId15"/>
    <p:sldId id="1039" r:id="rId16"/>
    <p:sldId id="1040" r:id="rId17"/>
    <p:sldId id="1035" r:id="rId18"/>
    <p:sldId id="1036" r:id="rId19"/>
    <p:sldId id="1037" r:id="rId20"/>
    <p:sldId id="1072" r:id="rId21"/>
    <p:sldId id="1073" r:id="rId22"/>
    <p:sldId id="1074" r:id="rId23"/>
    <p:sldId id="1075" r:id="rId24"/>
    <p:sldId id="1076" r:id="rId25"/>
    <p:sldId id="1077" r:id="rId26"/>
    <p:sldId id="1078" r:id="rId27"/>
    <p:sldId id="1079" r:id="rId28"/>
    <p:sldId id="1080" r:id="rId29"/>
    <p:sldId id="1081" r:id="rId30"/>
    <p:sldId id="1082" r:id="rId31"/>
    <p:sldId id="1083" r:id="rId32"/>
    <p:sldId id="1084" r:id="rId33"/>
    <p:sldId id="1085" r:id="rId34"/>
    <p:sldId id="1087" r:id="rId35"/>
    <p:sldId id="1088" r:id="rId36"/>
    <p:sldId id="1086" r:id="rId37"/>
    <p:sldId id="1089" r:id="rId38"/>
    <p:sldId id="1090" r:id="rId39"/>
    <p:sldId id="1091" r:id="rId40"/>
    <p:sldId id="1092" r:id="rId41"/>
    <p:sldId id="1033" r:id="rId42"/>
    <p:sldId id="1023" r:id="rId43"/>
    <p:sldId id="1093" r:id="rId44"/>
    <p:sldId id="1094" r:id="rId45"/>
    <p:sldId id="1025" r:id="rId46"/>
    <p:sldId id="1026" r:id="rId47"/>
    <p:sldId id="1027" r:id="rId48"/>
    <p:sldId id="1028" r:id="rId49"/>
    <p:sldId id="1029" r:id="rId50"/>
    <p:sldId id="1030" r:id="rId51"/>
    <p:sldId id="1031" r:id="rId52"/>
    <p:sldId id="1095" r:id="rId53"/>
    <p:sldId id="1096" r:id="rId54"/>
    <p:sldId id="1097" r:id="rId55"/>
    <p:sldId id="1098" r:id="rId56"/>
    <p:sldId id="1099" r:id="rId57"/>
    <p:sldId id="1100" r:id="rId58"/>
    <p:sldId id="1101" r:id="rId59"/>
    <p:sldId id="1102" r:id="rId60"/>
    <p:sldId id="941" r:id="rId61"/>
    <p:sldId id="1103" r:id="rId62"/>
    <p:sldId id="1104" r:id="rId63"/>
    <p:sldId id="1038" r:id="rId64"/>
    <p:sldId id="1105" r:id="rId65"/>
    <p:sldId id="1106" r:id="rId66"/>
    <p:sldId id="1107" r:id="rId67"/>
    <p:sldId id="942" r:id="rId68"/>
    <p:sldId id="1043" r:id="rId69"/>
    <p:sldId id="1060" r:id="rId70"/>
    <p:sldId id="927" r:id="rId71"/>
    <p:sldId id="930" r:id="rId72"/>
    <p:sldId id="921" r:id="rId73"/>
    <p:sldId id="905" r:id="rId74"/>
    <p:sldId id="916" r:id="rId75"/>
    <p:sldId id="920" r:id="rId76"/>
    <p:sldId id="931" r:id="rId77"/>
    <p:sldId id="906" r:id="rId78"/>
    <p:sldId id="912" r:id="rId79"/>
    <p:sldId id="913" r:id="rId80"/>
    <p:sldId id="914" r:id="rId81"/>
    <p:sldId id="891" r:id="rId82"/>
    <p:sldId id="938" r:id="rId83"/>
    <p:sldId id="940" r:id="rId84"/>
    <p:sldId id="939" r:id="rId85"/>
    <p:sldId id="915" r:id="rId86"/>
    <p:sldId id="274" r:id="rId87"/>
    <p:sldId id="275" r:id="rId88"/>
    <p:sldId id="277" r:id="rId89"/>
    <p:sldId id="278" r:id="rId90"/>
    <p:sldId id="279" r:id="rId91"/>
    <p:sldId id="280" r:id="rId92"/>
    <p:sldId id="283" r:id="rId93"/>
    <p:sldId id="284" r:id="rId94"/>
    <p:sldId id="285" r:id="rId95"/>
    <p:sldId id="281" r:id="rId96"/>
    <p:sldId id="286" r:id="rId97"/>
    <p:sldId id="287" r:id="rId98"/>
    <p:sldId id="288" r:id="rId99"/>
    <p:sldId id="289" r:id="rId100"/>
    <p:sldId id="290" r:id="rId101"/>
    <p:sldId id="291" r:id="rId102"/>
    <p:sldId id="294" r:id="rId103"/>
    <p:sldId id="295" r:id="rId104"/>
    <p:sldId id="296" r:id="rId105"/>
    <p:sldId id="297" r:id="rId106"/>
    <p:sldId id="298" r:id="rId107"/>
    <p:sldId id="299" r:id="rId108"/>
    <p:sldId id="300" r:id="rId109"/>
    <p:sldId id="301" r:id="rId110"/>
    <p:sldId id="292" r:id="rId111"/>
    <p:sldId id="293" r:id="rId112"/>
    <p:sldId id="302" r:id="rId113"/>
    <p:sldId id="303" r:id="rId114"/>
    <p:sldId id="304" r:id="rId115"/>
    <p:sldId id="306" r:id="rId116"/>
    <p:sldId id="307" r:id="rId117"/>
    <p:sldId id="308" r:id="rId118"/>
    <p:sldId id="309" r:id="rId119"/>
    <p:sldId id="310" r:id="rId120"/>
    <p:sldId id="311" r:id="rId121"/>
    <p:sldId id="312" r:id="rId122"/>
    <p:sldId id="313" r:id="rId123"/>
    <p:sldId id="314" r:id="rId124"/>
    <p:sldId id="315" r:id="rId125"/>
    <p:sldId id="316" r:id="rId126"/>
    <p:sldId id="317" r:id="rId127"/>
    <p:sldId id="318" r:id="rId128"/>
    <p:sldId id="319" r:id="rId129"/>
    <p:sldId id="320" r:id="rId130"/>
    <p:sldId id="321" r:id="rId131"/>
    <p:sldId id="322" r:id="rId132"/>
    <p:sldId id="323" r:id="rId133"/>
    <p:sldId id="324" r:id="rId134"/>
    <p:sldId id="325" r:id="rId135"/>
    <p:sldId id="326" r:id="rId136"/>
    <p:sldId id="327" r:id="rId137"/>
    <p:sldId id="328" r:id="rId138"/>
    <p:sldId id="329" r:id="rId139"/>
    <p:sldId id="330" r:id="rId140"/>
    <p:sldId id="331" r:id="rId141"/>
    <p:sldId id="332" r:id="rId142"/>
    <p:sldId id="336" r:id="rId143"/>
    <p:sldId id="335" r:id="rId144"/>
    <p:sldId id="333" r:id="rId145"/>
    <p:sldId id="334" r:id="rId146"/>
    <p:sldId id="337" r:id="rId147"/>
    <p:sldId id="338" r:id="rId148"/>
    <p:sldId id="339" r:id="rId149"/>
    <p:sldId id="340" r:id="rId150"/>
    <p:sldId id="341" r:id="rId151"/>
    <p:sldId id="342" r:id="rId152"/>
    <p:sldId id="343" r:id="rId153"/>
    <p:sldId id="344" r:id="rId154"/>
    <p:sldId id="345" r:id="rId155"/>
    <p:sldId id="346" r:id="rId156"/>
    <p:sldId id="347" r:id="rId157"/>
    <p:sldId id="348" r:id="rId158"/>
    <p:sldId id="349" r:id="rId159"/>
    <p:sldId id="350" r:id="rId160"/>
    <p:sldId id="351" r:id="rId161"/>
    <p:sldId id="352" r:id="rId162"/>
    <p:sldId id="353" r:id="rId163"/>
    <p:sldId id="354" r:id="rId164"/>
    <p:sldId id="355" r:id="rId165"/>
    <p:sldId id="356" r:id="rId166"/>
    <p:sldId id="363" r:id="rId167"/>
    <p:sldId id="357" r:id="rId168"/>
    <p:sldId id="358" r:id="rId169"/>
    <p:sldId id="359" r:id="rId170"/>
    <p:sldId id="360" r:id="rId171"/>
    <p:sldId id="361" r:id="rId172"/>
    <p:sldId id="364" r:id="rId173"/>
    <p:sldId id="365" r:id="rId174"/>
    <p:sldId id="366" r:id="rId175"/>
    <p:sldId id="367" r:id="rId176"/>
    <p:sldId id="362" r:id="rId177"/>
    <p:sldId id="257" r:id="rId178"/>
    <p:sldId id="259" r:id="rId179"/>
    <p:sldId id="258" r:id="rId180"/>
    <p:sldId id="260" r:id="rId181"/>
    <p:sldId id="261" r:id="rId182"/>
    <p:sldId id="262" r:id="rId183"/>
    <p:sldId id="264" r:id="rId184"/>
    <p:sldId id="265" r:id="rId185"/>
    <p:sldId id="266" r:id="rId186"/>
    <p:sldId id="267" r:id="rId187"/>
    <p:sldId id="268" r:id="rId188"/>
    <p:sldId id="269" r:id="rId189"/>
    <p:sldId id="270" r:id="rId190"/>
    <p:sldId id="271" r:id="rId191"/>
    <p:sldId id="368" r:id="rId192"/>
    <p:sldId id="272" r:id="rId193"/>
    <p:sldId id="369" r:id="rId194"/>
    <p:sldId id="370" r:id="rId195"/>
    <p:sldId id="371" r:id="rId196"/>
    <p:sldId id="273" r:id="rId197"/>
    <p:sldId id="372" r:id="rId198"/>
    <p:sldId id="373" r:id="rId199"/>
    <p:sldId id="374" r:id="rId200"/>
    <p:sldId id="375" r:id="rId201"/>
    <p:sldId id="376" r:id="rId202"/>
    <p:sldId id="377" r:id="rId203"/>
    <p:sldId id="378" r:id="rId204"/>
    <p:sldId id="379" r:id="rId205"/>
    <p:sldId id="380" r:id="rId206"/>
    <p:sldId id="381" r:id="rId207"/>
    <p:sldId id="382" r:id="rId208"/>
    <p:sldId id="383" r:id="rId209"/>
    <p:sldId id="384" r:id="rId210"/>
    <p:sldId id="385" r:id="rId211"/>
    <p:sldId id="386" r:id="rId212"/>
    <p:sldId id="387" r:id="rId213"/>
    <p:sldId id="388" r:id="rId214"/>
    <p:sldId id="389" r:id="rId215"/>
    <p:sldId id="390" r:id="rId216"/>
    <p:sldId id="391" r:id="rId217"/>
    <p:sldId id="392" r:id="rId218"/>
    <p:sldId id="393" r:id="rId219"/>
    <p:sldId id="394" r:id="rId220"/>
    <p:sldId id="398" r:id="rId221"/>
    <p:sldId id="399" r:id="rId222"/>
    <p:sldId id="400" r:id="rId223"/>
    <p:sldId id="401" r:id="rId224"/>
    <p:sldId id="402" r:id="rId225"/>
    <p:sldId id="403" r:id="rId226"/>
    <p:sldId id="404" r:id="rId227"/>
    <p:sldId id="405" r:id="rId228"/>
    <p:sldId id="406" r:id="rId229"/>
    <p:sldId id="407" r:id="rId230"/>
    <p:sldId id="408" r:id="rId231"/>
    <p:sldId id="409" r:id="rId232"/>
    <p:sldId id="410" r:id="rId233"/>
    <p:sldId id="411" r:id="rId234"/>
    <p:sldId id="412" r:id="rId235"/>
    <p:sldId id="413" r:id="rId236"/>
    <p:sldId id="414" r:id="rId237"/>
    <p:sldId id="415" r:id="rId238"/>
    <p:sldId id="416" r:id="rId239"/>
    <p:sldId id="417" r:id="rId240"/>
    <p:sldId id="418" r:id="rId241"/>
    <p:sldId id="419" r:id="rId242"/>
    <p:sldId id="420" r:id="rId243"/>
    <p:sldId id="421" r:id="rId244"/>
    <p:sldId id="422" r:id="rId245"/>
    <p:sldId id="423" r:id="rId246"/>
    <p:sldId id="424" r:id="rId247"/>
    <p:sldId id="425" r:id="rId248"/>
    <p:sldId id="426" r:id="rId249"/>
    <p:sldId id="427" r:id="rId250"/>
    <p:sldId id="428" r:id="rId251"/>
    <p:sldId id="429" r:id="rId252"/>
    <p:sldId id="430" r:id="rId253"/>
    <p:sldId id="431" r:id="rId254"/>
    <p:sldId id="432" r:id="rId255"/>
    <p:sldId id="395" r:id="rId256"/>
    <p:sldId id="396" r:id="rId257"/>
    <p:sldId id="397" r:id="rId258"/>
    <p:sldId id="440" r:id="rId259"/>
    <p:sldId id="441" r:id="rId260"/>
    <p:sldId id="433" r:id="rId261"/>
    <p:sldId id="434" r:id="rId262"/>
    <p:sldId id="443" r:id="rId263"/>
    <p:sldId id="439" r:id="rId264"/>
    <p:sldId id="444" r:id="rId265"/>
    <p:sldId id="446" r:id="rId266"/>
    <p:sldId id="447" r:id="rId267"/>
    <p:sldId id="445" r:id="rId268"/>
    <p:sldId id="448" r:id="rId269"/>
    <p:sldId id="450" r:id="rId270"/>
    <p:sldId id="454" r:id="rId271"/>
    <p:sldId id="451" r:id="rId272"/>
    <p:sldId id="452" r:id="rId273"/>
    <p:sldId id="453" r:id="rId274"/>
    <p:sldId id="455" r:id="rId275"/>
    <p:sldId id="456" r:id="rId276"/>
    <p:sldId id="457" r:id="rId277"/>
    <p:sldId id="458" r:id="rId278"/>
    <p:sldId id="474" r:id="rId279"/>
    <p:sldId id="475" r:id="rId280"/>
    <p:sldId id="459" r:id="rId281"/>
    <p:sldId id="460" r:id="rId282"/>
    <p:sldId id="461" r:id="rId283"/>
    <p:sldId id="462" r:id="rId284"/>
    <p:sldId id="467" r:id="rId285"/>
    <p:sldId id="471" r:id="rId286"/>
    <p:sldId id="472" r:id="rId287"/>
    <p:sldId id="473" r:id="rId288"/>
    <p:sldId id="468" r:id="rId289"/>
    <p:sldId id="469" r:id="rId290"/>
    <p:sldId id="470" r:id="rId291"/>
    <p:sldId id="463" r:id="rId292"/>
    <p:sldId id="464" r:id="rId293"/>
    <p:sldId id="465" r:id="rId294"/>
    <p:sldId id="466" r:id="rId2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91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tableStyles" Target="tableStyles.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presProps" Target="presProps.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viewProps" Target="viewProps.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theme" Target="theme/theme1.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CB18A-F86E-2931-A2B6-14D2EAFACC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AD4F893-A052-F5FB-01BC-CE7C6E7820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01439D6-42CC-3365-D5E5-C95604D307A2}"/>
              </a:ext>
            </a:extLst>
          </p:cNvPr>
          <p:cNvSpPr>
            <a:spLocks noGrp="1"/>
          </p:cNvSpPr>
          <p:nvPr>
            <p:ph type="dt" sz="half" idx="10"/>
          </p:nvPr>
        </p:nvSpPr>
        <p:spPr/>
        <p:txBody>
          <a:bodyPr/>
          <a:lstStyle/>
          <a:p>
            <a:fld id="{FAF46D5E-6C96-45F2-BE99-F174F3FFBC27}" type="datetimeFigureOut">
              <a:rPr lang="en-IN" smtClean="0"/>
              <a:t>21-09-2026</a:t>
            </a:fld>
            <a:endParaRPr lang="en-IN"/>
          </a:p>
        </p:txBody>
      </p:sp>
      <p:sp>
        <p:nvSpPr>
          <p:cNvPr id="5" name="Footer Placeholder 4">
            <a:extLst>
              <a:ext uri="{FF2B5EF4-FFF2-40B4-BE49-F238E27FC236}">
                <a16:creationId xmlns:a16="http://schemas.microsoft.com/office/drawing/2014/main" id="{885865A8-5F5D-1F58-2419-7132B13AAB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978908-1781-FF0C-F68F-98B6DE7E0A91}"/>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3037165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27448-AE66-E44C-4E5B-5BF29E8C8A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1BB5DC-5E25-3BB9-B22E-282E3037DF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BD8425-F16C-70A8-30DF-EE5D65BD773E}"/>
              </a:ext>
            </a:extLst>
          </p:cNvPr>
          <p:cNvSpPr>
            <a:spLocks noGrp="1"/>
          </p:cNvSpPr>
          <p:nvPr>
            <p:ph type="dt" sz="half" idx="10"/>
          </p:nvPr>
        </p:nvSpPr>
        <p:spPr/>
        <p:txBody>
          <a:bodyPr/>
          <a:lstStyle/>
          <a:p>
            <a:fld id="{FAF46D5E-6C96-45F2-BE99-F174F3FFBC27}" type="datetimeFigureOut">
              <a:rPr lang="en-IN" smtClean="0"/>
              <a:t>21-09-2026</a:t>
            </a:fld>
            <a:endParaRPr lang="en-IN"/>
          </a:p>
        </p:txBody>
      </p:sp>
      <p:sp>
        <p:nvSpPr>
          <p:cNvPr id="5" name="Footer Placeholder 4">
            <a:extLst>
              <a:ext uri="{FF2B5EF4-FFF2-40B4-BE49-F238E27FC236}">
                <a16:creationId xmlns:a16="http://schemas.microsoft.com/office/drawing/2014/main" id="{91C9D0EA-B1CA-4207-F46C-18C83E3399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43D045-6E30-B47F-A7F6-78402FACEAE6}"/>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3234328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1B3BB-CD36-C923-5C72-4C325441DD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A20D259-B401-8AF7-28EF-87CA499E8F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B9EC0C-8733-1C67-CFD5-BD0E6E1570B6}"/>
              </a:ext>
            </a:extLst>
          </p:cNvPr>
          <p:cNvSpPr>
            <a:spLocks noGrp="1"/>
          </p:cNvSpPr>
          <p:nvPr>
            <p:ph type="dt" sz="half" idx="10"/>
          </p:nvPr>
        </p:nvSpPr>
        <p:spPr/>
        <p:txBody>
          <a:bodyPr/>
          <a:lstStyle/>
          <a:p>
            <a:fld id="{FAF46D5E-6C96-45F2-BE99-F174F3FFBC27}" type="datetimeFigureOut">
              <a:rPr lang="en-IN" smtClean="0"/>
              <a:t>21-09-2026</a:t>
            </a:fld>
            <a:endParaRPr lang="en-IN"/>
          </a:p>
        </p:txBody>
      </p:sp>
      <p:sp>
        <p:nvSpPr>
          <p:cNvPr id="5" name="Footer Placeholder 4">
            <a:extLst>
              <a:ext uri="{FF2B5EF4-FFF2-40B4-BE49-F238E27FC236}">
                <a16:creationId xmlns:a16="http://schemas.microsoft.com/office/drawing/2014/main" id="{41680902-1D6B-88E5-C978-62358B7276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AF75BA-5C82-6D76-EE17-DECB3DC4B23A}"/>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4242523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73434-7BB0-6B99-1783-16F3DB8C99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BE13E9-F646-FCC2-8220-073EB90EF3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4684012-D068-D799-9442-C9D8101CCE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94C42F6-E006-A185-C4B4-8A45577F22D6}"/>
              </a:ext>
            </a:extLst>
          </p:cNvPr>
          <p:cNvSpPr>
            <a:spLocks noGrp="1"/>
          </p:cNvSpPr>
          <p:nvPr>
            <p:ph type="dt" sz="half" idx="10"/>
          </p:nvPr>
        </p:nvSpPr>
        <p:spPr/>
        <p:txBody>
          <a:bodyPr/>
          <a:lstStyle/>
          <a:p>
            <a:fld id="{FAF46D5E-6C96-45F2-BE99-F174F3FFBC27}" type="datetimeFigureOut">
              <a:rPr lang="en-IN" smtClean="0"/>
              <a:t>21-09-2026</a:t>
            </a:fld>
            <a:endParaRPr lang="en-IN"/>
          </a:p>
        </p:txBody>
      </p:sp>
      <p:sp>
        <p:nvSpPr>
          <p:cNvPr id="6" name="Footer Placeholder 5">
            <a:extLst>
              <a:ext uri="{FF2B5EF4-FFF2-40B4-BE49-F238E27FC236}">
                <a16:creationId xmlns:a16="http://schemas.microsoft.com/office/drawing/2014/main" id="{F31F8568-1D00-0E8F-0F5A-8B7D9275E6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475ACD-F2BF-EA7E-3CA1-58D29E11A616}"/>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3350561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1C7E-D9AB-3139-D33E-AB11B5E6E26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E447BD-B359-D096-2CB9-D14F931CEC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0E6DFC-DB74-0B08-4176-4D75C53BE5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73D75DB-53A7-F732-59BD-2B63FC4364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4BE800-78FC-D023-29D2-9FA16152AE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7D019CF-230E-6976-D9AB-7133C322F610}"/>
              </a:ext>
            </a:extLst>
          </p:cNvPr>
          <p:cNvSpPr>
            <a:spLocks noGrp="1"/>
          </p:cNvSpPr>
          <p:nvPr>
            <p:ph type="dt" sz="half" idx="10"/>
          </p:nvPr>
        </p:nvSpPr>
        <p:spPr/>
        <p:txBody>
          <a:bodyPr/>
          <a:lstStyle/>
          <a:p>
            <a:fld id="{FAF46D5E-6C96-45F2-BE99-F174F3FFBC27}" type="datetimeFigureOut">
              <a:rPr lang="en-IN" smtClean="0"/>
              <a:t>21-09-2026</a:t>
            </a:fld>
            <a:endParaRPr lang="en-IN"/>
          </a:p>
        </p:txBody>
      </p:sp>
      <p:sp>
        <p:nvSpPr>
          <p:cNvPr id="8" name="Footer Placeholder 7">
            <a:extLst>
              <a:ext uri="{FF2B5EF4-FFF2-40B4-BE49-F238E27FC236}">
                <a16:creationId xmlns:a16="http://schemas.microsoft.com/office/drawing/2014/main" id="{2EF984D1-4A28-82E9-62E9-5EF5F5D2713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BF02A3D-70DD-236C-EC70-1D2D0A2DE5E0}"/>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4016455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CCCA8-87FF-4203-6D05-AF95F5C716C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7ECE82E-C353-5517-A19C-64B88D5DDF37}"/>
              </a:ext>
            </a:extLst>
          </p:cNvPr>
          <p:cNvSpPr>
            <a:spLocks noGrp="1"/>
          </p:cNvSpPr>
          <p:nvPr>
            <p:ph type="dt" sz="half" idx="10"/>
          </p:nvPr>
        </p:nvSpPr>
        <p:spPr/>
        <p:txBody>
          <a:bodyPr/>
          <a:lstStyle/>
          <a:p>
            <a:fld id="{FAF46D5E-6C96-45F2-BE99-F174F3FFBC27}" type="datetimeFigureOut">
              <a:rPr lang="en-IN" smtClean="0"/>
              <a:t>21-09-2026</a:t>
            </a:fld>
            <a:endParaRPr lang="en-IN"/>
          </a:p>
        </p:txBody>
      </p:sp>
      <p:sp>
        <p:nvSpPr>
          <p:cNvPr id="4" name="Footer Placeholder 3">
            <a:extLst>
              <a:ext uri="{FF2B5EF4-FFF2-40B4-BE49-F238E27FC236}">
                <a16:creationId xmlns:a16="http://schemas.microsoft.com/office/drawing/2014/main" id="{9DAAE48B-8526-9431-E5A3-E9E50218112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8A30F32-5EA7-027C-30E6-2494F60CFF44}"/>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3229889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C8E9AD-BEDC-39F1-D618-4048166FBCA5}"/>
              </a:ext>
            </a:extLst>
          </p:cNvPr>
          <p:cNvSpPr>
            <a:spLocks noGrp="1"/>
          </p:cNvSpPr>
          <p:nvPr>
            <p:ph type="dt" sz="half" idx="10"/>
          </p:nvPr>
        </p:nvSpPr>
        <p:spPr/>
        <p:txBody>
          <a:bodyPr/>
          <a:lstStyle/>
          <a:p>
            <a:fld id="{FAF46D5E-6C96-45F2-BE99-F174F3FFBC27}" type="datetimeFigureOut">
              <a:rPr lang="en-IN" smtClean="0"/>
              <a:t>21-09-2026</a:t>
            </a:fld>
            <a:endParaRPr lang="en-IN"/>
          </a:p>
        </p:txBody>
      </p:sp>
      <p:sp>
        <p:nvSpPr>
          <p:cNvPr id="3" name="Footer Placeholder 2">
            <a:extLst>
              <a:ext uri="{FF2B5EF4-FFF2-40B4-BE49-F238E27FC236}">
                <a16:creationId xmlns:a16="http://schemas.microsoft.com/office/drawing/2014/main" id="{4EF52D5B-9550-9A66-D141-D78C78F9375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21F46F1-9008-F6A9-AC83-5354FEE963A9}"/>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2884031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8B425-7146-3EE2-AE59-F4D11DF287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FBC4488-E3FD-B9DA-9665-A380609175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9E5782C-8BAA-0660-F5DC-B7AF5CFCEF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BEA989-0DA3-C2D1-2310-39130C5AD647}"/>
              </a:ext>
            </a:extLst>
          </p:cNvPr>
          <p:cNvSpPr>
            <a:spLocks noGrp="1"/>
          </p:cNvSpPr>
          <p:nvPr>
            <p:ph type="dt" sz="half" idx="10"/>
          </p:nvPr>
        </p:nvSpPr>
        <p:spPr/>
        <p:txBody>
          <a:bodyPr/>
          <a:lstStyle/>
          <a:p>
            <a:fld id="{FAF46D5E-6C96-45F2-BE99-F174F3FFBC27}" type="datetimeFigureOut">
              <a:rPr lang="en-IN" smtClean="0"/>
              <a:t>21-09-2026</a:t>
            </a:fld>
            <a:endParaRPr lang="en-IN"/>
          </a:p>
        </p:txBody>
      </p:sp>
      <p:sp>
        <p:nvSpPr>
          <p:cNvPr id="6" name="Footer Placeholder 5">
            <a:extLst>
              <a:ext uri="{FF2B5EF4-FFF2-40B4-BE49-F238E27FC236}">
                <a16:creationId xmlns:a16="http://schemas.microsoft.com/office/drawing/2014/main" id="{8BBB26E1-6567-5B46-283B-D92181F387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8AEEB1-15BE-248B-B0FD-5093C86C191B}"/>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4017729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D4C5C-FB24-F5C5-9786-68D6925048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6F2C7C8-AA1E-9AD7-A25C-15B8532180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1009943-4028-5051-ADBD-68A95ECAC8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E26B94-EC16-5D49-8BAB-8CE2AA7269C0}"/>
              </a:ext>
            </a:extLst>
          </p:cNvPr>
          <p:cNvSpPr>
            <a:spLocks noGrp="1"/>
          </p:cNvSpPr>
          <p:nvPr>
            <p:ph type="dt" sz="half" idx="10"/>
          </p:nvPr>
        </p:nvSpPr>
        <p:spPr/>
        <p:txBody>
          <a:bodyPr/>
          <a:lstStyle/>
          <a:p>
            <a:fld id="{FAF46D5E-6C96-45F2-BE99-F174F3FFBC27}" type="datetimeFigureOut">
              <a:rPr lang="en-IN" smtClean="0"/>
              <a:t>21-09-2026</a:t>
            </a:fld>
            <a:endParaRPr lang="en-IN"/>
          </a:p>
        </p:txBody>
      </p:sp>
      <p:sp>
        <p:nvSpPr>
          <p:cNvPr id="6" name="Footer Placeholder 5">
            <a:extLst>
              <a:ext uri="{FF2B5EF4-FFF2-40B4-BE49-F238E27FC236}">
                <a16:creationId xmlns:a16="http://schemas.microsoft.com/office/drawing/2014/main" id="{E2D02948-842E-098D-1035-8656ABF351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9F6855-6C68-C51B-8F48-F7042001A16D}"/>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2163425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58DA6-C6C0-F560-71DA-241B924222B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214C51-15FB-C8CA-3B38-764AEEB768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B77480-3028-5532-B1AB-D01F83054E22}"/>
              </a:ext>
            </a:extLst>
          </p:cNvPr>
          <p:cNvSpPr>
            <a:spLocks noGrp="1"/>
          </p:cNvSpPr>
          <p:nvPr>
            <p:ph type="dt" sz="half" idx="10"/>
          </p:nvPr>
        </p:nvSpPr>
        <p:spPr/>
        <p:txBody>
          <a:bodyPr/>
          <a:lstStyle/>
          <a:p>
            <a:fld id="{FAF46D5E-6C96-45F2-BE99-F174F3FFBC27}" type="datetimeFigureOut">
              <a:rPr lang="en-IN" smtClean="0"/>
              <a:t>21-09-2026</a:t>
            </a:fld>
            <a:endParaRPr lang="en-IN"/>
          </a:p>
        </p:txBody>
      </p:sp>
      <p:sp>
        <p:nvSpPr>
          <p:cNvPr id="5" name="Footer Placeholder 4">
            <a:extLst>
              <a:ext uri="{FF2B5EF4-FFF2-40B4-BE49-F238E27FC236}">
                <a16:creationId xmlns:a16="http://schemas.microsoft.com/office/drawing/2014/main" id="{A1421D81-BC91-4615-C5D4-1E953EC386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29D89F-57B9-80D5-D9C5-54D5605AB3C3}"/>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153564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1B192D-76B9-DCC6-6DB5-B586485AD37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E729651-AE90-6D2E-756A-D68D567736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CE794E-9899-BB9A-F415-AADFE141FF5A}"/>
              </a:ext>
            </a:extLst>
          </p:cNvPr>
          <p:cNvSpPr>
            <a:spLocks noGrp="1"/>
          </p:cNvSpPr>
          <p:nvPr>
            <p:ph type="dt" sz="half" idx="10"/>
          </p:nvPr>
        </p:nvSpPr>
        <p:spPr/>
        <p:txBody>
          <a:bodyPr/>
          <a:lstStyle/>
          <a:p>
            <a:fld id="{FAF46D5E-6C96-45F2-BE99-F174F3FFBC27}" type="datetimeFigureOut">
              <a:rPr lang="en-IN" smtClean="0"/>
              <a:t>21-09-2026</a:t>
            </a:fld>
            <a:endParaRPr lang="en-IN"/>
          </a:p>
        </p:txBody>
      </p:sp>
      <p:sp>
        <p:nvSpPr>
          <p:cNvPr id="5" name="Footer Placeholder 4">
            <a:extLst>
              <a:ext uri="{FF2B5EF4-FFF2-40B4-BE49-F238E27FC236}">
                <a16:creationId xmlns:a16="http://schemas.microsoft.com/office/drawing/2014/main" id="{B32E7E2D-68F7-BF3B-E6E7-9848B9A80E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7A8ED7-3D35-749A-7FAF-61AF0DA62DA9}"/>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1612132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
        <p:cNvGrpSpPr/>
        <p:nvPr/>
      </p:nvGrpSpPr>
      <p:grpSpPr>
        <a:xfrm>
          <a:off x="0" y="0"/>
          <a:ext cx="0" cy="0"/>
          <a:chOff x="0" y="0"/>
          <a:chExt cx="0" cy="0"/>
        </a:xfrm>
      </p:grpSpPr>
      <p:sp>
        <p:nvSpPr>
          <p:cNvPr id="17" name="Google Shape;17;p4"/>
          <p:cNvSpPr txBox="1">
            <a:spLocks noGrp="1"/>
          </p:cNvSpPr>
          <p:nvPr>
            <p:ph type="body" idx="1"/>
          </p:nvPr>
        </p:nvSpPr>
        <p:spPr>
          <a:xfrm>
            <a:off x="1849333" y="2577600"/>
            <a:ext cx="8322000" cy="1093200"/>
          </a:xfrm>
          <a:prstGeom prst="rect">
            <a:avLst/>
          </a:prstGeom>
        </p:spPr>
        <p:txBody>
          <a:bodyPr spcFirstLastPara="1" wrap="square" lIns="0" tIns="0" rIns="0" bIns="0" anchor="ctr" anchorCtr="0">
            <a:noAutofit/>
          </a:bodyPr>
          <a:lstStyle>
            <a:lvl1pPr marL="609585" lvl="0" indent="-668850" rtl="0">
              <a:spcBef>
                <a:spcPts val="0"/>
              </a:spcBef>
              <a:spcAft>
                <a:spcPts val="0"/>
              </a:spcAft>
              <a:buSzPts val="4300"/>
              <a:buChar char="•"/>
              <a:defRPr sz="5733"/>
            </a:lvl1pPr>
            <a:lvl2pPr marL="1219170" lvl="1" indent="-668850" rtl="0">
              <a:spcBef>
                <a:spcPts val="0"/>
              </a:spcBef>
              <a:spcAft>
                <a:spcPts val="0"/>
              </a:spcAft>
              <a:buSzPts val="4300"/>
              <a:buChar char="•"/>
              <a:defRPr sz="5733"/>
            </a:lvl2pPr>
            <a:lvl3pPr marL="1828754" lvl="2" indent="-668850" rtl="0">
              <a:spcBef>
                <a:spcPts val="0"/>
              </a:spcBef>
              <a:spcAft>
                <a:spcPts val="0"/>
              </a:spcAft>
              <a:buSzPts val="4300"/>
              <a:buChar char="•"/>
              <a:defRPr sz="5733"/>
            </a:lvl3pPr>
            <a:lvl4pPr marL="2438339" lvl="3" indent="-668850" rtl="0">
              <a:spcBef>
                <a:spcPts val="0"/>
              </a:spcBef>
              <a:spcAft>
                <a:spcPts val="0"/>
              </a:spcAft>
              <a:buSzPts val="4300"/>
              <a:buChar char="•"/>
              <a:defRPr sz="5733"/>
            </a:lvl4pPr>
            <a:lvl5pPr marL="3047924" lvl="4" indent="-668850" rtl="0">
              <a:spcBef>
                <a:spcPts val="0"/>
              </a:spcBef>
              <a:spcAft>
                <a:spcPts val="0"/>
              </a:spcAft>
              <a:buSzPts val="4300"/>
              <a:buChar char="•"/>
              <a:defRPr sz="5733"/>
            </a:lvl5pPr>
            <a:lvl6pPr marL="3657509" lvl="5" indent="-668850" rtl="0">
              <a:spcBef>
                <a:spcPts val="0"/>
              </a:spcBef>
              <a:spcAft>
                <a:spcPts val="0"/>
              </a:spcAft>
              <a:buSzPts val="4300"/>
              <a:buChar char="•"/>
              <a:defRPr sz="5733"/>
            </a:lvl6pPr>
            <a:lvl7pPr marL="4267093" lvl="6" indent="-668850" rtl="0">
              <a:spcBef>
                <a:spcPts val="0"/>
              </a:spcBef>
              <a:spcAft>
                <a:spcPts val="0"/>
              </a:spcAft>
              <a:buSzPts val="4300"/>
              <a:buChar char="•"/>
              <a:defRPr sz="5733"/>
            </a:lvl7pPr>
            <a:lvl8pPr marL="4876678" lvl="7" indent="-668850" rtl="0">
              <a:spcBef>
                <a:spcPts val="0"/>
              </a:spcBef>
              <a:spcAft>
                <a:spcPts val="0"/>
              </a:spcAft>
              <a:buSzPts val="4300"/>
              <a:buChar char="•"/>
              <a:defRPr sz="5733"/>
            </a:lvl8pPr>
            <a:lvl9pPr marL="5486263" lvl="8" indent="-668850">
              <a:spcBef>
                <a:spcPts val="0"/>
              </a:spcBef>
              <a:spcAft>
                <a:spcPts val="0"/>
              </a:spcAft>
              <a:buSzPts val="4300"/>
              <a:buChar char="•"/>
              <a:defRPr sz="5733"/>
            </a:lvl9pPr>
          </a:lstStyle>
          <a:p>
            <a:endParaRPr/>
          </a:p>
        </p:txBody>
      </p:sp>
      <p:sp>
        <p:nvSpPr>
          <p:cNvPr id="18" name="Google Shape;18;p4"/>
          <p:cNvSpPr txBox="1">
            <a:spLocks noGrp="1"/>
          </p:cNvSpPr>
          <p:nvPr>
            <p:ph type="sldNum" idx="12"/>
          </p:nvPr>
        </p:nvSpPr>
        <p:spPr>
          <a:xfrm>
            <a:off x="11205845" y="338735"/>
            <a:ext cx="731600" cy="5248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902309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16A6F4-A0C4-4F1A-33B1-46CE4279B4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796DB8-3DB1-AF15-DC3C-3C23767253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5EF46B-D521-D9FC-B9BA-78D0E15618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F46D5E-6C96-45F2-BE99-F174F3FFBC27}" type="datetimeFigureOut">
              <a:rPr lang="en-IN" smtClean="0"/>
              <a:t>21-09-2026</a:t>
            </a:fld>
            <a:endParaRPr lang="en-IN"/>
          </a:p>
        </p:txBody>
      </p:sp>
      <p:sp>
        <p:nvSpPr>
          <p:cNvPr id="5" name="Footer Placeholder 4">
            <a:extLst>
              <a:ext uri="{FF2B5EF4-FFF2-40B4-BE49-F238E27FC236}">
                <a16:creationId xmlns:a16="http://schemas.microsoft.com/office/drawing/2014/main" id="{CB60ABA5-BD21-31D9-63A9-BC9018B193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7205164-3879-B756-E24A-3A0993C81C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5FF7DE-1CAA-43AD-845A-5733D4F75FC1}" type="slidenum">
              <a:rPr lang="en-IN" smtClean="0"/>
              <a:t>‹#›</a:t>
            </a:fld>
            <a:endParaRPr lang="en-IN"/>
          </a:p>
        </p:txBody>
      </p:sp>
    </p:spTree>
    <p:extLst>
      <p:ext uri="{BB962C8B-B14F-4D97-AF65-F5344CB8AC3E}">
        <p14:creationId xmlns:p14="http://schemas.microsoft.com/office/powerpoint/2010/main" val="41540801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90992-0EB8-E540-F1C8-8A72C554EB09}"/>
              </a:ext>
            </a:extLst>
          </p:cNvPr>
          <p:cNvSpPr>
            <a:spLocks noGrp="1"/>
          </p:cNvSpPr>
          <p:nvPr>
            <p:ph type="ctrTitle"/>
          </p:nvPr>
        </p:nvSpPr>
        <p:spPr/>
        <p:txBody>
          <a:bodyPr/>
          <a:lstStyle/>
          <a:p>
            <a:r>
              <a:rPr lang="en-IN" b="1" dirty="0"/>
              <a:t>AI in Finance</a:t>
            </a:r>
          </a:p>
        </p:txBody>
      </p:sp>
      <p:sp>
        <p:nvSpPr>
          <p:cNvPr id="3" name="Subtitle 2">
            <a:extLst>
              <a:ext uri="{FF2B5EF4-FFF2-40B4-BE49-F238E27FC236}">
                <a16:creationId xmlns:a16="http://schemas.microsoft.com/office/drawing/2014/main" id="{63B1D6E9-5F6D-4DE8-2297-5A3CB483C468}"/>
              </a:ext>
            </a:extLst>
          </p:cNvPr>
          <p:cNvSpPr>
            <a:spLocks noGrp="1"/>
          </p:cNvSpPr>
          <p:nvPr>
            <p:ph type="subTitle" idx="1"/>
          </p:nvPr>
        </p:nvSpPr>
        <p:spPr/>
        <p:txBody>
          <a:bodyPr/>
          <a:lstStyle/>
          <a:p>
            <a:r>
              <a:rPr lang="en-IN" dirty="0"/>
              <a:t>                                                               Premalatha T</a:t>
            </a:r>
          </a:p>
        </p:txBody>
      </p:sp>
    </p:spTree>
    <p:extLst>
      <p:ext uri="{BB962C8B-B14F-4D97-AF65-F5344CB8AC3E}">
        <p14:creationId xmlns:p14="http://schemas.microsoft.com/office/powerpoint/2010/main" val="1720082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5C03A-BDF6-F6B0-B50D-13FA2F03B4E6}"/>
              </a:ext>
            </a:extLst>
          </p:cNvPr>
          <p:cNvSpPr>
            <a:spLocks noGrp="1"/>
          </p:cNvSpPr>
          <p:nvPr>
            <p:ph type="title"/>
          </p:nvPr>
        </p:nvSpPr>
        <p:spPr>
          <a:xfrm>
            <a:off x="838200" y="365125"/>
            <a:ext cx="10515600" cy="867327"/>
          </a:xfrm>
        </p:spPr>
        <p:txBody>
          <a:bodyPr/>
          <a:lstStyle/>
          <a:p>
            <a:r>
              <a:rPr lang="en-IN" dirty="0"/>
              <a:t>WHO  AM I?</a:t>
            </a:r>
          </a:p>
        </p:txBody>
      </p:sp>
      <p:sp>
        <p:nvSpPr>
          <p:cNvPr id="3" name="Content Placeholder 2">
            <a:extLst>
              <a:ext uri="{FF2B5EF4-FFF2-40B4-BE49-F238E27FC236}">
                <a16:creationId xmlns:a16="http://schemas.microsoft.com/office/drawing/2014/main" id="{0D70BFD3-09A2-176B-838F-D9D9C84A2C5E}"/>
              </a:ext>
            </a:extLst>
          </p:cNvPr>
          <p:cNvSpPr>
            <a:spLocks noGrp="1"/>
          </p:cNvSpPr>
          <p:nvPr>
            <p:ph idx="1"/>
          </p:nvPr>
        </p:nvSpPr>
        <p:spPr>
          <a:xfrm>
            <a:off x="838200" y="1232452"/>
            <a:ext cx="10515600" cy="4944511"/>
          </a:xfrm>
        </p:spPr>
        <p:txBody>
          <a:bodyPr>
            <a:normAutofit/>
          </a:bodyPr>
          <a:lstStyle/>
          <a:p>
            <a:r>
              <a:rPr lang="en-IN" dirty="0"/>
              <a:t>LinkedIn: https://www.linkedin.com/in/latha-t-k-b21018128/</a:t>
            </a:r>
          </a:p>
          <a:p>
            <a:pPr algn="l" fontAlgn="auto"/>
            <a:r>
              <a:rPr lang="en-IN" b="0" i="0" dirty="0">
                <a:effectLst/>
                <a:latin typeface="-apple-system"/>
              </a:rPr>
              <a:t>Data Science ,AIML</a:t>
            </a:r>
          </a:p>
          <a:p>
            <a:pPr algn="l" fontAlgn="auto"/>
            <a:r>
              <a:rPr lang="en-IN" b="0" i="0" dirty="0">
                <a:effectLst/>
                <a:latin typeface="-apple-system"/>
              </a:rPr>
              <a:t>Data Analysis ,</a:t>
            </a:r>
            <a:r>
              <a:rPr lang="en-IN" b="0" i="0" dirty="0" err="1">
                <a:effectLst/>
                <a:latin typeface="-apple-system"/>
              </a:rPr>
              <a:t>SQL,Pyspark</a:t>
            </a:r>
            <a:endParaRPr lang="en-IN" b="0" i="0" dirty="0">
              <a:effectLst/>
              <a:latin typeface="-apple-system"/>
            </a:endParaRPr>
          </a:p>
          <a:p>
            <a:pPr algn="l" fontAlgn="auto"/>
            <a:r>
              <a:rPr lang="en-IN" b="0" i="0" dirty="0">
                <a:effectLst/>
                <a:latin typeface="-apple-system"/>
              </a:rPr>
              <a:t>Data Visualization ,</a:t>
            </a:r>
            <a:r>
              <a:rPr lang="en-IN" b="0" i="0" dirty="0" err="1">
                <a:effectLst/>
                <a:latin typeface="-apple-system"/>
              </a:rPr>
              <a:t>PowerBI,Tableau</a:t>
            </a:r>
            <a:endParaRPr lang="en-IN" b="0" i="0" dirty="0">
              <a:effectLst/>
              <a:latin typeface="-apple-system"/>
            </a:endParaRPr>
          </a:p>
          <a:p>
            <a:pPr algn="l" fontAlgn="auto"/>
            <a:r>
              <a:rPr lang="en-IN" b="0" i="0" dirty="0">
                <a:effectLst/>
                <a:latin typeface="-apple-system"/>
              </a:rPr>
              <a:t>Natural Language Processing (NLP) </a:t>
            </a:r>
          </a:p>
          <a:p>
            <a:pPr algn="l" fontAlgn="auto"/>
            <a:r>
              <a:rPr lang="en-IN" b="0" i="0" dirty="0">
                <a:effectLst/>
                <a:latin typeface="-apple-system"/>
              </a:rPr>
              <a:t>Computer Vision</a:t>
            </a:r>
          </a:p>
          <a:p>
            <a:pPr algn="l" fontAlgn="auto"/>
            <a:r>
              <a:rPr lang="en-IN" dirty="0">
                <a:latin typeface="-apple-system"/>
              </a:rPr>
              <a:t>Generative </a:t>
            </a:r>
            <a:r>
              <a:rPr lang="en-IN" dirty="0" err="1">
                <a:latin typeface="-apple-system"/>
              </a:rPr>
              <a:t>AI,Prompt</a:t>
            </a:r>
            <a:r>
              <a:rPr lang="en-IN" dirty="0">
                <a:latin typeface="-apple-system"/>
              </a:rPr>
              <a:t> Engineering</a:t>
            </a:r>
          </a:p>
          <a:p>
            <a:pPr algn="l" fontAlgn="auto"/>
            <a:r>
              <a:rPr lang="en-IN" b="0" i="0" dirty="0" err="1">
                <a:effectLst/>
                <a:latin typeface="-apple-system"/>
              </a:rPr>
              <a:t>BigData</a:t>
            </a:r>
            <a:r>
              <a:rPr lang="en-IN" b="0" i="0" dirty="0">
                <a:effectLst/>
                <a:latin typeface="-apple-system"/>
              </a:rPr>
              <a:t> and Data Engineering</a:t>
            </a:r>
          </a:p>
        </p:txBody>
      </p:sp>
      <p:pic>
        <p:nvPicPr>
          <p:cNvPr id="5" name="Picture 4">
            <a:extLst>
              <a:ext uri="{FF2B5EF4-FFF2-40B4-BE49-F238E27FC236}">
                <a16:creationId xmlns:a16="http://schemas.microsoft.com/office/drawing/2014/main" id="{DDF5BF6F-44AF-67E7-69EF-BC21F5AE9613}"/>
              </a:ext>
            </a:extLst>
          </p:cNvPr>
          <p:cNvPicPr>
            <a:picLocks noChangeAspect="1"/>
          </p:cNvPicPr>
          <p:nvPr/>
        </p:nvPicPr>
        <p:blipFill>
          <a:blip r:embed="rId2"/>
          <a:stretch>
            <a:fillRect/>
          </a:stretch>
        </p:blipFill>
        <p:spPr>
          <a:xfrm>
            <a:off x="7942907" y="2295938"/>
            <a:ext cx="3332332" cy="2733261"/>
          </a:xfrm>
          <a:prstGeom prst="rect">
            <a:avLst/>
          </a:prstGeom>
        </p:spPr>
      </p:pic>
    </p:spTree>
    <p:extLst>
      <p:ext uri="{BB962C8B-B14F-4D97-AF65-F5344CB8AC3E}">
        <p14:creationId xmlns:p14="http://schemas.microsoft.com/office/powerpoint/2010/main" val="3664801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663A5-C44B-493D-9AA4-15D228167E5D}"/>
              </a:ext>
            </a:extLst>
          </p:cNvPr>
          <p:cNvSpPr>
            <a:spLocks noGrp="1"/>
          </p:cNvSpPr>
          <p:nvPr>
            <p:ph type="title"/>
          </p:nvPr>
        </p:nvSpPr>
        <p:spPr/>
        <p:txBody>
          <a:bodyPr>
            <a:normAutofit/>
          </a:bodyPr>
          <a:lstStyle/>
          <a:p>
            <a:pPr algn="ctr"/>
            <a:r>
              <a:rPr lang="en-IN" sz="4000" dirty="0">
                <a:solidFill>
                  <a:srgbClr val="002060"/>
                </a:solidFill>
                <a:highlight>
                  <a:srgbClr val="C0C0C0"/>
                </a:highlight>
                <a:latin typeface="Times New Roman" panose="02020603050405020304" pitchFamily="18" charset="0"/>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C01C6F83-3478-46A4-A368-DCEFA66837CE}"/>
              </a:ext>
            </a:extLst>
          </p:cNvPr>
          <p:cNvSpPr>
            <a:spLocks noGrp="1"/>
          </p:cNvSpPr>
          <p:nvPr>
            <p:ph idx="1"/>
          </p:nvPr>
        </p:nvSpPr>
        <p:spPr/>
        <p:txBody>
          <a:bodyPr>
            <a:noAutofit/>
          </a:bodyPr>
          <a:lstStyle/>
          <a:p>
            <a:pPr>
              <a:lnSpc>
                <a:spcPct val="150000"/>
              </a:lnSpc>
              <a:buFont typeface="Wingdings" panose="05000000000000000000" pitchFamily="2" charset="2"/>
              <a:buChar char="§"/>
            </a:pPr>
            <a:r>
              <a:rPr lang="en-US" sz="3200" dirty="0">
                <a:latin typeface="Algerian" panose="04020705040A02060702" pitchFamily="82" charset="0"/>
              </a:rPr>
              <a:t>What is ML,DL and AI</a:t>
            </a:r>
          </a:p>
          <a:p>
            <a:pPr>
              <a:lnSpc>
                <a:spcPct val="150000"/>
              </a:lnSpc>
              <a:buFont typeface="Wingdings" panose="05000000000000000000" pitchFamily="2" charset="2"/>
              <a:buChar char="§"/>
            </a:pPr>
            <a:r>
              <a:rPr lang="en-US" sz="3200" dirty="0">
                <a:latin typeface="Algerian" panose="04020705040A02060702" pitchFamily="82" charset="0"/>
              </a:rPr>
              <a:t>Steps in a ML Project</a:t>
            </a:r>
          </a:p>
          <a:p>
            <a:pPr>
              <a:lnSpc>
                <a:spcPct val="150000"/>
              </a:lnSpc>
              <a:buFont typeface="Wingdings" panose="05000000000000000000" pitchFamily="2" charset="2"/>
              <a:buChar char="§"/>
            </a:pPr>
            <a:r>
              <a:rPr lang="en-US" sz="3200" dirty="0">
                <a:latin typeface="Algerian" panose="04020705040A02060702" pitchFamily="82" charset="0"/>
              </a:rPr>
              <a:t>ML Techniques and Tools</a:t>
            </a:r>
          </a:p>
          <a:p>
            <a:pPr>
              <a:lnSpc>
                <a:spcPct val="150000"/>
              </a:lnSpc>
              <a:buFont typeface="Wingdings" panose="05000000000000000000" pitchFamily="2" charset="2"/>
              <a:buChar char="§"/>
            </a:pPr>
            <a:r>
              <a:rPr lang="en-US" sz="3200" dirty="0">
                <a:latin typeface="Algerian" panose="04020705040A02060702" pitchFamily="82" charset="0"/>
              </a:rPr>
              <a:t>ML in Finance</a:t>
            </a:r>
            <a:br>
              <a:rPr lang="en-US" sz="3200" dirty="0">
                <a:latin typeface="Algerian" panose="04020705040A02060702" pitchFamily="82" charset="0"/>
              </a:rPr>
            </a:br>
            <a:endParaRPr lang="en-IN" sz="3200" dirty="0">
              <a:latin typeface="Algerian" panose="04020705040A02060702" pitchFamily="82" charset="0"/>
            </a:endParaRPr>
          </a:p>
          <a:p>
            <a:pPr marL="0" indent="0">
              <a:lnSpc>
                <a:spcPct val="150000"/>
              </a:lnSpc>
              <a:buNone/>
            </a:pPr>
            <a:endParaRPr lang="en-IN" sz="3200" dirty="0">
              <a:latin typeface="Algerian" panose="04020705040A02060702" pitchFamily="82" charset="0"/>
            </a:endParaRPr>
          </a:p>
        </p:txBody>
      </p:sp>
    </p:spTree>
    <p:extLst>
      <p:ext uri="{BB962C8B-B14F-4D97-AF65-F5344CB8AC3E}">
        <p14:creationId xmlns:p14="http://schemas.microsoft.com/office/powerpoint/2010/main" val="1920683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9DB9E-36EB-51DD-8610-2E354ADF8B06}"/>
              </a:ext>
            </a:extLst>
          </p:cNvPr>
          <p:cNvSpPr>
            <a:spLocks noGrp="1"/>
          </p:cNvSpPr>
          <p:nvPr>
            <p:ph type="title"/>
          </p:nvPr>
        </p:nvSpPr>
        <p:spPr/>
        <p:txBody>
          <a:bodyPr/>
          <a:lstStyle/>
          <a:p>
            <a:pPr algn="ctr"/>
            <a:r>
              <a:rPr lang="en-IN" dirty="0"/>
              <a:t>What is Artificial Intelligence?</a:t>
            </a:r>
          </a:p>
        </p:txBody>
      </p:sp>
      <p:sp>
        <p:nvSpPr>
          <p:cNvPr id="3" name="Content Placeholder 2">
            <a:extLst>
              <a:ext uri="{FF2B5EF4-FFF2-40B4-BE49-F238E27FC236}">
                <a16:creationId xmlns:a16="http://schemas.microsoft.com/office/drawing/2014/main" id="{53AABC68-10E6-36B1-0442-F0327B7AC8BB}"/>
              </a:ext>
            </a:extLst>
          </p:cNvPr>
          <p:cNvSpPr>
            <a:spLocks noGrp="1"/>
          </p:cNvSpPr>
          <p:nvPr>
            <p:ph idx="1"/>
          </p:nvPr>
        </p:nvSpPr>
        <p:spPr>
          <a:xfrm>
            <a:off x="1192696" y="2226365"/>
            <a:ext cx="10311916" cy="4214191"/>
          </a:xfrm>
        </p:spPr>
        <p:txBody>
          <a:bodyPr>
            <a:normAutofit/>
          </a:bodyPr>
          <a:lstStyle/>
          <a:p>
            <a:pPr>
              <a:lnSpc>
                <a:spcPct val="200000"/>
              </a:lnSpc>
            </a:pPr>
            <a:r>
              <a:rPr lang="en-US" dirty="0"/>
              <a:t>Artificial Intelligence (AI) refers to the ability of machines or computer systems to perform tasks that normally require human intelligence.</a:t>
            </a:r>
          </a:p>
          <a:p>
            <a:pPr>
              <a:lnSpc>
                <a:spcPct val="200000"/>
              </a:lnSpc>
            </a:pPr>
            <a:endParaRPr lang="en-IN" dirty="0"/>
          </a:p>
        </p:txBody>
      </p:sp>
    </p:spTree>
    <p:extLst>
      <p:ext uri="{BB962C8B-B14F-4D97-AF65-F5344CB8AC3E}">
        <p14:creationId xmlns:p14="http://schemas.microsoft.com/office/powerpoint/2010/main" val="2257172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96DED-C5F4-FDAD-F7EF-F9510B6834C9}"/>
              </a:ext>
            </a:extLst>
          </p:cNvPr>
          <p:cNvSpPr>
            <a:spLocks noGrp="1"/>
          </p:cNvSpPr>
          <p:nvPr>
            <p:ph type="title"/>
          </p:nvPr>
        </p:nvSpPr>
        <p:spPr/>
        <p:txBody>
          <a:bodyPr/>
          <a:lstStyle/>
          <a:p>
            <a:pPr algn="ctr"/>
            <a:r>
              <a:rPr lang="en-US" dirty="0"/>
              <a:t>Tasks</a:t>
            </a:r>
            <a:br>
              <a:rPr lang="en-US" dirty="0"/>
            </a:br>
            <a:endParaRPr lang="en-IN" dirty="0"/>
          </a:p>
        </p:txBody>
      </p:sp>
      <p:sp>
        <p:nvSpPr>
          <p:cNvPr id="3" name="Content Placeholder 2">
            <a:extLst>
              <a:ext uri="{FF2B5EF4-FFF2-40B4-BE49-F238E27FC236}">
                <a16:creationId xmlns:a16="http://schemas.microsoft.com/office/drawing/2014/main" id="{80BB30FE-B0B7-79B6-2994-9F75C665BCE7}"/>
              </a:ext>
            </a:extLst>
          </p:cNvPr>
          <p:cNvSpPr>
            <a:spLocks noGrp="1"/>
          </p:cNvSpPr>
          <p:nvPr>
            <p:ph idx="1"/>
          </p:nvPr>
        </p:nvSpPr>
        <p:spPr/>
        <p:txBody>
          <a:bodyPr/>
          <a:lstStyle/>
          <a:p>
            <a:r>
              <a:rPr lang="en-US" dirty="0"/>
              <a:t>Learning from data </a:t>
            </a:r>
          </a:p>
          <a:p>
            <a:r>
              <a:rPr lang="en-US" dirty="0"/>
              <a:t>Understanding language </a:t>
            </a:r>
          </a:p>
          <a:p>
            <a:r>
              <a:rPr lang="en-US" dirty="0"/>
              <a:t>Recognizing images and speech </a:t>
            </a:r>
          </a:p>
          <a:p>
            <a:r>
              <a:rPr lang="en-US" dirty="0"/>
              <a:t>Making decisions </a:t>
            </a:r>
          </a:p>
          <a:p>
            <a:r>
              <a:rPr lang="en-US" dirty="0"/>
              <a:t>Solving problems </a:t>
            </a:r>
          </a:p>
          <a:p>
            <a:r>
              <a:rPr lang="en-US" dirty="0"/>
              <a:t>Generating content </a:t>
            </a:r>
          </a:p>
          <a:p>
            <a:r>
              <a:rPr lang="en-US" dirty="0"/>
              <a:t>Reasoning and planning</a:t>
            </a:r>
          </a:p>
          <a:p>
            <a:endParaRPr lang="en-IN" dirty="0"/>
          </a:p>
        </p:txBody>
      </p:sp>
    </p:spTree>
    <p:extLst>
      <p:ext uri="{BB962C8B-B14F-4D97-AF65-F5344CB8AC3E}">
        <p14:creationId xmlns:p14="http://schemas.microsoft.com/office/powerpoint/2010/main" val="1672771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48D9D-2540-8904-A61F-F024A8CF4FA3}"/>
              </a:ext>
            </a:extLst>
          </p:cNvPr>
          <p:cNvSpPr>
            <a:spLocks noGrp="1"/>
          </p:cNvSpPr>
          <p:nvPr>
            <p:ph type="title"/>
          </p:nvPr>
        </p:nvSpPr>
        <p:spPr/>
        <p:txBody>
          <a:bodyPr/>
          <a:lstStyle/>
          <a:p>
            <a:pPr algn="ctr"/>
            <a:r>
              <a:rPr lang="en-IN" dirty="0"/>
              <a:t>AI Around Us</a:t>
            </a:r>
          </a:p>
        </p:txBody>
      </p:sp>
      <p:sp>
        <p:nvSpPr>
          <p:cNvPr id="4" name="Rectangle 1">
            <a:extLst>
              <a:ext uri="{FF2B5EF4-FFF2-40B4-BE49-F238E27FC236}">
                <a16:creationId xmlns:a16="http://schemas.microsoft.com/office/drawing/2014/main" id="{B6017798-7D56-7650-4287-8D4B93DE3F46}"/>
              </a:ext>
            </a:extLst>
          </p:cNvPr>
          <p:cNvSpPr>
            <a:spLocks noGrp="1" noChangeArrowheads="1"/>
          </p:cNvSpPr>
          <p:nvPr>
            <p:ph idx="1"/>
          </p:nvPr>
        </p:nvSpPr>
        <p:spPr bwMode="auto">
          <a:xfrm>
            <a:off x="838200" y="1506471"/>
            <a:ext cx="1060173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Google Search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Maps Navigation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Netflix Recommendations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Amazon Product Suggestions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Face Unlock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Voice Assistants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Spam Detection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Grammar Correction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Banking Fraud Detection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Healthcare Diagnosis Support </a:t>
            </a:r>
          </a:p>
        </p:txBody>
      </p:sp>
    </p:spTree>
    <p:extLst>
      <p:ext uri="{BB962C8B-B14F-4D97-AF65-F5344CB8AC3E}">
        <p14:creationId xmlns:p14="http://schemas.microsoft.com/office/powerpoint/2010/main" val="1338868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54D7B-16F0-9D01-9D56-D54B1DBB8762}"/>
              </a:ext>
            </a:extLst>
          </p:cNvPr>
          <p:cNvSpPr>
            <a:spLocks noGrp="1"/>
          </p:cNvSpPr>
          <p:nvPr>
            <p:ph type="title"/>
          </p:nvPr>
        </p:nvSpPr>
        <p:spPr>
          <a:xfrm>
            <a:off x="665922" y="2295939"/>
            <a:ext cx="10687877" cy="2425148"/>
          </a:xfrm>
        </p:spPr>
        <p:txBody>
          <a:bodyPr/>
          <a:lstStyle/>
          <a:p>
            <a:r>
              <a:rPr lang="en-US" dirty="0"/>
              <a:t>How many AI applications have you already used before reaching office today</a:t>
            </a:r>
            <a:endParaRPr lang="en-IN" dirty="0"/>
          </a:p>
        </p:txBody>
      </p:sp>
    </p:spTree>
    <p:extLst>
      <p:ext uri="{BB962C8B-B14F-4D97-AF65-F5344CB8AC3E}">
        <p14:creationId xmlns:p14="http://schemas.microsoft.com/office/powerpoint/2010/main" val="1706778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DE3B3-EBF1-BE50-C8AB-19ED3BB3F691}"/>
              </a:ext>
            </a:extLst>
          </p:cNvPr>
          <p:cNvSpPr>
            <a:spLocks noGrp="1"/>
          </p:cNvSpPr>
          <p:nvPr>
            <p:ph type="title"/>
          </p:nvPr>
        </p:nvSpPr>
        <p:spPr/>
        <p:txBody>
          <a:bodyPr/>
          <a:lstStyle/>
          <a:p>
            <a:pPr algn="ctr"/>
            <a:r>
              <a:rPr lang="en-US" dirty="0"/>
              <a:t>AI is Like a Student</a:t>
            </a:r>
            <a:endParaRPr lang="en-IN" dirty="0"/>
          </a:p>
        </p:txBody>
      </p:sp>
      <p:sp>
        <p:nvSpPr>
          <p:cNvPr id="3" name="Content Placeholder 2">
            <a:extLst>
              <a:ext uri="{FF2B5EF4-FFF2-40B4-BE49-F238E27FC236}">
                <a16:creationId xmlns:a16="http://schemas.microsoft.com/office/drawing/2014/main" id="{B93559C4-EC2F-9953-19DD-BFE245F5B3C2}"/>
              </a:ext>
            </a:extLst>
          </p:cNvPr>
          <p:cNvSpPr>
            <a:spLocks noGrp="1"/>
          </p:cNvSpPr>
          <p:nvPr>
            <p:ph idx="1"/>
          </p:nvPr>
        </p:nvSpPr>
        <p:spPr>
          <a:xfrm>
            <a:off x="715617" y="2703443"/>
            <a:ext cx="10638184" cy="2435087"/>
          </a:xfrm>
        </p:spPr>
        <p:txBody>
          <a:bodyPr>
            <a:normAutofit/>
          </a:bodyPr>
          <a:lstStyle/>
          <a:p>
            <a:pPr marL="0" indent="0">
              <a:buNone/>
            </a:pPr>
            <a:r>
              <a:rPr lang="en-US" dirty="0"/>
              <a:t>Human Student</a:t>
            </a:r>
          </a:p>
          <a:p>
            <a:r>
              <a:rPr lang="en-US" dirty="0"/>
              <a:t>Learns from books </a:t>
            </a:r>
          </a:p>
          <a:p>
            <a:r>
              <a:rPr lang="en-US" dirty="0"/>
              <a:t>Makes mistakes </a:t>
            </a:r>
          </a:p>
          <a:p>
            <a:r>
              <a:rPr lang="en-US" dirty="0"/>
              <a:t>Improves through practice </a:t>
            </a:r>
          </a:p>
          <a:p>
            <a:endParaRPr lang="en-IN" dirty="0"/>
          </a:p>
        </p:txBody>
      </p:sp>
    </p:spTree>
    <p:extLst>
      <p:ext uri="{BB962C8B-B14F-4D97-AF65-F5344CB8AC3E}">
        <p14:creationId xmlns:p14="http://schemas.microsoft.com/office/powerpoint/2010/main" val="1367203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D4741-D9DF-1F69-DEC6-4620259BDA85}"/>
              </a:ext>
            </a:extLst>
          </p:cNvPr>
          <p:cNvSpPr>
            <a:spLocks noGrp="1"/>
          </p:cNvSpPr>
          <p:nvPr>
            <p:ph type="title"/>
          </p:nvPr>
        </p:nvSpPr>
        <p:spPr/>
        <p:txBody>
          <a:bodyPr/>
          <a:lstStyle/>
          <a:p>
            <a:pPr algn="ctr"/>
            <a:r>
              <a:rPr lang="en-US" dirty="0"/>
              <a:t>AI is Like a Student</a:t>
            </a:r>
            <a:endParaRPr lang="en-IN" dirty="0"/>
          </a:p>
        </p:txBody>
      </p:sp>
      <p:sp>
        <p:nvSpPr>
          <p:cNvPr id="3" name="Content Placeholder 2">
            <a:extLst>
              <a:ext uri="{FF2B5EF4-FFF2-40B4-BE49-F238E27FC236}">
                <a16:creationId xmlns:a16="http://schemas.microsoft.com/office/drawing/2014/main" id="{A33006E6-E901-3BD1-6F84-93E395B648D9}"/>
              </a:ext>
            </a:extLst>
          </p:cNvPr>
          <p:cNvSpPr>
            <a:spLocks noGrp="1"/>
          </p:cNvSpPr>
          <p:nvPr>
            <p:ph idx="1"/>
          </p:nvPr>
        </p:nvSpPr>
        <p:spPr/>
        <p:txBody>
          <a:bodyPr/>
          <a:lstStyle/>
          <a:p>
            <a:pPr marL="0" indent="0">
              <a:buNone/>
            </a:pPr>
            <a:r>
              <a:rPr lang="en-US" dirty="0"/>
              <a:t>AI Model</a:t>
            </a:r>
          </a:p>
          <a:p>
            <a:r>
              <a:rPr lang="en-US" dirty="0"/>
              <a:t>Learns from data </a:t>
            </a:r>
          </a:p>
          <a:p>
            <a:r>
              <a:rPr lang="en-US" dirty="0"/>
              <a:t>Makes predictions </a:t>
            </a:r>
          </a:p>
          <a:p>
            <a:r>
              <a:rPr lang="en-US" dirty="0"/>
              <a:t>Improves with better training </a:t>
            </a:r>
          </a:p>
          <a:p>
            <a:r>
              <a:rPr lang="en-US" dirty="0"/>
              <a:t>Important Message</a:t>
            </a:r>
          </a:p>
          <a:p>
            <a:r>
              <a:rPr lang="en-US" dirty="0"/>
              <a:t>AI does not "think."</a:t>
            </a:r>
          </a:p>
          <a:p>
            <a:r>
              <a:rPr lang="en-US" dirty="0"/>
              <a:t>It predicts the most probable answer.</a:t>
            </a:r>
          </a:p>
          <a:p>
            <a:endParaRPr lang="en-IN" dirty="0"/>
          </a:p>
        </p:txBody>
      </p:sp>
    </p:spTree>
    <p:extLst>
      <p:ext uri="{BB962C8B-B14F-4D97-AF65-F5344CB8AC3E}">
        <p14:creationId xmlns:p14="http://schemas.microsoft.com/office/powerpoint/2010/main" val="480103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B2000-BB6F-26AC-7BA0-FC61E805F683}"/>
              </a:ext>
            </a:extLst>
          </p:cNvPr>
          <p:cNvSpPr>
            <a:spLocks noGrp="1"/>
          </p:cNvSpPr>
          <p:nvPr>
            <p:ph type="title"/>
          </p:nvPr>
        </p:nvSpPr>
        <p:spPr/>
        <p:txBody>
          <a:bodyPr/>
          <a:lstStyle/>
          <a:p>
            <a:pPr algn="ctr"/>
            <a:r>
              <a:rPr lang="en-IN" dirty="0"/>
              <a:t>Activity</a:t>
            </a:r>
          </a:p>
        </p:txBody>
      </p:sp>
      <p:sp>
        <p:nvSpPr>
          <p:cNvPr id="3" name="Content Placeholder 2">
            <a:extLst>
              <a:ext uri="{FF2B5EF4-FFF2-40B4-BE49-F238E27FC236}">
                <a16:creationId xmlns:a16="http://schemas.microsoft.com/office/drawing/2014/main" id="{F9EBC81E-767E-80FA-DF80-F0635B31040B}"/>
              </a:ext>
            </a:extLst>
          </p:cNvPr>
          <p:cNvSpPr>
            <a:spLocks noGrp="1"/>
          </p:cNvSpPr>
          <p:nvPr>
            <p:ph idx="1"/>
          </p:nvPr>
        </p:nvSpPr>
        <p:spPr/>
        <p:txBody>
          <a:bodyPr/>
          <a:lstStyle/>
          <a:p>
            <a:r>
              <a:rPr lang="en-US" dirty="0"/>
              <a:t>Create a realistic image of a software engineer working in an office.</a:t>
            </a:r>
            <a:endParaRPr lang="en-IN" dirty="0"/>
          </a:p>
        </p:txBody>
      </p:sp>
    </p:spTree>
    <p:extLst>
      <p:ext uri="{BB962C8B-B14F-4D97-AF65-F5344CB8AC3E}">
        <p14:creationId xmlns:p14="http://schemas.microsoft.com/office/powerpoint/2010/main" val="4032897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16708-0220-023D-87F6-A088BEC074D8}"/>
              </a:ext>
            </a:extLst>
          </p:cNvPr>
          <p:cNvSpPr>
            <a:spLocks noGrp="1"/>
          </p:cNvSpPr>
          <p:nvPr>
            <p:ph type="title"/>
          </p:nvPr>
        </p:nvSpPr>
        <p:spPr>
          <a:xfrm>
            <a:off x="1321904" y="2723322"/>
            <a:ext cx="10182708" cy="1590260"/>
          </a:xfrm>
        </p:spPr>
        <p:txBody>
          <a:bodyPr/>
          <a:lstStyle/>
          <a:p>
            <a:r>
              <a:rPr lang="en-IN" b="1" dirty="0"/>
              <a:t>Create an image of a man </a:t>
            </a:r>
            <a:br>
              <a:rPr lang="en-IN" b="1" dirty="0"/>
            </a:br>
            <a:r>
              <a:rPr lang="en-IN" b="1" dirty="0"/>
              <a:t>writing with Left hand</a:t>
            </a:r>
          </a:p>
        </p:txBody>
      </p:sp>
    </p:spTree>
    <p:extLst>
      <p:ext uri="{BB962C8B-B14F-4D97-AF65-F5344CB8AC3E}">
        <p14:creationId xmlns:p14="http://schemas.microsoft.com/office/powerpoint/2010/main" val="3665653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2E5A6-26D8-BE83-0A1F-E8F5E5582658}"/>
              </a:ext>
            </a:extLst>
          </p:cNvPr>
          <p:cNvSpPr>
            <a:spLocks noGrp="1"/>
          </p:cNvSpPr>
          <p:nvPr>
            <p:ph type="title"/>
          </p:nvPr>
        </p:nvSpPr>
        <p:spPr/>
        <p:txBody>
          <a:bodyPr/>
          <a:lstStyle/>
          <a:p>
            <a:r>
              <a:rPr lang="en-IN" dirty="0"/>
              <a:t>Image Generation</a:t>
            </a:r>
          </a:p>
        </p:txBody>
      </p:sp>
      <p:sp>
        <p:nvSpPr>
          <p:cNvPr id="3" name="Content Placeholder 2">
            <a:extLst>
              <a:ext uri="{FF2B5EF4-FFF2-40B4-BE49-F238E27FC236}">
                <a16:creationId xmlns:a16="http://schemas.microsoft.com/office/drawing/2014/main" id="{20F610EA-4DB0-99D8-0634-0D6E9DFF41E1}"/>
              </a:ext>
            </a:extLst>
          </p:cNvPr>
          <p:cNvSpPr>
            <a:spLocks noGrp="1"/>
          </p:cNvSpPr>
          <p:nvPr>
            <p:ph idx="1"/>
          </p:nvPr>
        </p:nvSpPr>
        <p:spPr/>
        <p:txBody>
          <a:bodyPr>
            <a:normAutofit fontScale="92500" lnSpcReduction="20000"/>
          </a:bodyPr>
          <a:lstStyle/>
          <a:p>
            <a:pPr marL="0" indent="0">
              <a:buNone/>
            </a:pPr>
            <a:r>
              <a:rPr lang="en-US" dirty="0"/>
              <a:t>Create an image of a doctor treating a patient.</a:t>
            </a:r>
          </a:p>
          <a:p>
            <a:r>
              <a:rPr lang="en-US" dirty="0"/>
              <a:t>Then ask participants:</a:t>
            </a:r>
          </a:p>
          <a:p>
            <a:r>
              <a:rPr lang="en-US" dirty="0"/>
              <a:t>Now modify the prompt.</a:t>
            </a:r>
          </a:p>
          <a:p>
            <a:r>
              <a:rPr lang="en-US" dirty="0"/>
              <a:t>Examples</a:t>
            </a:r>
          </a:p>
          <a:p>
            <a:r>
              <a:rPr lang="en-US" dirty="0"/>
              <a:t>Female doctor </a:t>
            </a:r>
          </a:p>
          <a:p>
            <a:r>
              <a:rPr lang="en-US" dirty="0"/>
              <a:t>Rural hospital </a:t>
            </a:r>
          </a:p>
          <a:p>
            <a:r>
              <a:rPr lang="en-US" dirty="0"/>
              <a:t>Pediatrician </a:t>
            </a:r>
          </a:p>
          <a:p>
            <a:r>
              <a:rPr lang="en-US" dirty="0"/>
              <a:t>Wearing PPE </a:t>
            </a:r>
          </a:p>
          <a:p>
            <a:r>
              <a:rPr lang="en-US" dirty="0"/>
              <a:t>Elderly patient </a:t>
            </a:r>
          </a:p>
          <a:p>
            <a:r>
              <a:rPr lang="en-US" dirty="0"/>
              <a:t>Wheelchair user</a:t>
            </a:r>
          </a:p>
          <a:p>
            <a:endParaRPr lang="en-IN" dirty="0"/>
          </a:p>
        </p:txBody>
      </p:sp>
    </p:spTree>
    <p:extLst>
      <p:ext uri="{BB962C8B-B14F-4D97-AF65-F5344CB8AC3E}">
        <p14:creationId xmlns:p14="http://schemas.microsoft.com/office/powerpoint/2010/main" val="1334266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C34F9-C7A3-B55D-9E5C-298941E3FB78}"/>
              </a:ext>
            </a:extLst>
          </p:cNvPr>
          <p:cNvSpPr>
            <a:spLocks noGrp="1"/>
          </p:cNvSpPr>
          <p:nvPr>
            <p:ph type="title"/>
          </p:nvPr>
        </p:nvSpPr>
        <p:spPr>
          <a:xfrm>
            <a:off x="1461052" y="1928190"/>
            <a:ext cx="10043560" cy="2206487"/>
          </a:xfrm>
        </p:spPr>
        <p:txBody>
          <a:bodyPr>
            <a:normAutofit/>
          </a:bodyPr>
          <a:lstStyle/>
          <a:p>
            <a:r>
              <a:rPr lang="en-IN" b="1" dirty="0"/>
              <a:t>According to our communication </a:t>
            </a:r>
            <a:r>
              <a:rPr lang="en-IN" b="1" dirty="0" err="1"/>
              <a:t>sofar</a:t>
            </a:r>
            <a:r>
              <a:rPr lang="en-IN" b="1" dirty="0"/>
              <a:t>,</a:t>
            </a:r>
            <a:br>
              <a:rPr lang="en-IN" b="1" dirty="0"/>
            </a:br>
            <a:r>
              <a:rPr lang="en-IN" b="1" dirty="0"/>
              <a:t>Which </a:t>
            </a:r>
            <a:r>
              <a:rPr lang="en-IN" b="1" dirty="0" err="1"/>
              <a:t>hindi</a:t>
            </a:r>
            <a:r>
              <a:rPr lang="en-IN" b="1" dirty="0"/>
              <a:t> movie character do you relate me with? Justify.</a:t>
            </a:r>
          </a:p>
        </p:txBody>
      </p:sp>
    </p:spTree>
    <p:extLst>
      <p:ext uri="{BB962C8B-B14F-4D97-AF65-F5344CB8AC3E}">
        <p14:creationId xmlns:p14="http://schemas.microsoft.com/office/powerpoint/2010/main" val="203053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00E4A8-8A1F-2A3F-5938-23A007C57D0D}"/>
              </a:ext>
            </a:extLst>
          </p:cNvPr>
          <p:cNvPicPr>
            <a:picLocks noChangeAspect="1"/>
          </p:cNvPicPr>
          <p:nvPr/>
        </p:nvPicPr>
        <p:blipFill>
          <a:blip r:embed="rId2"/>
          <a:stretch>
            <a:fillRect/>
          </a:stretch>
        </p:blipFill>
        <p:spPr>
          <a:xfrm>
            <a:off x="3836322" y="939054"/>
            <a:ext cx="4784896" cy="4979891"/>
          </a:xfrm>
          <a:prstGeom prst="rect">
            <a:avLst/>
          </a:prstGeom>
        </p:spPr>
      </p:pic>
    </p:spTree>
    <p:extLst>
      <p:ext uri="{BB962C8B-B14F-4D97-AF65-F5344CB8AC3E}">
        <p14:creationId xmlns:p14="http://schemas.microsoft.com/office/powerpoint/2010/main" val="3071198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F33242-9559-7DBE-8920-36F6C2F96475}"/>
              </a:ext>
            </a:extLst>
          </p:cNvPr>
          <p:cNvPicPr>
            <a:picLocks noChangeAspect="1"/>
          </p:cNvPicPr>
          <p:nvPr/>
        </p:nvPicPr>
        <p:blipFill>
          <a:blip r:embed="rId2"/>
          <a:stretch>
            <a:fillRect/>
          </a:stretch>
        </p:blipFill>
        <p:spPr>
          <a:xfrm>
            <a:off x="3271443" y="647312"/>
            <a:ext cx="5649113" cy="5563376"/>
          </a:xfrm>
          <a:prstGeom prst="rect">
            <a:avLst/>
          </a:prstGeom>
        </p:spPr>
      </p:pic>
    </p:spTree>
    <p:extLst>
      <p:ext uri="{BB962C8B-B14F-4D97-AF65-F5344CB8AC3E}">
        <p14:creationId xmlns:p14="http://schemas.microsoft.com/office/powerpoint/2010/main" val="1926057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CF404-5945-8BDF-789F-865355A5319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DD0921B-EB58-D963-D4E9-5E00B6F87816}"/>
              </a:ext>
            </a:extLst>
          </p:cNvPr>
          <p:cNvPicPr>
            <a:picLocks noChangeAspect="1"/>
          </p:cNvPicPr>
          <p:nvPr/>
        </p:nvPicPr>
        <p:blipFill>
          <a:blip r:embed="rId2"/>
          <a:stretch>
            <a:fillRect/>
          </a:stretch>
        </p:blipFill>
        <p:spPr>
          <a:xfrm>
            <a:off x="3112835" y="365760"/>
            <a:ext cx="5966329" cy="5982788"/>
          </a:xfrm>
          <a:prstGeom prst="rect">
            <a:avLst/>
          </a:prstGeom>
        </p:spPr>
      </p:pic>
    </p:spTree>
    <p:extLst>
      <p:ext uri="{BB962C8B-B14F-4D97-AF65-F5344CB8AC3E}">
        <p14:creationId xmlns:p14="http://schemas.microsoft.com/office/powerpoint/2010/main" val="4185114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B92121-7259-88F6-CEFC-8D2B5D6EB6DA}"/>
              </a:ext>
            </a:extLst>
          </p:cNvPr>
          <p:cNvPicPr>
            <a:picLocks noChangeAspect="1"/>
          </p:cNvPicPr>
          <p:nvPr/>
        </p:nvPicPr>
        <p:blipFill>
          <a:blip r:embed="rId2"/>
          <a:stretch>
            <a:fillRect/>
          </a:stretch>
        </p:blipFill>
        <p:spPr>
          <a:xfrm>
            <a:off x="1482931" y="636091"/>
            <a:ext cx="8828018" cy="5339709"/>
          </a:xfrm>
          <a:prstGeom prst="rect">
            <a:avLst/>
          </a:prstGeom>
        </p:spPr>
      </p:pic>
    </p:spTree>
    <p:extLst>
      <p:ext uri="{BB962C8B-B14F-4D97-AF65-F5344CB8AC3E}">
        <p14:creationId xmlns:p14="http://schemas.microsoft.com/office/powerpoint/2010/main" val="1386084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3928B-05CD-A097-6831-7B9477BE6C1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9611F58-4178-52BD-2E91-C69443F43311}"/>
              </a:ext>
            </a:extLst>
          </p:cNvPr>
          <p:cNvPicPr>
            <a:picLocks noChangeAspect="1"/>
          </p:cNvPicPr>
          <p:nvPr/>
        </p:nvPicPr>
        <p:blipFill>
          <a:blip r:embed="rId2"/>
          <a:stretch>
            <a:fillRect/>
          </a:stretch>
        </p:blipFill>
        <p:spPr>
          <a:xfrm>
            <a:off x="2185442" y="1190312"/>
            <a:ext cx="7821116" cy="4477375"/>
          </a:xfrm>
          <a:prstGeom prst="rect">
            <a:avLst/>
          </a:prstGeom>
        </p:spPr>
      </p:pic>
    </p:spTree>
    <p:extLst>
      <p:ext uri="{BB962C8B-B14F-4D97-AF65-F5344CB8AC3E}">
        <p14:creationId xmlns:p14="http://schemas.microsoft.com/office/powerpoint/2010/main" val="3686062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B091F-EE97-2173-6496-BE69AF36307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E00F9AB-702A-C8F3-2677-4AEC16990E97}"/>
              </a:ext>
            </a:extLst>
          </p:cNvPr>
          <p:cNvPicPr>
            <a:picLocks noChangeAspect="1"/>
          </p:cNvPicPr>
          <p:nvPr/>
        </p:nvPicPr>
        <p:blipFill>
          <a:blip r:embed="rId2"/>
          <a:stretch>
            <a:fillRect/>
          </a:stretch>
        </p:blipFill>
        <p:spPr>
          <a:xfrm>
            <a:off x="2311247" y="753823"/>
            <a:ext cx="8199997" cy="5350353"/>
          </a:xfrm>
          <a:prstGeom prst="rect">
            <a:avLst/>
          </a:prstGeom>
        </p:spPr>
      </p:pic>
    </p:spTree>
    <p:extLst>
      <p:ext uri="{BB962C8B-B14F-4D97-AF65-F5344CB8AC3E}">
        <p14:creationId xmlns:p14="http://schemas.microsoft.com/office/powerpoint/2010/main" val="21581500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9F963-6AB7-548B-6854-610C7FEE9504}"/>
              </a:ext>
            </a:extLst>
          </p:cNvPr>
          <p:cNvSpPr>
            <a:spLocks noGrp="1"/>
          </p:cNvSpPr>
          <p:nvPr>
            <p:ph type="title"/>
          </p:nvPr>
        </p:nvSpPr>
        <p:spPr/>
        <p:txBody>
          <a:bodyPr/>
          <a:lstStyle/>
          <a:p>
            <a:pPr algn="ctr"/>
            <a:r>
              <a:rPr lang="en-IN" dirty="0"/>
              <a:t>Why AI Sometimes Fails</a:t>
            </a:r>
          </a:p>
        </p:txBody>
      </p:sp>
      <p:sp>
        <p:nvSpPr>
          <p:cNvPr id="3" name="Content Placeholder 2">
            <a:extLst>
              <a:ext uri="{FF2B5EF4-FFF2-40B4-BE49-F238E27FC236}">
                <a16:creationId xmlns:a16="http://schemas.microsoft.com/office/drawing/2014/main" id="{9B69FD14-7C00-0A23-E383-3802B7E171E7}"/>
              </a:ext>
            </a:extLst>
          </p:cNvPr>
          <p:cNvSpPr>
            <a:spLocks noGrp="1"/>
          </p:cNvSpPr>
          <p:nvPr>
            <p:ph idx="1"/>
          </p:nvPr>
        </p:nvSpPr>
        <p:spPr>
          <a:xfrm>
            <a:off x="765313" y="1825625"/>
            <a:ext cx="10588487" cy="4843532"/>
          </a:xfrm>
        </p:spPr>
        <p:txBody>
          <a:bodyPr>
            <a:normAutofit/>
          </a:bodyPr>
          <a:lstStyle/>
          <a:p>
            <a:r>
              <a:rPr lang="en-US" dirty="0"/>
              <a:t>Bias </a:t>
            </a:r>
          </a:p>
          <a:p>
            <a:r>
              <a:rPr lang="en-US" dirty="0"/>
              <a:t>Hallucination </a:t>
            </a:r>
          </a:p>
          <a:p>
            <a:r>
              <a:rPr lang="en-US" dirty="0"/>
              <a:t>Outdated knowledge (depending on the model) </a:t>
            </a:r>
          </a:p>
          <a:p>
            <a:r>
              <a:rPr lang="en-US" dirty="0"/>
              <a:t>Lack of common sense </a:t>
            </a:r>
          </a:p>
          <a:p>
            <a:r>
              <a:rPr lang="en-US" dirty="0"/>
              <a:t>Ambiguous prompts </a:t>
            </a:r>
          </a:p>
          <a:p>
            <a:r>
              <a:rPr lang="en-US" dirty="0"/>
              <a:t>No emotions </a:t>
            </a:r>
          </a:p>
          <a:p>
            <a:r>
              <a:rPr lang="en-US" dirty="0"/>
              <a:t>Cannot verify every answer </a:t>
            </a:r>
          </a:p>
          <a:p>
            <a:r>
              <a:rPr lang="en-US" dirty="0"/>
              <a:t>Golden Rule</a:t>
            </a:r>
          </a:p>
          <a:p>
            <a:r>
              <a:rPr lang="en-US" dirty="0"/>
              <a:t>AI should assist human decision-making—not replace it.</a:t>
            </a:r>
          </a:p>
          <a:p>
            <a:endParaRPr lang="en-IN" dirty="0"/>
          </a:p>
        </p:txBody>
      </p:sp>
    </p:spTree>
    <p:extLst>
      <p:ext uri="{BB962C8B-B14F-4D97-AF65-F5344CB8AC3E}">
        <p14:creationId xmlns:p14="http://schemas.microsoft.com/office/powerpoint/2010/main" val="20460749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C6338-4D2C-E009-EE2B-15709168707D}"/>
              </a:ext>
            </a:extLst>
          </p:cNvPr>
          <p:cNvSpPr>
            <a:spLocks noGrp="1"/>
          </p:cNvSpPr>
          <p:nvPr>
            <p:ph type="title"/>
          </p:nvPr>
        </p:nvSpPr>
        <p:spPr/>
        <p:txBody>
          <a:bodyPr/>
          <a:lstStyle/>
          <a:p>
            <a:pPr algn="ctr"/>
            <a:r>
              <a:rPr lang="en-IN" dirty="0"/>
              <a:t>Why AI Sometimes Fails</a:t>
            </a:r>
          </a:p>
        </p:txBody>
      </p:sp>
      <p:sp>
        <p:nvSpPr>
          <p:cNvPr id="3" name="Content Placeholder 2">
            <a:extLst>
              <a:ext uri="{FF2B5EF4-FFF2-40B4-BE49-F238E27FC236}">
                <a16:creationId xmlns:a16="http://schemas.microsoft.com/office/drawing/2014/main" id="{CE9E196F-2710-034A-FDDF-67603FCBA670}"/>
              </a:ext>
            </a:extLst>
          </p:cNvPr>
          <p:cNvSpPr>
            <a:spLocks noGrp="1"/>
          </p:cNvSpPr>
          <p:nvPr>
            <p:ph idx="1"/>
          </p:nvPr>
        </p:nvSpPr>
        <p:spPr/>
        <p:txBody>
          <a:bodyPr/>
          <a:lstStyle/>
          <a:p>
            <a:r>
              <a:rPr lang="en-US" dirty="0"/>
              <a:t>Explain Artificial Intelligence like I am a 10-year-old.</a:t>
            </a:r>
          </a:p>
          <a:p>
            <a:endParaRPr lang="en-US" dirty="0"/>
          </a:p>
          <a:p>
            <a:r>
              <a:rPr lang="en-US" dirty="0"/>
              <a:t>Explain Artificial Intelligence for a CEO in one paragraph.</a:t>
            </a:r>
          </a:p>
          <a:p>
            <a:endParaRPr lang="en-US" dirty="0"/>
          </a:p>
          <a:p>
            <a:r>
              <a:rPr lang="en-US" dirty="0"/>
              <a:t>Explain Artificial Intelligence for a doctor.</a:t>
            </a:r>
            <a:endParaRPr lang="en-IN" dirty="0"/>
          </a:p>
        </p:txBody>
      </p:sp>
    </p:spTree>
    <p:extLst>
      <p:ext uri="{BB962C8B-B14F-4D97-AF65-F5344CB8AC3E}">
        <p14:creationId xmlns:p14="http://schemas.microsoft.com/office/powerpoint/2010/main" val="2579944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24A84-1098-0361-D6CE-5E93C35F2E79}"/>
              </a:ext>
            </a:extLst>
          </p:cNvPr>
          <p:cNvSpPr>
            <a:spLocks noGrp="1"/>
          </p:cNvSpPr>
          <p:nvPr>
            <p:ph type="title"/>
          </p:nvPr>
        </p:nvSpPr>
        <p:spPr/>
        <p:txBody>
          <a:bodyPr/>
          <a:lstStyle/>
          <a:p>
            <a:pPr algn="ctr"/>
            <a:r>
              <a:rPr lang="en-IN" dirty="0"/>
              <a:t>Narrow AI (Weak AI)</a:t>
            </a:r>
          </a:p>
        </p:txBody>
      </p:sp>
      <p:sp>
        <p:nvSpPr>
          <p:cNvPr id="3" name="Content Placeholder 2">
            <a:extLst>
              <a:ext uri="{FF2B5EF4-FFF2-40B4-BE49-F238E27FC236}">
                <a16:creationId xmlns:a16="http://schemas.microsoft.com/office/drawing/2014/main" id="{8B7A6E99-891C-8ECC-63F2-1D5632C6FF97}"/>
              </a:ext>
            </a:extLst>
          </p:cNvPr>
          <p:cNvSpPr>
            <a:spLocks noGrp="1"/>
          </p:cNvSpPr>
          <p:nvPr>
            <p:ph idx="1"/>
          </p:nvPr>
        </p:nvSpPr>
        <p:spPr/>
        <p:txBody>
          <a:bodyPr/>
          <a:lstStyle/>
          <a:p>
            <a:r>
              <a:rPr lang="en-US" dirty="0"/>
              <a:t>Narrow AI is designed to perform </a:t>
            </a:r>
            <a:r>
              <a:rPr lang="en-US" b="1" dirty="0"/>
              <a:t>one specific task extremely well</a:t>
            </a:r>
            <a:r>
              <a:rPr lang="en-US" dirty="0"/>
              <a:t>.</a:t>
            </a:r>
          </a:p>
          <a:p>
            <a:r>
              <a:rPr lang="en-US" dirty="0"/>
              <a:t>Characteristics</a:t>
            </a:r>
          </a:p>
          <a:p>
            <a:r>
              <a:rPr lang="en-US" dirty="0"/>
              <a:t>Specialized </a:t>
            </a:r>
          </a:p>
          <a:p>
            <a:r>
              <a:rPr lang="en-US" dirty="0"/>
              <a:t>Task-specific </a:t>
            </a:r>
          </a:p>
          <a:p>
            <a:r>
              <a:rPr lang="en-US" dirty="0"/>
              <a:t>No understanding beyond its domain </a:t>
            </a:r>
          </a:p>
          <a:p>
            <a:r>
              <a:rPr lang="en-US" dirty="0"/>
              <a:t>Needs human instructions </a:t>
            </a:r>
          </a:p>
          <a:p>
            <a:r>
              <a:rPr lang="en-US" dirty="0"/>
              <a:t>Cannot transfer knowledge</a:t>
            </a:r>
          </a:p>
          <a:p>
            <a:endParaRPr lang="en-IN" dirty="0"/>
          </a:p>
        </p:txBody>
      </p:sp>
    </p:spTree>
    <p:extLst>
      <p:ext uri="{BB962C8B-B14F-4D97-AF65-F5344CB8AC3E}">
        <p14:creationId xmlns:p14="http://schemas.microsoft.com/office/powerpoint/2010/main" val="2004009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4619B-3CD8-0A4E-496B-FF7E8420FE63}"/>
              </a:ext>
            </a:extLst>
          </p:cNvPr>
          <p:cNvSpPr>
            <a:spLocks noGrp="1"/>
          </p:cNvSpPr>
          <p:nvPr>
            <p:ph type="title"/>
          </p:nvPr>
        </p:nvSpPr>
        <p:spPr/>
        <p:txBody>
          <a:bodyPr/>
          <a:lstStyle/>
          <a:p>
            <a:pPr algn="ctr"/>
            <a:r>
              <a:rPr lang="en-IN" dirty="0"/>
              <a:t>Narrow AI (Weak AI)</a:t>
            </a:r>
          </a:p>
        </p:txBody>
      </p:sp>
      <p:sp>
        <p:nvSpPr>
          <p:cNvPr id="3" name="Content Placeholder 2">
            <a:extLst>
              <a:ext uri="{FF2B5EF4-FFF2-40B4-BE49-F238E27FC236}">
                <a16:creationId xmlns:a16="http://schemas.microsoft.com/office/drawing/2014/main" id="{A86A77E8-B4C6-8C7E-4048-02E31279F1AA}"/>
              </a:ext>
            </a:extLst>
          </p:cNvPr>
          <p:cNvSpPr>
            <a:spLocks noGrp="1"/>
          </p:cNvSpPr>
          <p:nvPr>
            <p:ph idx="1"/>
          </p:nvPr>
        </p:nvSpPr>
        <p:spPr/>
        <p:txBody>
          <a:bodyPr/>
          <a:lstStyle/>
          <a:p>
            <a:pPr marL="0" indent="0">
              <a:buNone/>
            </a:pPr>
            <a:r>
              <a:rPr lang="en-IN" dirty="0"/>
              <a:t>Examples</a:t>
            </a:r>
          </a:p>
          <a:p>
            <a:pPr marL="0" indent="0">
              <a:buNone/>
            </a:pPr>
            <a:endParaRPr lang="en-IN" dirty="0"/>
          </a:p>
          <a:p>
            <a:r>
              <a:rPr lang="en-IN" dirty="0"/>
              <a:t>Face Unlock </a:t>
            </a:r>
          </a:p>
          <a:p>
            <a:r>
              <a:rPr lang="en-IN" dirty="0"/>
              <a:t>Spam Detection </a:t>
            </a:r>
          </a:p>
          <a:p>
            <a:r>
              <a:rPr lang="en-IN" dirty="0"/>
              <a:t>Google Translate </a:t>
            </a:r>
          </a:p>
          <a:p>
            <a:r>
              <a:rPr lang="en-IN" dirty="0"/>
              <a:t>Netflix Recommendation </a:t>
            </a:r>
          </a:p>
          <a:p>
            <a:r>
              <a:rPr lang="en-IN" dirty="0"/>
              <a:t>Medical Image Detection</a:t>
            </a:r>
          </a:p>
          <a:p>
            <a:endParaRPr lang="en-IN" dirty="0"/>
          </a:p>
        </p:txBody>
      </p:sp>
    </p:spTree>
    <p:extLst>
      <p:ext uri="{BB962C8B-B14F-4D97-AF65-F5344CB8AC3E}">
        <p14:creationId xmlns:p14="http://schemas.microsoft.com/office/powerpoint/2010/main" val="4093994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21027-3B7E-0696-1E80-D3410E950A1A}"/>
              </a:ext>
            </a:extLst>
          </p:cNvPr>
          <p:cNvSpPr>
            <a:spLocks noGrp="1"/>
          </p:cNvSpPr>
          <p:nvPr>
            <p:ph type="title"/>
          </p:nvPr>
        </p:nvSpPr>
        <p:spPr/>
        <p:txBody>
          <a:bodyPr/>
          <a:lstStyle/>
          <a:p>
            <a:pPr algn="ctr"/>
            <a:r>
              <a:rPr lang="en-IN" dirty="0"/>
              <a:t>Artificial General Intelligence (AGI)</a:t>
            </a:r>
          </a:p>
        </p:txBody>
      </p:sp>
      <p:sp>
        <p:nvSpPr>
          <p:cNvPr id="3" name="Content Placeholder 2">
            <a:extLst>
              <a:ext uri="{FF2B5EF4-FFF2-40B4-BE49-F238E27FC236}">
                <a16:creationId xmlns:a16="http://schemas.microsoft.com/office/drawing/2014/main" id="{A3883B10-4A0B-70F8-3C88-392C40F57F44}"/>
              </a:ext>
            </a:extLst>
          </p:cNvPr>
          <p:cNvSpPr>
            <a:spLocks noGrp="1"/>
          </p:cNvSpPr>
          <p:nvPr>
            <p:ph idx="1"/>
          </p:nvPr>
        </p:nvSpPr>
        <p:spPr/>
        <p:txBody>
          <a:bodyPr>
            <a:normAutofit fontScale="92500" lnSpcReduction="10000"/>
          </a:bodyPr>
          <a:lstStyle/>
          <a:p>
            <a:r>
              <a:rPr lang="en-US" b="1" dirty="0"/>
              <a:t>What is General AI?</a:t>
            </a:r>
          </a:p>
          <a:p>
            <a:r>
              <a:rPr lang="en-US" dirty="0"/>
              <a:t>General AI (AGI) refers to an AI system capable of performing </a:t>
            </a:r>
            <a:r>
              <a:rPr lang="en-US" b="1" dirty="0"/>
              <a:t>any intellectual task that a human can perform</a:t>
            </a:r>
            <a:r>
              <a:rPr lang="en-US" dirty="0"/>
              <a:t>.</a:t>
            </a:r>
          </a:p>
          <a:p>
            <a:r>
              <a:rPr lang="en-US" dirty="0"/>
              <a:t>It would be able to</a:t>
            </a:r>
          </a:p>
          <a:p>
            <a:r>
              <a:rPr lang="en-US" dirty="0"/>
              <a:t>Learn new skills independently </a:t>
            </a:r>
          </a:p>
          <a:p>
            <a:r>
              <a:rPr lang="en-US" dirty="0"/>
              <a:t>Apply knowledge across domains </a:t>
            </a:r>
          </a:p>
          <a:p>
            <a:r>
              <a:rPr lang="en-US" dirty="0"/>
              <a:t>Reason </a:t>
            </a:r>
          </a:p>
          <a:p>
            <a:r>
              <a:rPr lang="en-US" dirty="0"/>
              <a:t>Plan </a:t>
            </a:r>
          </a:p>
          <a:p>
            <a:r>
              <a:rPr lang="en-US" dirty="0"/>
              <a:t>Solve unfamiliar problems </a:t>
            </a:r>
          </a:p>
          <a:p>
            <a:r>
              <a:rPr lang="en-US" dirty="0"/>
              <a:t>Adapt to new environments</a:t>
            </a:r>
          </a:p>
          <a:p>
            <a:endParaRPr lang="en-IN" dirty="0"/>
          </a:p>
        </p:txBody>
      </p:sp>
    </p:spTree>
    <p:extLst>
      <p:ext uri="{BB962C8B-B14F-4D97-AF65-F5344CB8AC3E}">
        <p14:creationId xmlns:p14="http://schemas.microsoft.com/office/powerpoint/2010/main" val="13527999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3543F-0A9C-293B-332B-97D11E9F2D35}"/>
              </a:ext>
            </a:extLst>
          </p:cNvPr>
          <p:cNvSpPr>
            <a:spLocks noGrp="1"/>
          </p:cNvSpPr>
          <p:nvPr>
            <p:ph type="title"/>
          </p:nvPr>
        </p:nvSpPr>
        <p:spPr/>
        <p:txBody>
          <a:bodyPr/>
          <a:lstStyle/>
          <a:p>
            <a:pPr algn="ctr"/>
            <a:r>
              <a:rPr lang="en-IN" dirty="0"/>
              <a:t>Artificial General Intelligence (AGI)</a:t>
            </a:r>
          </a:p>
        </p:txBody>
      </p:sp>
      <p:sp>
        <p:nvSpPr>
          <p:cNvPr id="3" name="Content Placeholder 2">
            <a:extLst>
              <a:ext uri="{FF2B5EF4-FFF2-40B4-BE49-F238E27FC236}">
                <a16:creationId xmlns:a16="http://schemas.microsoft.com/office/drawing/2014/main" id="{6A08995D-A30A-46B3-1787-4ADB9A43A6FD}"/>
              </a:ext>
            </a:extLst>
          </p:cNvPr>
          <p:cNvSpPr>
            <a:spLocks noGrp="1"/>
          </p:cNvSpPr>
          <p:nvPr>
            <p:ph idx="1"/>
          </p:nvPr>
        </p:nvSpPr>
        <p:spPr/>
        <p:txBody>
          <a:bodyPr/>
          <a:lstStyle/>
          <a:p>
            <a:r>
              <a:rPr lang="en-US" dirty="0"/>
              <a:t>Can ChatGPT repair your car?</a:t>
            </a:r>
          </a:p>
          <a:p>
            <a:r>
              <a:rPr lang="en-US" dirty="0"/>
              <a:t>Can it cook dinner?</a:t>
            </a:r>
          </a:p>
          <a:p>
            <a:pPr marL="0" indent="0">
              <a:buNone/>
            </a:pPr>
            <a:endParaRPr lang="en-US" dirty="0"/>
          </a:p>
          <a:p>
            <a:r>
              <a:rPr lang="en-US" dirty="0"/>
              <a:t>It is powerful but still </a:t>
            </a:r>
            <a:r>
              <a:rPr lang="en-US" b="1" dirty="0"/>
              <a:t>Narrow AI</a:t>
            </a:r>
            <a:r>
              <a:rPr lang="en-US" dirty="0"/>
              <a:t>.</a:t>
            </a:r>
          </a:p>
          <a:p>
            <a:endParaRPr lang="en-IN" dirty="0"/>
          </a:p>
        </p:txBody>
      </p:sp>
    </p:spTree>
    <p:extLst>
      <p:ext uri="{BB962C8B-B14F-4D97-AF65-F5344CB8AC3E}">
        <p14:creationId xmlns:p14="http://schemas.microsoft.com/office/powerpoint/2010/main" val="37141846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FF96A-8AF4-BE2A-DE79-30EFEE7EAB94}"/>
              </a:ext>
            </a:extLst>
          </p:cNvPr>
          <p:cNvSpPr>
            <a:spLocks noGrp="1"/>
          </p:cNvSpPr>
          <p:nvPr>
            <p:ph type="title"/>
          </p:nvPr>
        </p:nvSpPr>
        <p:spPr/>
        <p:txBody>
          <a:bodyPr/>
          <a:lstStyle/>
          <a:p>
            <a:pPr algn="ctr"/>
            <a:r>
              <a:rPr lang="en-US" b="1" dirty="0"/>
              <a:t>Agentic AI</a:t>
            </a:r>
            <a:br>
              <a:rPr lang="en-US" b="1" dirty="0"/>
            </a:br>
            <a:endParaRPr lang="en-IN" dirty="0"/>
          </a:p>
        </p:txBody>
      </p:sp>
      <p:sp>
        <p:nvSpPr>
          <p:cNvPr id="3" name="Content Placeholder 2">
            <a:extLst>
              <a:ext uri="{FF2B5EF4-FFF2-40B4-BE49-F238E27FC236}">
                <a16:creationId xmlns:a16="http://schemas.microsoft.com/office/drawing/2014/main" id="{B96A64FC-07FB-BDF7-B611-D61BFC4FC43B}"/>
              </a:ext>
            </a:extLst>
          </p:cNvPr>
          <p:cNvSpPr>
            <a:spLocks noGrp="1"/>
          </p:cNvSpPr>
          <p:nvPr>
            <p:ph idx="1"/>
          </p:nvPr>
        </p:nvSpPr>
        <p:spPr>
          <a:xfrm>
            <a:off x="838200" y="1825625"/>
            <a:ext cx="10515600" cy="4667250"/>
          </a:xfrm>
        </p:spPr>
        <p:txBody>
          <a:bodyPr>
            <a:normAutofit/>
          </a:bodyPr>
          <a:lstStyle/>
          <a:p>
            <a:r>
              <a:rPr lang="en-US" dirty="0"/>
              <a:t>Agentic AI goes beyond generating answers.</a:t>
            </a:r>
          </a:p>
          <a:p>
            <a:r>
              <a:rPr lang="en-US" dirty="0"/>
              <a:t>It can</a:t>
            </a:r>
          </a:p>
          <a:p>
            <a:r>
              <a:rPr lang="en-US" dirty="0"/>
              <a:t>Understand a goal </a:t>
            </a:r>
          </a:p>
          <a:p>
            <a:r>
              <a:rPr lang="en-US" dirty="0"/>
              <a:t>Create a plan </a:t>
            </a:r>
          </a:p>
          <a:p>
            <a:r>
              <a:rPr lang="en-US" dirty="0"/>
              <a:t>Use tools </a:t>
            </a:r>
          </a:p>
          <a:p>
            <a:r>
              <a:rPr lang="en-US" dirty="0"/>
              <a:t>Make decisions </a:t>
            </a:r>
          </a:p>
          <a:p>
            <a:r>
              <a:rPr lang="en-US" dirty="0"/>
              <a:t>Execute tasks </a:t>
            </a:r>
          </a:p>
          <a:p>
            <a:r>
              <a:rPr lang="en-US" dirty="0"/>
              <a:t>Monitor progress </a:t>
            </a:r>
          </a:p>
          <a:p>
            <a:r>
              <a:rPr lang="en-US" dirty="0"/>
              <a:t>Adjust when something changes</a:t>
            </a:r>
          </a:p>
          <a:p>
            <a:endParaRPr lang="en-IN" dirty="0"/>
          </a:p>
        </p:txBody>
      </p:sp>
    </p:spTree>
    <p:extLst>
      <p:ext uri="{BB962C8B-B14F-4D97-AF65-F5344CB8AC3E}">
        <p14:creationId xmlns:p14="http://schemas.microsoft.com/office/powerpoint/2010/main" val="33949793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FCD7-EC79-B09B-580A-984F4B10FF69}"/>
              </a:ext>
            </a:extLst>
          </p:cNvPr>
          <p:cNvSpPr>
            <a:spLocks noGrp="1"/>
          </p:cNvSpPr>
          <p:nvPr>
            <p:ph type="title"/>
          </p:nvPr>
        </p:nvSpPr>
        <p:spPr/>
        <p:txBody>
          <a:bodyPr/>
          <a:lstStyle/>
          <a:p>
            <a:pPr algn="ctr"/>
            <a:r>
              <a:rPr lang="en-IN" dirty="0"/>
              <a:t>Activity: Travel Agent Example</a:t>
            </a:r>
          </a:p>
        </p:txBody>
      </p:sp>
      <p:sp>
        <p:nvSpPr>
          <p:cNvPr id="3" name="Content Placeholder 2">
            <a:extLst>
              <a:ext uri="{FF2B5EF4-FFF2-40B4-BE49-F238E27FC236}">
                <a16:creationId xmlns:a16="http://schemas.microsoft.com/office/drawing/2014/main" id="{FD433E5E-0D8F-3C36-4090-9D3C55B8EA45}"/>
              </a:ext>
            </a:extLst>
          </p:cNvPr>
          <p:cNvSpPr>
            <a:spLocks noGrp="1"/>
          </p:cNvSpPr>
          <p:nvPr>
            <p:ph idx="1"/>
          </p:nvPr>
        </p:nvSpPr>
        <p:spPr/>
        <p:txBody>
          <a:bodyPr>
            <a:normAutofit fontScale="85000" lnSpcReduction="20000"/>
          </a:bodyPr>
          <a:lstStyle/>
          <a:p>
            <a:r>
              <a:rPr lang="en-US" dirty="0"/>
              <a:t>Plan a 3-day vacation to Goa with a budget of ₹25,000.</a:t>
            </a:r>
          </a:p>
          <a:p>
            <a:endParaRPr lang="en-US" dirty="0"/>
          </a:p>
          <a:p>
            <a:r>
              <a:rPr lang="en-US" dirty="0"/>
              <a:t>ChatGPT only generated a plan.</a:t>
            </a:r>
          </a:p>
          <a:p>
            <a:r>
              <a:rPr lang="en-US" dirty="0"/>
              <a:t>An </a:t>
            </a:r>
            <a:r>
              <a:rPr lang="en-US" b="1" dirty="0"/>
              <a:t>Agentic AI</a:t>
            </a:r>
            <a:r>
              <a:rPr lang="en-US" dirty="0"/>
              <a:t> would also</a:t>
            </a:r>
          </a:p>
          <a:p>
            <a:r>
              <a:rPr lang="en-US" dirty="0"/>
              <a:t>Search flights </a:t>
            </a:r>
          </a:p>
          <a:p>
            <a:r>
              <a:rPr lang="en-US" dirty="0"/>
              <a:t>Compare hotels </a:t>
            </a:r>
          </a:p>
          <a:p>
            <a:r>
              <a:rPr lang="en-US" dirty="0"/>
              <a:t>Book tickets </a:t>
            </a:r>
          </a:p>
          <a:p>
            <a:r>
              <a:rPr lang="en-US" dirty="0"/>
              <a:t>Add calendar events </a:t>
            </a:r>
          </a:p>
          <a:p>
            <a:r>
              <a:rPr lang="en-US" dirty="0"/>
              <a:t>Monitor flight delays </a:t>
            </a:r>
          </a:p>
          <a:p>
            <a:r>
              <a:rPr lang="en-US" dirty="0"/>
              <a:t>Notify changes </a:t>
            </a:r>
          </a:p>
          <a:p>
            <a:r>
              <a:rPr lang="en-US" dirty="0"/>
              <a:t>This is the difference between </a:t>
            </a:r>
            <a:r>
              <a:rPr lang="en-US" b="1" dirty="0"/>
              <a:t>answer generation</a:t>
            </a:r>
            <a:r>
              <a:rPr lang="en-US" dirty="0"/>
              <a:t> and </a:t>
            </a:r>
            <a:r>
              <a:rPr lang="en-US" b="1" dirty="0"/>
              <a:t>task execution</a:t>
            </a:r>
            <a:r>
              <a:rPr lang="en-US" dirty="0"/>
              <a:t>.</a:t>
            </a:r>
          </a:p>
          <a:p>
            <a:endParaRPr lang="en-IN" dirty="0"/>
          </a:p>
        </p:txBody>
      </p:sp>
    </p:spTree>
    <p:extLst>
      <p:ext uri="{BB962C8B-B14F-4D97-AF65-F5344CB8AC3E}">
        <p14:creationId xmlns:p14="http://schemas.microsoft.com/office/powerpoint/2010/main" val="1414477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5132E-AFD1-4DD6-038F-2BDB1A9BD0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BDB82C-95E7-30FA-89C1-C3B08648AE1D}"/>
              </a:ext>
            </a:extLst>
          </p:cNvPr>
          <p:cNvSpPr>
            <a:spLocks noGrp="1"/>
          </p:cNvSpPr>
          <p:nvPr>
            <p:ph type="title"/>
          </p:nvPr>
        </p:nvSpPr>
        <p:spPr/>
        <p:txBody>
          <a:bodyPr/>
          <a:lstStyle/>
          <a:p>
            <a:pPr algn="ctr"/>
            <a:r>
              <a:rPr lang="en-IN" dirty="0"/>
              <a:t>Agentic AI in Business</a:t>
            </a:r>
          </a:p>
        </p:txBody>
      </p:sp>
      <p:sp>
        <p:nvSpPr>
          <p:cNvPr id="3" name="Content Placeholder 2">
            <a:extLst>
              <a:ext uri="{FF2B5EF4-FFF2-40B4-BE49-F238E27FC236}">
                <a16:creationId xmlns:a16="http://schemas.microsoft.com/office/drawing/2014/main" id="{FF888F13-F19B-5F32-D021-395A02A0D239}"/>
              </a:ext>
            </a:extLst>
          </p:cNvPr>
          <p:cNvSpPr>
            <a:spLocks noGrp="1"/>
          </p:cNvSpPr>
          <p:nvPr>
            <p:ph idx="1"/>
          </p:nvPr>
        </p:nvSpPr>
        <p:spPr>
          <a:xfrm>
            <a:off x="715617" y="1825625"/>
            <a:ext cx="10638183" cy="4744140"/>
          </a:xfrm>
        </p:spPr>
        <p:txBody>
          <a:bodyPr>
            <a:normAutofit fontScale="92500" lnSpcReduction="20000"/>
          </a:bodyPr>
          <a:lstStyle/>
          <a:p>
            <a:r>
              <a:rPr lang="en-IN" dirty="0"/>
              <a:t>Employee says             "Prepare next week's customer meeting."</a:t>
            </a:r>
          </a:p>
          <a:p>
            <a:r>
              <a:rPr lang="en-IN" dirty="0"/>
              <a:t>An AI Agent could</a:t>
            </a:r>
          </a:p>
          <a:p>
            <a:r>
              <a:rPr lang="en-IN" dirty="0"/>
              <a:t>✔ Search CRM</a:t>
            </a:r>
          </a:p>
          <a:p>
            <a:r>
              <a:rPr lang="en-IN" dirty="0"/>
              <a:t>✔ Read previous emails</a:t>
            </a:r>
          </a:p>
          <a:p>
            <a:r>
              <a:rPr lang="en-IN" dirty="0"/>
              <a:t>✔ Create PowerPoint</a:t>
            </a:r>
          </a:p>
          <a:p>
            <a:r>
              <a:rPr lang="en-IN" dirty="0"/>
              <a:t>✔ Schedule meeting</a:t>
            </a:r>
          </a:p>
          <a:p>
            <a:r>
              <a:rPr lang="en-IN" dirty="0"/>
              <a:t>✔ Invite attendees</a:t>
            </a:r>
          </a:p>
          <a:p>
            <a:r>
              <a:rPr lang="en-IN" dirty="0"/>
              <a:t>✔ Summarize customer issues</a:t>
            </a:r>
          </a:p>
          <a:p>
            <a:r>
              <a:rPr lang="en-IN" dirty="0"/>
              <a:t>✔ Generate meeting notes afterward</a:t>
            </a:r>
          </a:p>
          <a:p>
            <a:r>
              <a:rPr lang="en-IN" b="1" dirty="0"/>
              <a:t>Discussion</a:t>
            </a:r>
          </a:p>
          <a:p>
            <a:r>
              <a:rPr lang="en-IN" dirty="0"/>
              <a:t>AI is becoming a </a:t>
            </a:r>
            <a:r>
              <a:rPr lang="en-IN" b="1" dirty="0"/>
              <a:t>digital teammate</a:t>
            </a:r>
            <a:r>
              <a:rPr lang="en-IN" dirty="0"/>
              <a:t> rather than just a chatbot.</a:t>
            </a:r>
          </a:p>
          <a:p>
            <a:endParaRPr lang="en-IN" dirty="0"/>
          </a:p>
        </p:txBody>
      </p:sp>
    </p:spTree>
    <p:extLst>
      <p:ext uri="{BB962C8B-B14F-4D97-AF65-F5344CB8AC3E}">
        <p14:creationId xmlns:p14="http://schemas.microsoft.com/office/powerpoint/2010/main" val="27939019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FA675-5E68-03E2-4201-117155544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E2865E-02BE-A48F-E52B-F5371D38C849}"/>
              </a:ext>
            </a:extLst>
          </p:cNvPr>
          <p:cNvSpPr>
            <a:spLocks noGrp="1"/>
          </p:cNvSpPr>
          <p:nvPr>
            <p:ph type="title"/>
          </p:nvPr>
        </p:nvSpPr>
        <p:spPr/>
        <p:txBody>
          <a:bodyPr/>
          <a:lstStyle/>
          <a:p>
            <a:pPr algn="ctr"/>
            <a:r>
              <a:rPr lang="en-IN" dirty="0"/>
              <a:t>Evolution of AI Systems</a:t>
            </a:r>
          </a:p>
        </p:txBody>
      </p:sp>
      <p:sp>
        <p:nvSpPr>
          <p:cNvPr id="3" name="Content Placeholder 2">
            <a:extLst>
              <a:ext uri="{FF2B5EF4-FFF2-40B4-BE49-F238E27FC236}">
                <a16:creationId xmlns:a16="http://schemas.microsoft.com/office/drawing/2014/main" id="{F74A7B4F-964C-F797-17BE-509736C6BB57}"/>
              </a:ext>
            </a:extLst>
          </p:cNvPr>
          <p:cNvSpPr>
            <a:spLocks noGrp="1"/>
          </p:cNvSpPr>
          <p:nvPr>
            <p:ph idx="1"/>
          </p:nvPr>
        </p:nvSpPr>
        <p:spPr/>
        <p:txBody>
          <a:bodyPr/>
          <a:lstStyle/>
          <a:p>
            <a:r>
              <a:rPr lang="en-US" b="1" dirty="0"/>
              <a:t>How AI Has Evolved</a:t>
            </a:r>
          </a:p>
          <a:p>
            <a:r>
              <a:rPr lang="en-US" dirty="0"/>
              <a:t>Artificial Intelligence has evolved from </a:t>
            </a:r>
            <a:r>
              <a:rPr lang="en-US" b="1" dirty="0"/>
              <a:t>rule-based systems</a:t>
            </a:r>
            <a:r>
              <a:rPr lang="en-US" dirty="0"/>
              <a:t> to </a:t>
            </a:r>
            <a:r>
              <a:rPr lang="en-US" b="1" dirty="0"/>
              <a:t>autonomous AI agents</a:t>
            </a:r>
            <a:r>
              <a:rPr lang="en-US" dirty="0"/>
              <a:t> capable of reasoning and taking actions.</a:t>
            </a:r>
          </a:p>
          <a:p>
            <a:r>
              <a:rPr lang="en-US" b="1" dirty="0"/>
              <a:t>AI Evolution Journey</a:t>
            </a:r>
          </a:p>
          <a:p>
            <a:r>
              <a:rPr lang="en-US" b="1" dirty="0"/>
              <a:t>Rule-Based Systems → Machine Learning → Deep Learning → Generative AI → Agentic AI</a:t>
            </a:r>
            <a:endParaRPr lang="en-US" dirty="0"/>
          </a:p>
          <a:p>
            <a:r>
              <a:rPr lang="en-US" b="1" dirty="0"/>
              <a:t>Key Message</a:t>
            </a:r>
          </a:p>
          <a:p>
            <a:r>
              <a:rPr lang="en-US" dirty="0"/>
              <a:t>AI has evolved from </a:t>
            </a:r>
            <a:r>
              <a:rPr lang="en-US" b="1" dirty="0"/>
              <a:t>following instructions</a:t>
            </a:r>
            <a:r>
              <a:rPr lang="en-US" dirty="0"/>
              <a:t> to </a:t>
            </a:r>
            <a:r>
              <a:rPr lang="en-US" b="1" dirty="0"/>
              <a:t>learning</a:t>
            </a:r>
            <a:r>
              <a:rPr lang="en-US" dirty="0"/>
              <a:t>, </a:t>
            </a:r>
            <a:r>
              <a:rPr lang="en-US" b="1" dirty="0"/>
              <a:t>creating</a:t>
            </a:r>
            <a:r>
              <a:rPr lang="en-US" dirty="0"/>
              <a:t>, and now </a:t>
            </a:r>
            <a:r>
              <a:rPr lang="en-US" b="1" dirty="0"/>
              <a:t>acting autonomously</a:t>
            </a:r>
            <a:r>
              <a:rPr lang="en-US" dirty="0"/>
              <a:t>.</a:t>
            </a:r>
          </a:p>
          <a:p>
            <a:endParaRPr lang="en-IN" dirty="0"/>
          </a:p>
        </p:txBody>
      </p:sp>
    </p:spTree>
    <p:extLst>
      <p:ext uri="{BB962C8B-B14F-4D97-AF65-F5344CB8AC3E}">
        <p14:creationId xmlns:p14="http://schemas.microsoft.com/office/powerpoint/2010/main" val="22534433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40AF-897F-1B79-C8B9-5E81F79D43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BE12EF-8866-3808-0F76-9C17E0D4079E}"/>
              </a:ext>
            </a:extLst>
          </p:cNvPr>
          <p:cNvSpPr>
            <a:spLocks noGrp="1"/>
          </p:cNvSpPr>
          <p:nvPr>
            <p:ph type="title"/>
          </p:nvPr>
        </p:nvSpPr>
        <p:spPr/>
        <p:txBody>
          <a:bodyPr/>
          <a:lstStyle/>
          <a:p>
            <a:pPr algn="ctr"/>
            <a:r>
              <a:rPr lang="en-US" dirty="0"/>
              <a:t>Stage 1: Rule-Based AI (1950s–1990s)</a:t>
            </a:r>
            <a:endParaRPr lang="en-IN" dirty="0"/>
          </a:p>
        </p:txBody>
      </p:sp>
      <p:sp>
        <p:nvSpPr>
          <p:cNvPr id="3" name="Content Placeholder 2">
            <a:extLst>
              <a:ext uri="{FF2B5EF4-FFF2-40B4-BE49-F238E27FC236}">
                <a16:creationId xmlns:a16="http://schemas.microsoft.com/office/drawing/2014/main" id="{8B48A224-765A-6D97-02C6-F856A1228AEA}"/>
              </a:ext>
            </a:extLst>
          </p:cNvPr>
          <p:cNvSpPr>
            <a:spLocks noGrp="1"/>
          </p:cNvSpPr>
          <p:nvPr>
            <p:ph idx="1"/>
          </p:nvPr>
        </p:nvSpPr>
        <p:spPr/>
        <p:txBody>
          <a:bodyPr/>
          <a:lstStyle/>
          <a:p>
            <a:r>
              <a:rPr lang="en-US" b="1" dirty="0"/>
              <a:t>AI Based on Rules</a:t>
            </a:r>
          </a:p>
          <a:p>
            <a:r>
              <a:rPr lang="en-US" dirty="0"/>
              <a:t>Early AI systems relied on predefined rules written by humans.</a:t>
            </a:r>
          </a:p>
          <a:p>
            <a:r>
              <a:rPr lang="en-US" b="1" dirty="0"/>
              <a:t>How It Works</a:t>
            </a:r>
          </a:p>
          <a:p>
            <a:r>
              <a:rPr lang="en-US" b="1" dirty="0"/>
              <a:t>Input → Rules → Output</a:t>
            </a:r>
            <a:endParaRPr lang="en-US" dirty="0"/>
          </a:p>
          <a:p>
            <a:r>
              <a:rPr lang="en-US" dirty="0"/>
              <a:t>Example:</a:t>
            </a:r>
          </a:p>
          <a:p>
            <a:endParaRPr lang="en-US" dirty="0"/>
          </a:p>
          <a:p>
            <a:r>
              <a:rPr lang="en-US" dirty="0"/>
              <a:t>If balance &lt; ₹500 → Low balance alert</a:t>
            </a:r>
          </a:p>
          <a:p>
            <a:endParaRPr lang="en-IN" dirty="0"/>
          </a:p>
        </p:txBody>
      </p:sp>
    </p:spTree>
    <p:extLst>
      <p:ext uri="{BB962C8B-B14F-4D97-AF65-F5344CB8AC3E}">
        <p14:creationId xmlns:p14="http://schemas.microsoft.com/office/powerpoint/2010/main" val="29434424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559D7-D43C-33FA-05B7-A0A5F269E4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E1F1F-D272-E067-751C-94062D733B4A}"/>
              </a:ext>
            </a:extLst>
          </p:cNvPr>
          <p:cNvSpPr>
            <a:spLocks noGrp="1"/>
          </p:cNvSpPr>
          <p:nvPr>
            <p:ph type="title"/>
          </p:nvPr>
        </p:nvSpPr>
        <p:spPr/>
        <p:txBody>
          <a:bodyPr/>
          <a:lstStyle/>
          <a:p>
            <a:pPr algn="ctr"/>
            <a:r>
              <a:rPr lang="en-US" dirty="0"/>
              <a:t>Stage 1: Rule-Based AI (1950s–1990s)</a:t>
            </a:r>
            <a:endParaRPr lang="en-IN" dirty="0"/>
          </a:p>
        </p:txBody>
      </p:sp>
      <p:sp>
        <p:nvSpPr>
          <p:cNvPr id="3" name="Content Placeholder 2">
            <a:extLst>
              <a:ext uri="{FF2B5EF4-FFF2-40B4-BE49-F238E27FC236}">
                <a16:creationId xmlns:a16="http://schemas.microsoft.com/office/drawing/2014/main" id="{46B25DFC-B778-4AB2-0655-5192D72106F1}"/>
              </a:ext>
            </a:extLst>
          </p:cNvPr>
          <p:cNvSpPr>
            <a:spLocks noGrp="1"/>
          </p:cNvSpPr>
          <p:nvPr>
            <p:ph idx="1"/>
          </p:nvPr>
        </p:nvSpPr>
        <p:spPr/>
        <p:txBody>
          <a:bodyPr>
            <a:normAutofit lnSpcReduction="10000"/>
          </a:bodyPr>
          <a:lstStyle/>
          <a:p>
            <a:r>
              <a:rPr lang="en-US" dirty="0"/>
              <a:t>No learning </a:t>
            </a:r>
          </a:p>
          <a:p>
            <a:r>
              <a:rPr lang="en-US" dirty="0"/>
              <a:t>Deterministic </a:t>
            </a:r>
          </a:p>
          <a:p>
            <a:r>
              <a:rPr lang="en-US" dirty="0"/>
              <a:t>Easy to explain </a:t>
            </a:r>
          </a:p>
          <a:p>
            <a:r>
              <a:rPr lang="en-US" dirty="0"/>
              <a:t>Limited flexibility </a:t>
            </a:r>
          </a:p>
          <a:p>
            <a:pPr marL="0" indent="0">
              <a:buNone/>
            </a:pPr>
            <a:endParaRPr lang="en-US" b="1" dirty="0"/>
          </a:p>
          <a:p>
            <a:pPr marL="0" indent="0">
              <a:buNone/>
            </a:pPr>
            <a:r>
              <a:rPr lang="en-US" b="1" dirty="0"/>
              <a:t>Examples</a:t>
            </a:r>
          </a:p>
          <a:p>
            <a:r>
              <a:rPr lang="en-US" dirty="0"/>
              <a:t>Tax calculators </a:t>
            </a:r>
          </a:p>
          <a:p>
            <a:r>
              <a:rPr lang="en-US" dirty="0"/>
              <a:t>Early expert systems </a:t>
            </a:r>
          </a:p>
          <a:p>
            <a:r>
              <a:rPr lang="en-US" dirty="0"/>
              <a:t>Rule-based chatbots</a:t>
            </a:r>
          </a:p>
          <a:p>
            <a:endParaRPr lang="en-IN" dirty="0"/>
          </a:p>
        </p:txBody>
      </p:sp>
    </p:spTree>
    <p:extLst>
      <p:ext uri="{BB962C8B-B14F-4D97-AF65-F5344CB8AC3E}">
        <p14:creationId xmlns:p14="http://schemas.microsoft.com/office/powerpoint/2010/main" val="1549863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AA4AC-2ED6-262A-E57B-E11543E657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221A9E-4260-0E8B-B6E3-D7D1BB876580}"/>
              </a:ext>
            </a:extLst>
          </p:cNvPr>
          <p:cNvSpPr>
            <a:spLocks noGrp="1"/>
          </p:cNvSpPr>
          <p:nvPr>
            <p:ph type="title"/>
          </p:nvPr>
        </p:nvSpPr>
        <p:spPr/>
        <p:txBody>
          <a:bodyPr/>
          <a:lstStyle/>
          <a:p>
            <a:pPr algn="ctr"/>
            <a:r>
              <a:rPr lang="en-IN" dirty="0"/>
              <a:t>Stage 2: Machine Learning</a:t>
            </a:r>
          </a:p>
        </p:txBody>
      </p:sp>
      <p:sp>
        <p:nvSpPr>
          <p:cNvPr id="3" name="Content Placeholder 2">
            <a:extLst>
              <a:ext uri="{FF2B5EF4-FFF2-40B4-BE49-F238E27FC236}">
                <a16:creationId xmlns:a16="http://schemas.microsoft.com/office/drawing/2014/main" id="{C29E365C-8144-1DEF-0293-406D9613692B}"/>
              </a:ext>
            </a:extLst>
          </p:cNvPr>
          <p:cNvSpPr>
            <a:spLocks noGrp="1"/>
          </p:cNvSpPr>
          <p:nvPr>
            <p:ph idx="1"/>
          </p:nvPr>
        </p:nvSpPr>
        <p:spPr/>
        <p:txBody>
          <a:bodyPr>
            <a:normAutofit lnSpcReduction="10000"/>
          </a:bodyPr>
          <a:lstStyle/>
          <a:p>
            <a:r>
              <a:rPr lang="en-US" b="1" dirty="0"/>
              <a:t>Example</a:t>
            </a:r>
          </a:p>
          <a:p>
            <a:r>
              <a:rPr lang="en-US" dirty="0"/>
              <a:t>Rather than coding every fraud rule:</a:t>
            </a:r>
          </a:p>
          <a:p>
            <a:r>
              <a:rPr lang="en-US" dirty="0"/>
              <a:t>Train a model on millions of transactions. </a:t>
            </a:r>
          </a:p>
          <a:p>
            <a:r>
              <a:rPr lang="en-US" dirty="0"/>
              <a:t>The model identifies suspicious patterns. </a:t>
            </a:r>
          </a:p>
          <a:p>
            <a:r>
              <a:rPr lang="en-US" b="1" dirty="0"/>
              <a:t>Applications</a:t>
            </a:r>
          </a:p>
          <a:p>
            <a:r>
              <a:rPr lang="en-US" dirty="0"/>
              <a:t>Spam detection </a:t>
            </a:r>
          </a:p>
          <a:p>
            <a:r>
              <a:rPr lang="en-US" dirty="0"/>
              <a:t>Credit scoring </a:t>
            </a:r>
          </a:p>
          <a:p>
            <a:r>
              <a:rPr lang="en-US" dirty="0"/>
              <a:t>Product recommendations </a:t>
            </a:r>
          </a:p>
          <a:p>
            <a:r>
              <a:rPr lang="en-US" dirty="0"/>
              <a:t>Customer churn prediction</a:t>
            </a:r>
          </a:p>
          <a:p>
            <a:endParaRPr lang="en-IN" dirty="0"/>
          </a:p>
        </p:txBody>
      </p:sp>
    </p:spTree>
    <p:extLst>
      <p:ext uri="{BB962C8B-B14F-4D97-AF65-F5344CB8AC3E}">
        <p14:creationId xmlns:p14="http://schemas.microsoft.com/office/powerpoint/2010/main" val="12025673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04A42-1EF1-2B99-3071-69FC88CBB2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52E80-91EA-87D8-AE54-E45B3A657427}"/>
              </a:ext>
            </a:extLst>
          </p:cNvPr>
          <p:cNvSpPr>
            <a:spLocks noGrp="1"/>
          </p:cNvSpPr>
          <p:nvPr>
            <p:ph type="title"/>
          </p:nvPr>
        </p:nvSpPr>
        <p:spPr/>
        <p:txBody>
          <a:bodyPr/>
          <a:lstStyle/>
          <a:p>
            <a:pPr algn="ctr"/>
            <a:r>
              <a:rPr lang="en-IN" dirty="0"/>
              <a:t>Stage 3: Deep Learning</a:t>
            </a:r>
          </a:p>
        </p:txBody>
      </p:sp>
      <p:sp>
        <p:nvSpPr>
          <p:cNvPr id="3" name="Content Placeholder 2">
            <a:extLst>
              <a:ext uri="{FF2B5EF4-FFF2-40B4-BE49-F238E27FC236}">
                <a16:creationId xmlns:a16="http://schemas.microsoft.com/office/drawing/2014/main" id="{5D1E70C4-3043-8249-F648-8E7E3E4AF453}"/>
              </a:ext>
            </a:extLst>
          </p:cNvPr>
          <p:cNvSpPr>
            <a:spLocks noGrp="1"/>
          </p:cNvSpPr>
          <p:nvPr>
            <p:ph idx="1"/>
          </p:nvPr>
        </p:nvSpPr>
        <p:spPr/>
        <p:txBody>
          <a:bodyPr>
            <a:normAutofit lnSpcReduction="10000"/>
          </a:bodyPr>
          <a:lstStyle/>
          <a:p>
            <a:r>
              <a:rPr lang="en-US" b="1" dirty="0"/>
              <a:t>Learning Complex Patterns</a:t>
            </a:r>
          </a:p>
          <a:p>
            <a:r>
              <a:rPr lang="en-US" dirty="0"/>
              <a:t>Deep Learning uses artificial neural networks inspired by the human brain.</a:t>
            </a:r>
          </a:p>
          <a:p>
            <a:r>
              <a:rPr lang="en-US" b="1" dirty="0"/>
              <a:t>What Changed?</a:t>
            </a:r>
          </a:p>
          <a:p>
            <a:r>
              <a:rPr lang="en-US" dirty="0"/>
              <a:t>AI became much better at:</a:t>
            </a:r>
          </a:p>
          <a:p>
            <a:r>
              <a:rPr lang="en-US" dirty="0"/>
              <a:t>Image recognition </a:t>
            </a:r>
          </a:p>
          <a:p>
            <a:r>
              <a:rPr lang="en-US" dirty="0"/>
              <a:t>Speech recognition </a:t>
            </a:r>
          </a:p>
          <a:p>
            <a:r>
              <a:rPr lang="en-US" dirty="0"/>
              <a:t>Language understanding </a:t>
            </a:r>
          </a:p>
          <a:p>
            <a:r>
              <a:rPr lang="en-US" dirty="0"/>
              <a:t>Video analysis</a:t>
            </a:r>
          </a:p>
          <a:p>
            <a:endParaRPr lang="en-IN" dirty="0"/>
          </a:p>
        </p:txBody>
      </p:sp>
    </p:spTree>
    <p:extLst>
      <p:ext uri="{BB962C8B-B14F-4D97-AF65-F5344CB8AC3E}">
        <p14:creationId xmlns:p14="http://schemas.microsoft.com/office/powerpoint/2010/main" val="33741665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32DDD-9415-1192-D9D9-2F287B5DD3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39F71-38DB-5293-9291-344440F3F361}"/>
              </a:ext>
            </a:extLst>
          </p:cNvPr>
          <p:cNvSpPr>
            <a:spLocks noGrp="1"/>
          </p:cNvSpPr>
          <p:nvPr>
            <p:ph type="title"/>
          </p:nvPr>
        </p:nvSpPr>
        <p:spPr/>
        <p:txBody>
          <a:bodyPr/>
          <a:lstStyle/>
          <a:p>
            <a:pPr algn="ctr"/>
            <a:r>
              <a:rPr lang="en-IN" dirty="0"/>
              <a:t>Stage 3: Deep Learning</a:t>
            </a:r>
          </a:p>
        </p:txBody>
      </p:sp>
      <p:sp>
        <p:nvSpPr>
          <p:cNvPr id="3" name="Content Placeholder 2">
            <a:extLst>
              <a:ext uri="{FF2B5EF4-FFF2-40B4-BE49-F238E27FC236}">
                <a16:creationId xmlns:a16="http://schemas.microsoft.com/office/drawing/2014/main" id="{5D448CDF-4CBB-B13E-E709-8673C54BF32A}"/>
              </a:ext>
            </a:extLst>
          </p:cNvPr>
          <p:cNvSpPr>
            <a:spLocks noGrp="1"/>
          </p:cNvSpPr>
          <p:nvPr>
            <p:ph idx="1"/>
          </p:nvPr>
        </p:nvSpPr>
        <p:spPr/>
        <p:txBody>
          <a:bodyPr>
            <a:normAutofit fontScale="92500" lnSpcReduction="10000"/>
          </a:bodyPr>
          <a:lstStyle/>
          <a:p>
            <a:r>
              <a:rPr lang="en-US" b="1" dirty="0"/>
              <a:t>Examples</a:t>
            </a:r>
          </a:p>
          <a:p>
            <a:r>
              <a:rPr lang="en-US" dirty="0"/>
              <a:t>Face recognition </a:t>
            </a:r>
          </a:p>
          <a:p>
            <a:r>
              <a:rPr lang="en-US" dirty="0"/>
              <a:t>Self-driving perception </a:t>
            </a:r>
          </a:p>
          <a:p>
            <a:r>
              <a:rPr lang="en-US" dirty="0"/>
              <a:t>Medical image analysis </a:t>
            </a:r>
          </a:p>
          <a:p>
            <a:r>
              <a:rPr lang="en-US" dirty="0"/>
              <a:t>Voice assistants </a:t>
            </a:r>
          </a:p>
          <a:p>
            <a:r>
              <a:rPr lang="en-US" b="1" dirty="0"/>
              <a:t>Activity</a:t>
            </a:r>
          </a:p>
          <a:p>
            <a:r>
              <a:rPr lang="en-US" dirty="0"/>
              <a:t>Show an image and ask participants:</a:t>
            </a:r>
          </a:p>
          <a:p>
            <a:r>
              <a:rPr lang="en-US" dirty="0"/>
              <a:t>"Can AI identify whether this is a cat or a dog?"</a:t>
            </a:r>
          </a:p>
          <a:p>
            <a:r>
              <a:rPr lang="en-US" dirty="0"/>
              <a:t>Discuss how deep learning learns visual patterns instead of handcrafted rules.</a:t>
            </a:r>
          </a:p>
          <a:p>
            <a:endParaRPr lang="en-IN" dirty="0"/>
          </a:p>
        </p:txBody>
      </p:sp>
    </p:spTree>
    <p:extLst>
      <p:ext uri="{BB962C8B-B14F-4D97-AF65-F5344CB8AC3E}">
        <p14:creationId xmlns:p14="http://schemas.microsoft.com/office/powerpoint/2010/main" val="8102368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8A4A6-8D08-FA59-0AE4-8A98DD3865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731A4-ECC9-40E5-3CEE-0D53ADC4A10C}"/>
              </a:ext>
            </a:extLst>
          </p:cNvPr>
          <p:cNvSpPr>
            <a:spLocks noGrp="1"/>
          </p:cNvSpPr>
          <p:nvPr>
            <p:ph type="title"/>
          </p:nvPr>
        </p:nvSpPr>
        <p:spPr/>
        <p:txBody>
          <a:bodyPr/>
          <a:lstStyle/>
          <a:p>
            <a:pPr algn="ctr"/>
            <a:r>
              <a:rPr lang="en-IN" dirty="0"/>
              <a:t>Stage 4: Generative AI</a:t>
            </a:r>
          </a:p>
        </p:txBody>
      </p:sp>
      <p:sp>
        <p:nvSpPr>
          <p:cNvPr id="3" name="Content Placeholder 2">
            <a:extLst>
              <a:ext uri="{FF2B5EF4-FFF2-40B4-BE49-F238E27FC236}">
                <a16:creationId xmlns:a16="http://schemas.microsoft.com/office/drawing/2014/main" id="{5DD78A95-6402-13AA-B857-195975BF6C9D}"/>
              </a:ext>
            </a:extLst>
          </p:cNvPr>
          <p:cNvSpPr>
            <a:spLocks noGrp="1"/>
          </p:cNvSpPr>
          <p:nvPr>
            <p:ph idx="1"/>
          </p:nvPr>
        </p:nvSpPr>
        <p:spPr/>
        <p:txBody>
          <a:bodyPr>
            <a:normAutofit lnSpcReduction="10000"/>
          </a:bodyPr>
          <a:lstStyle/>
          <a:p>
            <a:r>
              <a:rPr lang="en-US" b="1" dirty="0"/>
              <a:t>AI That Creates</a:t>
            </a:r>
          </a:p>
          <a:p>
            <a:r>
              <a:rPr lang="en-US" dirty="0"/>
              <a:t>Generative AI doesn't just analyze data—it creates new content.</a:t>
            </a:r>
          </a:p>
          <a:p>
            <a:r>
              <a:rPr lang="en-US" b="1" dirty="0"/>
              <a:t>It Can Generate</a:t>
            </a:r>
          </a:p>
          <a:p>
            <a:r>
              <a:rPr lang="en-US" dirty="0"/>
              <a:t>Text </a:t>
            </a:r>
          </a:p>
          <a:p>
            <a:r>
              <a:rPr lang="en-US" dirty="0"/>
              <a:t>Images </a:t>
            </a:r>
          </a:p>
          <a:p>
            <a:r>
              <a:rPr lang="en-US" dirty="0"/>
              <a:t>Code </a:t>
            </a:r>
          </a:p>
          <a:p>
            <a:r>
              <a:rPr lang="en-US" dirty="0"/>
              <a:t>Audio </a:t>
            </a:r>
          </a:p>
          <a:p>
            <a:r>
              <a:rPr lang="en-US" dirty="0"/>
              <a:t>Video </a:t>
            </a:r>
          </a:p>
          <a:p>
            <a:r>
              <a:rPr lang="en-US" dirty="0"/>
              <a:t>Presentations</a:t>
            </a:r>
          </a:p>
          <a:p>
            <a:endParaRPr lang="en-IN" dirty="0"/>
          </a:p>
        </p:txBody>
      </p:sp>
    </p:spTree>
    <p:extLst>
      <p:ext uri="{BB962C8B-B14F-4D97-AF65-F5344CB8AC3E}">
        <p14:creationId xmlns:p14="http://schemas.microsoft.com/office/powerpoint/2010/main" val="38640730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49142-FFE7-81B7-B0BD-E29F577F3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0A865F-DA5E-0B7B-66FE-E325DCD96BDF}"/>
              </a:ext>
            </a:extLst>
          </p:cNvPr>
          <p:cNvSpPr>
            <a:spLocks noGrp="1"/>
          </p:cNvSpPr>
          <p:nvPr>
            <p:ph type="title"/>
          </p:nvPr>
        </p:nvSpPr>
        <p:spPr/>
        <p:txBody>
          <a:bodyPr/>
          <a:lstStyle/>
          <a:p>
            <a:pPr algn="ctr"/>
            <a:r>
              <a:rPr lang="en-IN" dirty="0"/>
              <a:t>Stage 4: Generative AI</a:t>
            </a:r>
          </a:p>
        </p:txBody>
      </p:sp>
      <p:sp>
        <p:nvSpPr>
          <p:cNvPr id="3" name="Content Placeholder 2">
            <a:extLst>
              <a:ext uri="{FF2B5EF4-FFF2-40B4-BE49-F238E27FC236}">
                <a16:creationId xmlns:a16="http://schemas.microsoft.com/office/drawing/2014/main" id="{60DB11A5-62B3-97C5-4D38-20E2FE2D2BB1}"/>
              </a:ext>
            </a:extLst>
          </p:cNvPr>
          <p:cNvSpPr>
            <a:spLocks noGrp="1"/>
          </p:cNvSpPr>
          <p:nvPr>
            <p:ph idx="1"/>
          </p:nvPr>
        </p:nvSpPr>
        <p:spPr/>
        <p:txBody>
          <a:bodyPr>
            <a:normAutofit fontScale="92500" lnSpcReduction="20000"/>
          </a:bodyPr>
          <a:lstStyle/>
          <a:p>
            <a:pPr marL="0" indent="0">
              <a:lnSpc>
                <a:spcPct val="200000"/>
              </a:lnSpc>
              <a:buNone/>
            </a:pPr>
            <a:r>
              <a:rPr lang="en-US" b="1" dirty="0"/>
              <a:t>Examples</a:t>
            </a:r>
          </a:p>
          <a:p>
            <a:pPr>
              <a:lnSpc>
                <a:spcPct val="200000"/>
              </a:lnSpc>
            </a:pPr>
            <a:r>
              <a:rPr lang="en-US" dirty="0"/>
              <a:t>ChatGPT </a:t>
            </a:r>
          </a:p>
          <a:p>
            <a:pPr>
              <a:lnSpc>
                <a:spcPct val="200000"/>
              </a:lnSpc>
            </a:pPr>
            <a:r>
              <a:rPr lang="en-US" dirty="0"/>
              <a:t>Image generation tools </a:t>
            </a:r>
          </a:p>
          <a:p>
            <a:pPr>
              <a:lnSpc>
                <a:spcPct val="200000"/>
              </a:lnSpc>
            </a:pPr>
            <a:r>
              <a:rPr lang="en-US" dirty="0"/>
              <a:t>AI coding assistants </a:t>
            </a:r>
          </a:p>
          <a:p>
            <a:pPr>
              <a:lnSpc>
                <a:spcPct val="200000"/>
              </a:lnSpc>
            </a:pPr>
            <a:r>
              <a:rPr lang="en-US" dirty="0"/>
              <a:t>AI presentation tools</a:t>
            </a:r>
          </a:p>
          <a:p>
            <a:pPr>
              <a:lnSpc>
                <a:spcPct val="200000"/>
              </a:lnSpc>
            </a:pPr>
            <a:endParaRPr lang="en-IN" dirty="0"/>
          </a:p>
        </p:txBody>
      </p:sp>
    </p:spTree>
    <p:extLst>
      <p:ext uri="{BB962C8B-B14F-4D97-AF65-F5344CB8AC3E}">
        <p14:creationId xmlns:p14="http://schemas.microsoft.com/office/powerpoint/2010/main" val="4610438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F9BEC-BEAA-6A63-A22C-7A1ACC6122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6D734-168D-2FC9-7C57-48D9BEBA60AE}"/>
              </a:ext>
            </a:extLst>
          </p:cNvPr>
          <p:cNvSpPr>
            <a:spLocks noGrp="1"/>
          </p:cNvSpPr>
          <p:nvPr>
            <p:ph type="title"/>
          </p:nvPr>
        </p:nvSpPr>
        <p:spPr/>
        <p:txBody>
          <a:bodyPr/>
          <a:lstStyle/>
          <a:p>
            <a:pPr algn="ctr"/>
            <a:r>
              <a:rPr lang="en-IN" dirty="0"/>
              <a:t>Stage 4: Generative AI</a:t>
            </a:r>
          </a:p>
        </p:txBody>
      </p:sp>
      <p:sp>
        <p:nvSpPr>
          <p:cNvPr id="3" name="Content Placeholder 2">
            <a:extLst>
              <a:ext uri="{FF2B5EF4-FFF2-40B4-BE49-F238E27FC236}">
                <a16:creationId xmlns:a16="http://schemas.microsoft.com/office/drawing/2014/main" id="{EEEA5DC0-8ECE-A5DC-4CC7-BB9DA07C5C4D}"/>
              </a:ext>
            </a:extLst>
          </p:cNvPr>
          <p:cNvSpPr>
            <a:spLocks noGrp="1"/>
          </p:cNvSpPr>
          <p:nvPr>
            <p:ph idx="1"/>
          </p:nvPr>
        </p:nvSpPr>
        <p:spPr/>
        <p:txBody>
          <a:bodyPr/>
          <a:lstStyle/>
          <a:p>
            <a:r>
              <a:rPr lang="en-US" dirty="0"/>
              <a:t>Prompt:</a:t>
            </a:r>
          </a:p>
          <a:p>
            <a:r>
              <a:rPr lang="en-US" dirty="0"/>
              <a:t>"Create a professional email requesting leave.“</a:t>
            </a:r>
          </a:p>
          <a:p>
            <a:endParaRPr lang="en-US" dirty="0"/>
          </a:p>
          <a:p>
            <a:endParaRPr lang="en-US" dirty="0"/>
          </a:p>
          <a:p>
            <a:r>
              <a:rPr lang="en-US" dirty="0"/>
              <a:t>Change the prompt:</a:t>
            </a:r>
          </a:p>
          <a:p>
            <a:r>
              <a:rPr lang="en-US" dirty="0"/>
              <a:t>"Make it formal."</a:t>
            </a:r>
          </a:p>
          <a:p>
            <a:endParaRPr lang="en-IN" dirty="0"/>
          </a:p>
        </p:txBody>
      </p:sp>
    </p:spTree>
    <p:extLst>
      <p:ext uri="{BB962C8B-B14F-4D97-AF65-F5344CB8AC3E}">
        <p14:creationId xmlns:p14="http://schemas.microsoft.com/office/powerpoint/2010/main" val="5115689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420C9-0C0C-86EB-55C5-475706539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AE2084-8AA7-A0C9-0991-7520E96D119C}"/>
              </a:ext>
            </a:extLst>
          </p:cNvPr>
          <p:cNvSpPr>
            <a:spLocks noGrp="1"/>
          </p:cNvSpPr>
          <p:nvPr>
            <p:ph type="title"/>
          </p:nvPr>
        </p:nvSpPr>
        <p:spPr/>
        <p:txBody>
          <a:bodyPr/>
          <a:lstStyle/>
          <a:p>
            <a:pPr algn="ctr"/>
            <a:r>
              <a:rPr lang="en-IN" dirty="0"/>
              <a:t>Stage 5: Agentic AI</a:t>
            </a:r>
          </a:p>
        </p:txBody>
      </p:sp>
      <p:sp>
        <p:nvSpPr>
          <p:cNvPr id="3" name="Content Placeholder 2">
            <a:extLst>
              <a:ext uri="{FF2B5EF4-FFF2-40B4-BE49-F238E27FC236}">
                <a16:creationId xmlns:a16="http://schemas.microsoft.com/office/drawing/2014/main" id="{89736EBE-6067-B23A-AFCE-3D7C285C2047}"/>
              </a:ext>
            </a:extLst>
          </p:cNvPr>
          <p:cNvSpPr>
            <a:spLocks noGrp="1"/>
          </p:cNvSpPr>
          <p:nvPr>
            <p:ph idx="1"/>
          </p:nvPr>
        </p:nvSpPr>
        <p:spPr/>
        <p:txBody>
          <a:bodyPr>
            <a:normAutofit fontScale="92500" lnSpcReduction="20000"/>
          </a:bodyPr>
          <a:lstStyle/>
          <a:p>
            <a:r>
              <a:rPr lang="en-US" b="1" dirty="0"/>
              <a:t>AI That Acts</a:t>
            </a:r>
          </a:p>
          <a:p>
            <a:r>
              <a:rPr lang="en-US" dirty="0"/>
              <a:t>Agentic AI moves beyond generating answers.</a:t>
            </a:r>
          </a:p>
          <a:p>
            <a:pPr marL="0" indent="0">
              <a:buNone/>
            </a:pPr>
            <a:endParaRPr lang="en-US" dirty="0"/>
          </a:p>
          <a:p>
            <a:pPr marL="0" indent="0">
              <a:buNone/>
            </a:pPr>
            <a:r>
              <a:rPr lang="en-US" dirty="0"/>
              <a:t>It can:</a:t>
            </a:r>
          </a:p>
          <a:p>
            <a:r>
              <a:rPr lang="en-US" dirty="0"/>
              <a:t>Plan </a:t>
            </a:r>
          </a:p>
          <a:p>
            <a:r>
              <a:rPr lang="en-US" dirty="0"/>
              <a:t>Reason </a:t>
            </a:r>
          </a:p>
          <a:p>
            <a:r>
              <a:rPr lang="en-US" dirty="0"/>
              <a:t>Use tools </a:t>
            </a:r>
          </a:p>
          <a:p>
            <a:r>
              <a:rPr lang="en-US" dirty="0"/>
              <a:t>Make decisions </a:t>
            </a:r>
          </a:p>
          <a:p>
            <a:r>
              <a:rPr lang="en-US" dirty="0"/>
              <a:t>Complete multi-step tasks </a:t>
            </a:r>
          </a:p>
          <a:p>
            <a:r>
              <a:rPr lang="en-US" dirty="0"/>
              <a:t>Monitor progress</a:t>
            </a:r>
          </a:p>
          <a:p>
            <a:endParaRPr lang="en-IN" dirty="0"/>
          </a:p>
        </p:txBody>
      </p:sp>
    </p:spTree>
    <p:extLst>
      <p:ext uri="{BB962C8B-B14F-4D97-AF65-F5344CB8AC3E}">
        <p14:creationId xmlns:p14="http://schemas.microsoft.com/office/powerpoint/2010/main" val="26294214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ABF7B-7CB0-D4AD-1694-426B51CA00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A827E-B2C0-9238-3957-FB8C1AD0732E}"/>
              </a:ext>
            </a:extLst>
          </p:cNvPr>
          <p:cNvSpPr>
            <a:spLocks noGrp="1"/>
          </p:cNvSpPr>
          <p:nvPr>
            <p:ph type="title"/>
          </p:nvPr>
        </p:nvSpPr>
        <p:spPr/>
        <p:txBody>
          <a:bodyPr/>
          <a:lstStyle/>
          <a:p>
            <a:pPr algn="ctr"/>
            <a:r>
              <a:rPr lang="en-IN" dirty="0"/>
              <a:t>Stage 5: Agentic AI</a:t>
            </a:r>
          </a:p>
        </p:txBody>
      </p:sp>
      <p:sp>
        <p:nvSpPr>
          <p:cNvPr id="3" name="Content Placeholder 2">
            <a:extLst>
              <a:ext uri="{FF2B5EF4-FFF2-40B4-BE49-F238E27FC236}">
                <a16:creationId xmlns:a16="http://schemas.microsoft.com/office/drawing/2014/main" id="{9323FD51-D23B-BCE5-A69F-548238ECF1DB}"/>
              </a:ext>
            </a:extLst>
          </p:cNvPr>
          <p:cNvSpPr>
            <a:spLocks noGrp="1"/>
          </p:cNvSpPr>
          <p:nvPr>
            <p:ph idx="1"/>
          </p:nvPr>
        </p:nvSpPr>
        <p:spPr/>
        <p:txBody>
          <a:bodyPr/>
          <a:lstStyle/>
          <a:p>
            <a:r>
              <a:rPr lang="en-US" dirty="0"/>
              <a:t>Organize next week's customer meeting."</a:t>
            </a:r>
          </a:p>
          <a:p>
            <a:r>
              <a:rPr lang="en-US" dirty="0"/>
              <a:t>The AI agent can:</a:t>
            </a:r>
          </a:p>
          <a:p>
            <a:r>
              <a:rPr lang="en-US" dirty="0"/>
              <a:t>Read emails </a:t>
            </a:r>
          </a:p>
          <a:p>
            <a:r>
              <a:rPr lang="en-US" dirty="0"/>
              <a:t>Find available meeting slots </a:t>
            </a:r>
          </a:p>
          <a:p>
            <a:r>
              <a:rPr lang="en-US" dirty="0"/>
              <a:t>Create an agenda </a:t>
            </a:r>
          </a:p>
          <a:p>
            <a:r>
              <a:rPr lang="en-US" dirty="0"/>
              <a:t>Generate presentation slides </a:t>
            </a:r>
          </a:p>
          <a:p>
            <a:r>
              <a:rPr lang="en-US" dirty="0"/>
              <a:t>Send calendar invitations</a:t>
            </a:r>
          </a:p>
          <a:p>
            <a:endParaRPr lang="en-IN" dirty="0"/>
          </a:p>
        </p:txBody>
      </p:sp>
    </p:spTree>
    <p:extLst>
      <p:ext uri="{BB962C8B-B14F-4D97-AF65-F5344CB8AC3E}">
        <p14:creationId xmlns:p14="http://schemas.microsoft.com/office/powerpoint/2010/main" val="36182113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4DBCF-85B0-E13D-07C7-6A04B3D958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331284-5789-F8CF-C72D-08ABE85941E8}"/>
              </a:ext>
            </a:extLst>
          </p:cNvPr>
          <p:cNvSpPr>
            <a:spLocks noGrp="1"/>
          </p:cNvSpPr>
          <p:nvPr>
            <p:ph type="title"/>
          </p:nvPr>
        </p:nvSpPr>
        <p:spPr/>
        <p:txBody>
          <a:bodyPr/>
          <a:lstStyle/>
          <a:p>
            <a:pPr algn="ctr"/>
            <a:r>
              <a:rPr lang="en-IN" b="1" dirty="0"/>
              <a:t>Hands-On Demonstration</a:t>
            </a:r>
          </a:p>
        </p:txBody>
      </p:sp>
      <p:sp>
        <p:nvSpPr>
          <p:cNvPr id="3" name="Content Placeholder 2">
            <a:extLst>
              <a:ext uri="{FF2B5EF4-FFF2-40B4-BE49-F238E27FC236}">
                <a16:creationId xmlns:a16="http://schemas.microsoft.com/office/drawing/2014/main" id="{52FCD857-DB5B-0A66-ED4F-C17BB85E1731}"/>
              </a:ext>
            </a:extLst>
          </p:cNvPr>
          <p:cNvSpPr>
            <a:spLocks noGrp="1"/>
          </p:cNvSpPr>
          <p:nvPr>
            <p:ph idx="1"/>
          </p:nvPr>
        </p:nvSpPr>
        <p:spPr/>
        <p:txBody>
          <a:bodyPr>
            <a:normAutofit lnSpcReduction="10000"/>
          </a:bodyPr>
          <a:lstStyle/>
          <a:p>
            <a:r>
              <a:rPr lang="en-US" b="1" dirty="0"/>
              <a:t>Challenge: Observe the Evolution in Action</a:t>
            </a:r>
          </a:p>
          <a:p>
            <a:r>
              <a:rPr lang="en-US" dirty="0"/>
              <a:t>Use the same business scenario across different AI stages:</a:t>
            </a:r>
          </a:p>
          <a:p>
            <a:r>
              <a:rPr lang="en-US" b="1" dirty="0"/>
              <a:t>Scenario:</a:t>
            </a:r>
            <a:r>
              <a:rPr lang="en-US" dirty="0"/>
              <a:t> "A customer complains about a delayed product."</a:t>
            </a:r>
          </a:p>
          <a:p>
            <a:r>
              <a:rPr lang="en-US" b="1" dirty="0"/>
              <a:t>Rule-Based AI:</a:t>
            </a:r>
            <a:r>
              <a:rPr lang="en-US" dirty="0"/>
              <a:t> Sends a predefined apology message. </a:t>
            </a:r>
          </a:p>
          <a:p>
            <a:r>
              <a:rPr lang="en-US" b="1" dirty="0"/>
              <a:t>Machine Learning:</a:t>
            </a:r>
            <a:r>
              <a:rPr lang="en-US" dirty="0"/>
              <a:t> Predicts whether the customer is likely to churn. </a:t>
            </a:r>
          </a:p>
          <a:p>
            <a:r>
              <a:rPr lang="en-US" b="1" dirty="0"/>
              <a:t>Deep Learning:</a:t>
            </a:r>
            <a:r>
              <a:rPr lang="en-US" dirty="0"/>
              <a:t> Analyzes the sentiment of the complaint. </a:t>
            </a:r>
          </a:p>
          <a:p>
            <a:r>
              <a:rPr lang="en-US" b="1" dirty="0"/>
              <a:t>Generative AI:</a:t>
            </a:r>
            <a:r>
              <a:rPr lang="en-US" dirty="0"/>
              <a:t> Drafts a personalized response email. </a:t>
            </a:r>
          </a:p>
          <a:p>
            <a:r>
              <a:rPr lang="en-US" b="1" dirty="0"/>
              <a:t>Agentic AI:</a:t>
            </a:r>
            <a:r>
              <a:rPr lang="en-US" dirty="0"/>
              <a:t> Drafts the email, checks order status, initiates a refund if eligible, updates the CRM, and schedules a follow-up task.</a:t>
            </a:r>
          </a:p>
          <a:p>
            <a:endParaRPr lang="en-IN" dirty="0"/>
          </a:p>
        </p:txBody>
      </p:sp>
    </p:spTree>
    <p:extLst>
      <p:ext uri="{BB962C8B-B14F-4D97-AF65-F5344CB8AC3E}">
        <p14:creationId xmlns:p14="http://schemas.microsoft.com/office/powerpoint/2010/main" val="5316602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7031E-59CA-8890-41DB-68BB91833D3F}"/>
              </a:ext>
            </a:extLst>
          </p:cNvPr>
          <p:cNvSpPr>
            <a:spLocks noGrp="1"/>
          </p:cNvSpPr>
          <p:nvPr>
            <p:ph type="title"/>
          </p:nvPr>
        </p:nvSpPr>
        <p:spPr>
          <a:xfrm>
            <a:off x="838200" y="2420983"/>
            <a:ext cx="10515600" cy="1410788"/>
          </a:xfrm>
        </p:spPr>
        <p:txBody>
          <a:bodyPr>
            <a:noAutofit/>
          </a:bodyPr>
          <a:lstStyle/>
          <a:p>
            <a:pPr algn="ctr"/>
            <a:br>
              <a:rPr lang="en-IN" sz="5400" b="1" dirty="0"/>
            </a:br>
            <a:r>
              <a:rPr lang="en-IN" sz="5400" b="1" dirty="0"/>
              <a:t>What is Data?</a:t>
            </a:r>
            <a:br>
              <a:rPr lang="en-IN" sz="5400" b="1" dirty="0"/>
            </a:br>
            <a:br>
              <a:rPr lang="en-IN" sz="5400" b="1" dirty="0"/>
            </a:br>
            <a:endParaRPr lang="en-IN" sz="5400" b="1" dirty="0"/>
          </a:p>
        </p:txBody>
      </p:sp>
    </p:spTree>
    <p:extLst>
      <p:ext uri="{BB962C8B-B14F-4D97-AF65-F5344CB8AC3E}">
        <p14:creationId xmlns:p14="http://schemas.microsoft.com/office/powerpoint/2010/main" val="15973874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E2CD9-E7B9-74A8-4EB9-41A035787E95}"/>
              </a:ext>
            </a:extLst>
          </p:cNvPr>
          <p:cNvSpPr>
            <a:spLocks noGrp="1"/>
          </p:cNvSpPr>
          <p:nvPr>
            <p:ph type="title"/>
          </p:nvPr>
        </p:nvSpPr>
        <p:spPr/>
        <p:txBody>
          <a:bodyPr/>
          <a:lstStyle/>
          <a:p>
            <a:r>
              <a:rPr lang="en-IN" dirty="0"/>
              <a:t>What is DATA?</a:t>
            </a:r>
          </a:p>
        </p:txBody>
      </p:sp>
      <p:sp>
        <p:nvSpPr>
          <p:cNvPr id="3" name="Content Placeholder 2">
            <a:extLst>
              <a:ext uri="{FF2B5EF4-FFF2-40B4-BE49-F238E27FC236}">
                <a16:creationId xmlns:a16="http://schemas.microsoft.com/office/drawing/2014/main" id="{9C396D48-BF1F-ECAE-04D8-B9DC67BBCC1B}"/>
              </a:ext>
            </a:extLst>
          </p:cNvPr>
          <p:cNvSpPr>
            <a:spLocks noGrp="1"/>
          </p:cNvSpPr>
          <p:nvPr>
            <p:ph idx="1"/>
          </p:nvPr>
        </p:nvSpPr>
        <p:spPr>
          <a:xfrm>
            <a:off x="1262270" y="1630017"/>
            <a:ext cx="10242342" cy="4281205"/>
          </a:xfrm>
        </p:spPr>
        <p:txBody>
          <a:bodyPr>
            <a:normAutofit/>
          </a:bodyPr>
          <a:lstStyle/>
          <a:p>
            <a:pPr>
              <a:lnSpc>
                <a:spcPct val="150000"/>
              </a:lnSpc>
            </a:pPr>
            <a:r>
              <a:rPr lang="en-US" sz="2400" dirty="0"/>
              <a:t>Data is a collection of facts, figures, observations, or measurements that can be analyzed to gain insights. </a:t>
            </a:r>
          </a:p>
          <a:p>
            <a:pPr>
              <a:lnSpc>
                <a:spcPct val="150000"/>
              </a:lnSpc>
            </a:pPr>
            <a:r>
              <a:rPr lang="en-US" sz="2400" dirty="0"/>
              <a:t>It can be </a:t>
            </a:r>
            <a:r>
              <a:rPr lang="en-US" sz="2400" b="1" dirty="0"/>
              <a:t>structured</a:t>
            </a:r>
            <a:r>
              <a:rPr lang="en-US" sz="2400" dirty="0"/>
              <a:t> (like tables in a database) or </a:t>
            </a:r>
            <a:r>
              <a:rPr lang="en-US" sz="2400" b="1" dirty="0"/>
              <a:t>unstructured</a:t>
            </a:r>
            <a:r>
              <a:rPr lang="en-US" sz="2400" dirty="0"/>
              <a:t> (like text, images, or videos). </a:t>
            </a:r>
          </a:p>
          <a:p>
            <a:pPr>
              <a:lnSpc>
                <a:spcPct val="150000"/>
              </a:lnSpc>
            </a:pPr>
            <a:r>
              <a:rPr lang="en-US" sz="2400" dirty="0"/>
              <a:t>Data is crucial for decision-making in businesses, research, and technology.</a:t>
            </a:r>
            <a:endParaRPr lang="en-IN" sz="2400" dirty="0"/>
          </a:p>
        </p:txBody>
      </p:sp>
    </p:spTree>
    <p:extLst>
      <p:ext uri="{BB962C8B-B14F-4D97-AF65-F5344CB8AC3E}">
        <p14:creationId xmlns:p14="http://schemas.microsoft.com/office/powerpoint/2010/main" val="37037629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1AD59A5-BF47-136D-1090-6A84AEE10C1D}"/>
              </a:ext>
            </a:extLst>
          </p:cNvPr>
          <p:cNvPicPr>
            <a:picLocks noGrp="1" noChangeAspect="1"/>
          </p:cNvPicPr>
          <p:nvPr>
            <p:ph idx="1"/>
          </p:nvPr>
        </p:nvPicPr>
        <p:blipFill>
          <a:blip r:embed="rId2"/>
          <a:stretch>
            <a:fillRect/>
          </a:stretch>
        </p:blipFill>
        <p:spPr>
          <a:xfrm>
            <a:off x="566529" y="241637"/>
            <a:ext cx="6098031" cy="4071944"/>
          </a:xfrm>
        </p:spPr>
      </p:pic>
      <p:pic>
        <p:nvPicPr>
          <p:cNvPr id="4" name="Picture 3">
            <a:extLst>
              <a:ext uri="{FF2B5EF4-FFF2-40B4-BE49-F238E27FC236}">
                <a16:creationId xmlns:a16="http://schemas.microsoft.com/office/drawing/2014/main" id="{C0FF0A57-1CB0-F774-FC9E-AA9352AA3FA1}"/>
              </a:ext>
            </a:extLst>
          </p:cNvPr>
          <p:cNvPicPr>
            <a:picLocks noChangeAspect="1"/>
          </p:cNvPicPr>
          <p:nvPr/>
        </p:nvPicPr>
        <p:blipFill>
          <a:blip r:embed="rId3"/>
          <a:stretch>
            <a:fillRect/>
          </a:stretch>
        </p:blipFill>
        <p:spPr>
          <a:xfrm>
            <a:off x="4632365" y="4458866"/>
            <a:ext cx="6721435" cy="2157497"/>
          </a:xfrm>
          <a:prstGeom prst="rect">
            <a:avLst/>
          </a:prstGeom>
        </p:spPr>
      </p:pic>
    </p:spTree>
    <p:extLst>
      <p:ext uri="{BB962C8B-B14F-4D97-AF65-F5344CB8AC3E}">
        <p14:creationId xmlns:p14="http://schemas.microsoft.com/office/powerpoint/2010/main" val="26710502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1734A-66AF-9062-5F67-8B799B43A24A}"/>
              </a:ext>
            </a:extLst>
          </p:cNvPr>
          <p:cNvSpPr>
            <a:spLocks noGrp="1"/>
          </p:cNvSpPr>
          <p:nvPr>
            <p:ph type="title"/>
          </p:nvPr>
        </p:nvSpPr>
        <p:spPr>
          <a:xfrm>
            <a:off x="1073426" y="365126"/>
            <a:ext cx="7961244" cy="877265"/>
          </a:xfrm>
        </p:spPr>
        <p:txBody>
          <a:bodyPr/>
          <a:lstStyle/>
          <a:p>
            <a:endParaRPr lang="en-IN" dirty="0"/>
          </a:p>
        </p:txBody>
      </p:sp>
      <p:pic>
        <p:nvPicPr>
          <p:cNvPr id="5" name="Content Placeholder 4">
            <a:extLst>
              <a:ext uri="{FF2B5EF4-FFF2-40B4-BE49-F238E27FC236}">
                <a16:creationId xmlns:a16="http://schemas.microsoft.com/office/drawing/2014/main" id="{95C6A97E-6ADE-2792-1E91-5E6F32BDAC84}"/>
              </a:ext>
            </a:extLst>
          </p:cNvPr>
          <p:cNvPicPr>
            <a:picLocks noGrp="1" noChangeAspect="1"/>
          </p:cNvPicPr>
          <p:nvPr>
            <p:ph idx="1"/>
          </p:nvPr>
        </p:nvPicPr>
        <p:blipFill>
          <a:blip r:embed="rId2"/>
          <a:stretch>
            <a:fillRect/>
          </a:stretch>
        </p:blipFill>
        <p:spPr>
          <a:xfrm>
            <a:off x="516835" y="365126"/>
            <a:ext cx="5703875" cy="4009654"/>
          </a:xfrm>
        </p:spPr>
      </p:pic>
      <p:pic>
        <p:nvPicPr>
          <p:cNvPr id="7" name="Picture 6">
            <a:extLst>
              <a:ext uri="{FF2B5EF4-FFF2-40B4-BE49-F238E27FC236}">
                <a16:creationId xmlns:a16="http://schemas.microsoft.com/office/drawing/2014/main" id="{1BFBE9A3-F82E-CAF3-5DED-9119B8141FB1}"/>
              </a:ext>
            </a:extLst>
          </p:cNvPr>
          <p:cNvPicPr>
            <a:picLocks noChangeAspect="1"/>
          </p:cNvPicPr>
          <p:nvPr/>
        </p:nvPicPr>
        <p:blipFill>
          <a:blip r:embed="rId3"/>
          <a:stretch>
            <a:fillRect/>
          </a:stretch>
        </p:blipFill>
        <p:spPr>
          <a:xfrm>
            <a:off x="6530094" y="365126"/>
            <a:ext cx="5145071" cy="2855152"/>
          </a:xfrm>
          <a:prstGeom prst="rect">
            <a:avLst/>
          </a:prstGeom>
        </p:spPr>
      </p:pic>
      <p:pic>
        <p:nvPicPr>
          <p:cNvPr id="9" name="Picture 8">
            <a:extLst>
              <a:ext uri="{FF2B5EF4-FFF2-40B4-BE49-F238E27FC236}">
                <a16:creationId xmlns:a16="http://schemas.microsoft.com/office/drawing/2014/main" id="{CAB7D31B-578C-94BF-063F-154722C54CB8}"/>
              </a:ext>
            </a:extLst>
          </p:cNvPr>
          <p:cNvPicPr>
            <a:picLocks noChangeAspect="1"/>
          </p:cNvPicPr>
          <p:nvPr/>
        </p:nvPicPr>
        <p:blipFill>
          <a:blip r:embed="rId4"/>
          <a:stretch>
            <a:fillRect/>
          </a:stretch>
        </p:blipFill>
        <p:spPr>
          <a:xfrm>
            <a:off x="4442792" y="4318950"/>
            <a:ext cx="7404651" cy="2514538"/>
          </a:xfrm>
          <a:prstGeom prst="rect">
            <a:avLst/>
          </a:prstGeom>
        </p:spPr>
      </p:pic>
    </p:spTree>
    <p:extLst>
      <p:ext uri="{BB962C8B-B14F-4D97-AF65-F5344CB8AC3E}">
        <p14:creationId xmlns:p14="http://schemas.microsoft.com/office/powerpoint/2010/main" val="35841091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EC38C-1352-1C68-E094-F37327BE2E43}"/>
              </a:ext>
            </a:extLst>
          </p:cNvPr>
          <p:cNvSpPr>
            <a:spLocks noGrp="1"/>
          </p:cNvSpPr>
          <p:nvPr>
            <p:ph type="title"/>
          </p:nvPr>
        </p:nvSpPr>
        <p:spPr/>
        <p:txBody>
          <a:bodyPr/>
          <a:lstStyle/>
          <a:p>
            <a:pPr algn="ctr"/>
            <a:r>
              <a:rPr lang="en-IN" b="1" dirty="0"/>
              <a:t>Structured or Unstructured?</a:t>
            </a:r>
          </a:p>
        </p:txBody>
      </p:sp>
      <p:sp>
        <p:nvSpPr>
          <p:cNvPr id="3" name="Content Placeholder 2">
            <a:extLst>
              <a:ext uri="{FF2B5EF4-FFF2-40B4-BE49-F238E27FC236}">
                <a16:creationId xmlns:a16="http://schemas.microsoft.com/office/drawing/2014/main" id="{D8655862-6D50-4ED2-218E-68D98D057A22}"/>
              </a:ext>
            </a:extLst>
          </p:cNvPr>
          <p:cNvSpPr>
            <a:spLocks noGrp="1"/>
          </p:cNvSpPr>
          <p:nvPr>
            <p:ph idx="1"/>
          </p:nvPr>
        </p:nvSpPr>
        <p:spPr/>
        <p:txBody>
          <a:bodyPr>
            <a:normAutofit/>
          </a:bodyPr>
          <a:lstStyle/>
          <a:p>
            <a:pPr>
              <a:lnSpc>
                <a:spcPct val="150000"/>
              </a:lnSpc>
              <a:buFont typeface="+mj-lt"/>
              <a:buAutoNum type="arabicPeriod"/>
            </a:pPr>
            <a:r>
              <a:rPr lang="en-US" sz="2400" dirty="0"/>
              <a:t>Customer purchase history in a database</a:t>
            </a:r>
          </a:p>
          <a:p>
            <a:pPr>
              <a:lnSpc>
                <a:spcPct val="150000"/>
              </a:lnSpc>
              <a:buFont typeface="+mj-lt"/>
              <a:buAutoNum type="arabicPeriod"/>
            </a:pPr>
            <a:r>
              <a:rPr lang="en-US" sz="2400" dirty="0"/>
              <a:t>Video recordings of stock market news</a:t>
            </a:r>
          </a:p>
          <a:p>
            <a:pPr>
              <a:lnSpc>
                <a:spcPct val="150000"/>
              </a:lnSpc>
              <a:buFont typeface="+mj-lt"/>
              <a:buAutoNum type="arabicPeriod"/>
            </a:pPr>
            <a:r>
              <a:rPr lang="en-US" sz="2400" dirty="0"/>
              <a:t>Excel sheet with employee salary data</a:t>
            </a:r>
          </a:p>
          <a:p>
            <a:pPr>
              <a:lnSpc>
                <a:spcPct val="150000"/>
              </a:lnSpc>
              <a:buFont typeface="+mj-lt"/>
              <a:buAutoNum type="arabicPeriod"/>
            </a:pPr>
            <a:r>
              <a:rPr lang="en-US" sz="2400" dirty="0"/>
              <a:t>WhatsApp chat messages</a:t>
            </a:r>
          </a:p>
          <a:p>
            <a:pPr>
              <a:lnSpc>
                <a:spcPct val="150000"/>
              </a:lnSpc>
              <a:buFont typeface="+mj-lt"/>
              <a:buAutoNum type="arabicPeriod"/>
            </a:pPr>
            <a:r>
              <a:rPr lang="en-US" sz="2400" dirty="0"/>
              <a:t>Weather sensor readings</a:t>
            </a:r>
          </a:p>
          <a:p>
            <a:pPr>
              <a:lnSpc>
                <a:spcPct val="150000"/>
              </a:lnSpc>
            </a:pPr>
            <a:endParaRPr lang="en-IN" sz="2400" dirty="0"/>
          </a:p>
        </p:txBody>
      </p:sp>
    </p:spTree>
    <p:extLst>
      <p:ext uri="{BB962C8B-B14F-4D97-AF65-F5344CB8AC3E}">
        <p14:creationId xmlns:p14="http://schemas.microsoft.com/office/powerpoint/2010/main" val="19518008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8D849-65B7-B2A7-5FD9-4134A79E2573}"/>
              </a:ext>
            </a:extLst>
          </p:cNvPr>
          <p:cNvSpPr>
            <a:spLocks noGrp="1"/>
          </p:cNvSpPr>
          <p:nvPr>
            <p:ph type="title"/>
          </p:nvPr>
        </p:nvSpPr>
        <p:spPr/>
        <p:txBody>
          <a:bodyPr/>
          <a:lstStyle/>
          <a:p>
            <a:r>
              <a:rPr lang="en-US" b="1" dirty="0"/>
              <a:t>When to Use ML, CV, NLP, and DL?</a:t>
            </a:r>
            <a:br>
              <a:rPr lang="en-US" b="1" dirty="0"/>
            </a:br>
            <a:endParaRPr lang="en-IN" dirty="0"/>
          </a:p>
        </p:txBody>
      </p:sp>
      <p:sp>
        <p:nvSpPr>
          <p:cNvPr id="3" name="Content Placeholder 2">
            <a:extLst>
              <a:ext uri="{FF2B5EF4-FFF2-40B4-BE49-F238E27FC236}">
                <a16:creationId xmlns:a16="http://schemas.microsoft.com/office/drawing/2014/main" id="{43A379C6-D8D9-180A-9E15-441D6152535F}"/>
              </a:ext>
            </a:extLst>
          </p:cNvPr>
          <p:cNvSpPr>
            <a:spLocks noGrp="1"/>
          </p:cNvSpPr>
          <p:nvPr>
            <p:ph idx="1"/>
          </p:nvPr>
        </p:nvSpPr>
        <p:spPr/>
        <p:txBody>
          <a:bodyPr>
            <a:normAutofit/>
          </a:bodyPr>
          <a:lstStyle/>
          <a:p>
            <a:pPr>
              <a:lnSpc>
                <a:spcPct val="200000"/>
              </a:lnSpc>
            </a:pPr>
            <a:r>
              <a:rPr lang="en-US" sz="2400" dirty="0"/>
              <a:t>Each technique—</a:t>
            </a:r>
            <a:r>
              <a:rPr lang="en-US" sz="2400" b="1" dirty="0"/>
              <a:t>Machine Learning (ML), Computer Vision (CV), Natural Language Processing (NLP), and Deep Learning (DL)</a:t>
            </a:r>
            <a:r>
              <a:rPr lang="en-US" sz="2400" dirty="0"/>
              <a:t>—is used based on the type of data and the problem being solved.</a:t>
            </a:r>
          </a:p>
          <a:p>
            <a:pPr>
              <a:lnSpc>
                <a:spcPct val="200000"/>
              </a:lnSpc>
            </a:pPr>
            <a:endParaRPr lang="en-IN" sz="2400" dirty="0"/>
          </a:p>
        </p:txBody>
      </p:sp>
    </p:spTree>
    <p:extLst>
      <p:ext uri="{BB962C8B-B14F-4D97-AF65-F5344CB8AC3E}">
        <p14:creationId xmlns:p14="http://schemas.microsoft.com/office/powerpoint/2010/main" val="42415245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AF338-AD35-2C36-6E98-D344853AB410}"/>
              </a:ext>
            </a:extLst>
          </p:cNvPr>
          <p:cNvSpPr>
            <a:spLocks noGrp="1"/>
          </p:cNvSpPr>
          <p:nvPr>
            <p:ph type="title"/>
          </p:nvPr>
        </p:nvSpPr>
        <p:spPr/>
        <p:txBody>
          <a:bodyPr/>
          <a:lstStyle/>
          <a:p>
            <a:r>
              <a:rPr lang="en-US" b="1" dirty="0"/>
              <a:t>Machine Learning (ML)</a:t>
            </a:r>
            <a:br>
              <a:rPr lang="en-US" b="1" dirty="0"/>
            </a:br>
            <a:endParaRPr lang="en-IN" dirty="0"/>
          </a:p>
        </p:txBody>
      </p:sp>
      <p:sp>
        <p:nvSpPr>
          <p:cNvPr id="3" name="Content Placeholder 2">
            <a:extLst>
              <a:ext uri="{FF2B5EF4-FFF2-40B4-BE49-F238E27FC236}">
                <a16:creationId xmlns:a16="http://schemas.microsoft.com/office/drawing/2014/main" id="{0F2E8F10-1EFD-DDB3-FA84-8A27804C0CC5}"/>
              </a:ext>
            </a:extLst>
          </p:cNvPr>
          <p:cNvSpPr>
            <a:spLocks noGrp="1"/>
          </p:cNvSpPr>
          <p:nvPr>
            <p:ph idx="1"/>
          </p:nvPr>
        </p:nvSpPr>
        <p:spPr>
          <a:xfrm>
            <a:off x="687977" y="1245326"/>
            <a:ext cx="10665823" cy="4931637"/>
          </a:xfrm>
        </p:spPr>
        <p:txBody>
          <a:bodyPr>
            <a:normAutofit/>
          </a:bodyPr>
          <a:lstStyle/>
          <a:p>
            <a:pPr>
              <a:buNone/>
            </a:pPr>
            <a:r>
              <a:rPr lang="en-US" sz="2400" dirty="0"/>
              <a:t> </a:t>
            </a:r>
            <a:r>
              <a:rPr lang="en-US" sz="2400" b="1" dirty="0"/>
              <a:t>Use ML when</a:t>
            </a:r>
            <a:r>
              <a:rPr lang="en-US" sz="2400" dirty="0"/>
              <a:t>:</a:t>
            </a:r>
          </a:p>
          <a:p>
            <a:pPr>
              <a:buFont typeface="Arial" panose="020B0604020202020204" pitchFamily="34" charset="0"/>
              <a:buChar char="•"/>
            </a:pPr>
            <a:r>
              <a:rPr lang="en-US" sz="2400" dirty="0"/>
              <a:t>You have </a:t>
            </a:r>
            <a:r>
              <a:rPr lang="en-US" sz="2400" b="1" dirty="0"/>
              <a:t>structured/tabular data</a:t>
            </a:r>
            <a:r>
              <a:rPr lang="en-US" sz="2400" dirty="0"/>
              <a:t> (e.g., sales records, customer transactions).</a:t>
            </a:r>
          </a:p>
          <a:p>
            <a:pPr>
              <a:buFont typeface="Arial" panose="020B0604020202020204" pitchFamily="34" charset="0"/>
              <a:buChar char="•"/>
            </a:pPr>
            <a:r>
              <a:rPr lang="en-US" sz="2400" dirty="0"/>
              <a:t>You need to make </a:t>
            </a:r>
            <a:r>
              <a:rPr lang="en-US" sz="2400" b="1" dirty="0"/>
              <a:t>predictions, classifications, or clustering</a:t>
            </a:r>
            <a:r>
              <a:rPr lang="en-US" sz="2400" dirty="0"/>
              <a:t>.</a:t>
            </a:r>
          </a:p>
          <a:p>
            <a:pPr>
              <a:buNone/>
            </a:pPr>
            <a:r>
              <a:rPr lang="en-US" sz="2400" dirty="0"/>
              <a:t> </a:t>
            </a:r>
            <a:r>
              <a:rPr lang="en-US" sz="2400" b="1" dirty="0"/>
              <a:t>Examples:</a:t>
            </a:r>
            <a:endParaRPr lang="en-US" sz="2400" dirty="0"/>
          </a:p>
          <a:p>
            <a:pPr>
              <a:buFont typeface="Arial" panose="020B0604020202020204" pitchFamily="34" charset="0"/>
              <a:buChar char="•"/>
            </a:pPr>
            <a:r>
              <a:rPr lang="en-US" sz="2400" dirty="0"/>
              <a:t>Predicting loan approvals (Classification)</a:t>
            </a:r>
          </a:p>
          <a:p>
            <a:pPr>
              <a:buFont typeface="Arial" panose="020B0604020202020204" pitchFamily="34" charset="0"/>
              <a:buChar char="•"/>
            </a:pPr>
            <a:r>
              <a:rPr lang="en-US" sz="2400" dirty="0"/>
              <a:t>Customer churn prediction</a:t>
            </a:r>
          </a:p>
          <a:p>
            <a:pPr>
              <a:buFont typeface="Arial" panose="020B0604020202020204" pitchFamily="34" charset="0"/>
              <a:buChar char="•"/>
            </a:pPr>
            <a:r>
              <a:rPr lang="en-US" sz="2400" dirty="0"/>
              <a:t>Fraud detection in banking</a:t>
            </a:r>
          </a:p>
          <a:p>
            <a:pPr>
              <a:buFont typeface="Arial" panose="020B0604020202020204" pitchFamily="34" charset="0"/>
              <a:buChar char="•"/>
            </a:pPr>
            <a:r>
              <a:rPr lang="en-US" sz="2400" dirty="0"/>
              <a:t>Recommender systems (Netflix, Amazon)</a:t>
            </a:r>
          </a:p>
          <a:p>
            <a:endParaRPr lang="en-IN" sz="2400" dirty="0"/>
          </a:p>
        </p:txBody>
      </p:sp>
    </p:spTree>
    <p:extLst>
      <p:ext uri="{BB962C8B-B14F-4D97-AF65-F5344CB8AC3E}">
        <p14:creationId xmlns:p14="http://schemas.microsoft.com/office/powerpoint/2010/main" val="39054901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652D7-71DC-07CE-79E2-CE6A421AF2CA}"/>
              </a:ext>
            </a:extLst>
          </p:cNvPr>
          <p:cNvSpPr>
            <a:spLocks noGrp="1"/>
          </p:cNvSpPr>
          <p:nvPr>
            <p:ph type="title"/>
          </p:nvPr>
        </p:nvSpPr>
        <p:spPr/>
        <p:txBody>
          <a:bodyPr/>
          <a:lstStyle/>
          <a:p>
            <a:r>
              <a:rPr lang="en-IN" b="1" dirty="0"/>
              <a:t>Computer Vision (CV)</a:t>
            </a:r>
          </a:p>
        </p:txBody>
      </p:sp>
      <p:sp>
        <p:nvSpPr>
          <p:cNvPr id="3" name="Content Placeholder 2">
            <a:extLst>
              <a:ext uri="{FF2B5EF4-FFF2-40B4-BE49-F238E27FC236}">
                <a16:creationId xmlns:a16="http://schemas.microsoft.com/office/drawing/2014/main" id="{0C0DDEE0-125F-669D-A911-41E82D3A9095}"/>
              </a:ext>
            </a:extLst>
          </p:cNvPr>
          <p:cNvSpPr>
            <a:spLocks noGrp="1"/>
          </p:cNvSpPr>
          <p:nvPr>
            <p:ph idx="1"/>
          </p:nvPr>
        </p:nvSpPr>
        <p:spPr>
          <a:xfrm>
            <a:off x="1401417" y="1480930"/>
            <a:ext cx="10103195" cy="4430292"/>
          </a:xfrm>
        </p:spPr>
        <p:txBody>
          <a:bodyPr>
            <a:noAutofit/>
          </a:bodyPr>
          <a:lstStyle/>
          <a:p>
            <a:pPr>
              <a:buNone/>
            </a:pPr>
            <a:r>
              <a:rPr lang="en-US" sz="2400" b="1" dirty="0"/>
              <a:t>Use CV when</a:t>
            </a:r>
            <a:r>
              <a:rPr lang="en-US" sz="2400" dirty="0"/>
              <a:t>:</a:t>
            </a:r>
          </a:p>
          <a:p>
            <a:pPr>
              <a:buFont typeface="Arial" panose="020B0604020202020204" pitchFamily="34" charset="0"/>
              <a:buChar char="•"/>
            </a:pPr>
            <a:r>
              <a:rPr lang="en-US" sz="2400" dirty="0"/>
              <a:t>You are working with </a:t>
            </a:r>
            <a:r>
              <a:rPr lang="en-US" sz="2400" b="1" dirty="0"/>
              <a:t>images or videos</a:t>
            </a:r>
            <a:r>
              <a:rPr lang="en-US" sz="2400" dirty="0"/>
              <a:t>.</a:t>
            </a:r>
          </a:p>
          <a:p>
            <a:pPr>
              <a:buFont typeface="Arial" panose="020B0604020202020204" pitchFamily="34" charset="0"/>
              <a:buChar char="•"/>
            </a:pPr>
            <a:r>
              <a:rPr lang="en-US" sz="2400" dirty="0"/>
              <a:t>You need to analyze, classify, or generate images.</a:t>
            </a:r>
          </a:p>
          <a:p>
            <a:pPr>
              <a:buNone/>
            </a:pPr>
            <a:r>
              <a:rPr lang="en-US" sz="2400" b="1" dirty="0"/>
              <a:t>Examples:</a:t>
            </a:r>
            <a:endParaRPr lang="en-US" sz="2400" dirty="0"/>
          </a:p>
          <a:p>
            <a:pPr>
              <a:buFont typeface="Arial" panose="020B0604020202020204" pitchFamily="34" charset="0"/>
              <a:buChar char="•"/>
            </a:pPr>
            <a:r>
              <a:rPr lang="en-US" sz="2400" dirty="0"/>
              <a:t>Face recognition in security systems</a:t>
            </a:r>
          </a:p>
          <a:p>
            <a:pPr>
              <a:buFont typeface="Arial" panose="020B0604020202020204" pitchFamily="34" charset="0"/>
              <a:buChar char="•"/>
            </a:pPr>
            <a:r>
              <a:rPr lang="en-US" sz="2400" dirty="0"/>
              <a:t>Object detection in self-driving cars</a:t>
            </a:r>
          </a:p>
          <a:p>
            <a:pPr>
              <a:buFont typeface="Arial" panose="020B0604020202020204" pitchFamily="34" charset="0"/>
              <a:buChar char="•"/>
            </a:pPr>
            <a:r>
              <a:rPr lang="en-US" sz="2400" dirty="0"/>
              <a:t>Medical image analysis (e.g., detecting tumors in MRI scans)</a:t>
            </a:r>
          </a:p>
          <a:p>
            <a:pPr>
              <a:buFont typeface="Arial" panose="020B0604020202020204" pitchFamily="34" charset="0"/>
              <a:buChar char="•"/>
            </a:pPr>
            <a:r>
              <a:rPr lang="en-US" sz="2400" dirty="0"/>
              <a:t>Defect detection in manufacturing</a:t>
            </a:r>
          </a:p>
          <a:p>
            <a:endParaRPr lang="en-IN" sz="2400" dirty="0"/>
          </a:p>
        </p:txBody>
      </p:sp>
    </p:spTree>
    <p:extLst>
      <p:ext uri="{BB962C8B-B14F-4D97-AF65-F5344CB8AC3E}">
        <p14:creationId xmlns:p14="http://schemas.microsoft.com/office/powerpoint/2010/main" val="500395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875B0-0741-4838-D9EA-F0AEFEE8A5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10707-3C64-A103-783D-FA57A9125DBB}"/>
              </a:ext>
            </a:extLst>
          </p:cNvPr>
          <p:cNvSpPr>
            <a:spLocks noGrp="1"/>
          </p:cNvSpPr>
          <p:nvPr>
            <p:ph type="title"/>
          </p:nvPr>
        </p:nvSpPr>
        <p:spPr/>
        <p:txBody>
          <a:bodyPr/>
          <a:lstStyle/>
          <a:p>
            <a:r>
              <a:rPr lang="en-IN" b="1" dirty="0"/>
              <a:t>Natural Language Processing (NLP)</a:t>
            </a:r>
          </a:p>
        </p:txBody>
      </p:sp>
      <p:sp>
        <p:nvSpPr>
          <p:cNvPr id="3" name="Content Placeholder 2">
            <a:extLst>
              <a:ext uri="{FF2B5EF4-FFF2-40B4-BE49-F238E27FC236}">
                <a16:creationId xmlns:a16="http://schemas.microsoft.com/office/drawing/2014/main" id="{CB19B961-C966-0CF0-1A4C-95F4DB4CCE08}"/>
              </a:ext>
            </a:extLst>
          </p:cNvPr>
          <p:cNvSpPr>
            <a:spLocks noGrp="1"/>
          </p:cNvSpPr>
          <p:nvPr>
            <p:ph idx="1"/>
          </p:nvPr>
        </p:nvSpPr>
        <p:spPr>
          <a:xfrm>
            <a:off x="1431235" y="1540565"/>
            <a:ext cx="10073377" cy="4370657"/>
          </a:xfrm>
        </p:spPr>
        <p:txBody>
          <a:bodyPr>
            <a:noAutofit/>
          </a:bodyPr>
          <a:lstStyle/>
          <a:p>
            <a:pPr>
              <a:buNone/>
            </a:pPr>
            <a:r>
              <a:rPr lang="en-US" sz="2400" b="1" dirty="0"/>
              <a:t>Use NLP when</a:t>
            </a:r>
            <a:r>
              <a:rPr lang="en-US" sz="2400" dirty="0"/>
              <a:t>:</a:t>
            </a:r>
          </a:p>
          <a:p>
            <a:pPr>
              <a:buFont typeface="Arial" panose="020B0604020202020204" pitchFamily="34" charset="0"/>
              <a:buChar char="•"/>
            </a:pPr>
            <a:r>
              <a:rPr lang="en-US" sz="2400" dirty="0"/>
              <a:t>You are working with </a:t>
            </a:r>
            <a:r>
              <a:rPr lang="en-US" sz="2400" b="1" dirty="0"/>
              <a:t>text or speech data</a:t>
            </a:r>
            <a:r>
              <a:rPr lang="en-US" sz="2400" dirty="0"/>
              <a:t>.</a:t>
            </a:r>
          </a:p>
          <a:p>
            <a:pPr>
              <a:buFont typeface="Arial" panose="020B0604020202020204" pitchFamily="34" charset="0"/>
              <a:buChar char="•"/>
            </a:pPr>
            <a:r>
              <a:rPr lang="en-US" sz="2400" dirty="0"/>
              <a:t>You need to understand, generate, or translate language.</a:t>
            </a:r>
          </a:p>
          <a:p>
            <a:pPr>
              <a:buNone/>
            </a:pPr>
            <a:r>
              <a:rPr lang="en-US" sz="2400" b="1" dirty="0"/>
              <a:t>Examples:</a:t>
            </a:r>
            <a:endParaRPr lang="en-US" sz="2400" dirty="0"/>
          </a:p>
          <a:p>
            <a:pPr>
              <a:buFont typeface="Arial" panose="020B0604020202020204" pitchFamily="34" charset="0"/>
              <a:buChar char="•"/>
            </a:pPr>
            <a:r>
              <a:rPr lang="en-US" sz="2400" dirty="0"/>
              <a:t>Chatbots and virtual assistants (Siri, Alexa)</a:t>
            </a:r>
          </a:p>
          <a:p>
            <a:pPr>
              <a:buFont typeface="Arial" panose="020B0604020202020204" pitchFamily="34" charset="0"/>
              <a:buChar char="•"/>
            </a:pPr>
            <a:r>
              <a:rPr lang="en-US" sz="2400" dirty="0"/>
              <a:t>Sentiment analysis of customer reviews</a:t>
            </a:r>
          </a:p>
          <a:p>
            <a:pPr>
              <a:buFont typeface="Arial" panose="020B0604020202020204" pitchFamily="34" charset="0"/>
              <a:buChar char="•"/>
            </a:pPr>
            <a:r>
              <a:rPr lang="en-US" sz="2400" dirty="0"/>
              <a:t>Machine translation (e.g., Google Translate)</a:t>
            </a:r>
          </a:p>
          <a:p>
            <a:pPr>
              <a:buFont typeface="Arial" panose="020B0604020202020204" pitchFamily="34" charset="0"/>
              <a:buChar char="•"/>
            </a:pPr>
            <a:r>
              <a:rPr lang="en-US" sz="2400" dirty="0"/>
              <a:t>Email spam detection</a:t>
            </a:r>
          </a:p>
          <a:p>
            <a:endParaRPr lang="en-IN" sz="2400" dirty="0"/>
          </a:p>
        </p:txBody>
      </p:sp>
    </p:spTree>
    <p:extLst>
      <p:ext uri="{BB962C8B-B14F-4D97-AF65-F5344CB8AC3E}">
        <p14:creationId xmlns:p14="http://schemas.microsoft.com/office/powerpoint/2010/main" val="29352843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1217C-9856-DB67-0426-1732E173A6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CD40B-2B74-4FD0-9449-C9C3328D8054}"/>
              </a:ext>
            </a:extLst>
          </p:cNvPr>
          <p:cNvSpPr>
            <a:spLocks noGrp="1"/>
          </p:cNvSpPr>
          <p:nvPr>
            <p:ph type="title"/>
          </p:nvPr>
        </p:nvSpPr>
        <p:spPr/>
        <p:txBody>
          <a:bodyPr/>
          <a:lstStyle/>
          <a:p>
            <a:r>
              <a:rPr lang="en-IN" b="1" dirty="0"/>
              <a:t>Deep Learning (DL)</a:t>
            </a:r>
            <a:br>
              <a:rPr lang="en-IN" b="1" dirty="0"/>
            </a:br>
            <a:endParaRPr lang="en-IN" dirty="0"/>
          </a:p>
        </p:txBody>
      </p:sp>
      <p:sp>
        <p:nvSpPr>
          <p:cNvPr id="3" name="Content Placeholder 2">
            <a:extLst>
              <a:ext uri="{FF2B5EF4-FFF2-40B4-BE49-F238E27FC236}">
                <a16:creationId xmlns:a16="http://schemas.microsoft.com/office/drawing/2014/main" id="{0FCE8521-8416-B6D9-3A02-D18551F51AD6}"/>
              </a:ext>
            </a:extLst>
          </p:cNvPr>
          <p:cNvSpPr>
            <a:spLocks noGrp="1"/>
          </p:cNvSpPr>
          <p:nvPr>
            <p:ph idx="1"/>
          </p:nvPr>
        </p:nvSpPr>
        <p:spPr>
          <a:xfrm>
            <a:off x="914400" y="1192696"/>
            <a:ext cx="10590212" cy="4718526"/>
          </a:xfrm>
        </p:spPr>
        <p:txBody>
          <a:bodyPr>
            <a:noAutofit/>
          </a:bodyPr>
          <a:lstStyle/>
          <a:p>
            <a:pPr>
              <a:buNone/>
            </a:pPr>
            <a:r>
              <a:rPr lang="en-IN" sz="2400" b="1" dirty="0"/>
              <a:t>Use DL when</a:t>
            </a:r>
            <a:r>
              <a:rPr lang="en-IN" sz="2400" dirty="0"/>
              <a:t>:</a:t>
            </a:r>
          </a:p>
          <a:p>
            <a:pPr>
              <a:buFont typeface="Arial" panose="020B0604020202020204" pitchFamily="34" charset="0"/>
              <a:buChar char="•"/>
            </a:pPr>
            <a:r>
              <a:rPr lang="en-IN" sz="2400" dirty="0"/>
              <a:t>Your dataset is </a:t>
            </a:r>
            <a:r>
              <a:rPr lang="en-IN" sz="2400" b="1" dirty="0"/>
              <a:t>large and complex</a:t>
            </a:r>
            <a:r>
              <a:rPr lang="en-IN" sz="2400" dirty="0"/>
              <a:t> (images, speech, unstructured text).</a:t>
            </a:r>
          </a:p>
          <a:p>
            <a:pPr>
              <a:buFont typeface="Arial" panose="020B0604020202020204" pitchFamily="34" charset="0"/>
              <a:buChar char="•"/>
            </a:pPr>
            <a:r>
              <a:rPr lang="en-IN" sz="2400" dirty="0"/>
              <a:t>Traditional ML models do not perform well.</a:t>
            </a:r>
          </a:p>
          <a:p>
            <a:pPr>
              <a:buFont typeface="Arial" panose="020B0604020202020204" pitchFamily="34" charset="0"/>
              <a:buChar char="•"/>
            </a:pPr>
            <a:r>
              <a:rPr lang="en-IN" sz="2400" dirty="0"/>
              <a:t>You need high accuracy and have </a:t>
            </a:r>
            <a:r>
              <a:rPr lang="en-IN" sz="2400" b="1" dirty="0"/>
              <a:t>computational power (GPUs/TPUs)</a:t>
            </a:r>
            <a:r>
              <a:rPr lang="en-IN" sz="2400" dirty="0"/>
              <a:t>.</a:t>
            </a:r>
          </a:p>
          <a:p>
            <a:pPr>
              <a:buNone/>
            </a:pPr>
            <a:r>
              <a:rPr lang="en-IN" sz="2400" b="1" dirty="0"/>
              <a:t>Examples:</a:t>
            </a:r>
            <a:endParaRPr lang="en-IN" sz="2400" dirty="0"/>
          </a:p>
          <a:p>
            <a:pPr>
              <a:buFont typeface="Arial" panose="020B0604020202020204" pitchFamily="34" charset="0"/>
              <a:buChar char="•"/>
            </a:pPr>
            <a:r>
              <a:rPr lang="en-IN" sz="2400" dirty="0"/>
              <a:t>Autonomous driving (Self-driving cars)</a:t>
            </a:r>
          </a:p>
          <a:p>
            <a:pPr>
              <a:buFont typeface="Arial" panose="020B0604020202020204" pitchFamily="34" charset="0"/>
              <a:buChar char="•"/>
            </a:pPr>
            <a:r>
              <a:rPr lang="en-IN" sz="2400" dirty="0"/>
              <a:t>Image generation (Deepfake technology)</a:t>
            </a:r>
          </a:p>
          <a:p>
            <a:pPr>
              <a:buFont typeface="Arial" panose="020B0604020202020204" pitchFamily="34" charset="0"/>
              <a:buChar char="•"/>
            </a:pPr>
            <a:r>
              <a:rPr lang="en-IN" sz="2400" dirty="0"/>
              <a:t>Speech recognition (Google Assistant, Alexa)</a:t>
            </a:r>
          </a:p>
          <a:p>
            <a:pPr>
              <a:buFont typeface="Arial" panose="020B0604020202020204" pitchFamily="34" charset="0"/>
              <a:buChar char="•"/>
            </a:pPr>
            <a:r>
              <a:rPr lang="en-IN" sz="2400" dirty="0"/>
              <a:t>Large Language Models (ChatGPT, </a:t>
            </a:r>
            <a:r>
              <a:rPr lang="en-IN" sz="2400" dirty="0" err="1"/>
              <a:t>Gemini,COPILOT</a:t>
            </a:r>
            <a:r>
              <a:rPr lang="en-IN" sz="2400" dirty="0"/>
              <a:t>)</a:t>
            </a:r>
          </a:p>
          <a:p>
            <a:endParaRPr lang="en-IN" sz="2400" dirty="0"/>
          </a:p>
        </p:txBody>
      </p:sp>
    </p:spTree>
    <p:extLst>
      <p:ext uri="{BB962C8B-B14F-4D97-AF65-F5344CB8AC3E}">
        <p14:creationId xmlns:p14="http://schemas.microsoft.com/office/powerpoint/2010/main" val="40010357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6BC1E-2630-3EEB-BFD4-A63527EC582C}"/>
              </a:ext>
            </a:extLst>
          </p:cNvPr>
          <p:cNvSpPr>
            <a:spLocks noGrp="1"/>
          </p:cNvSpPr>
          <p:nvPr>
            <p:ph type="title"/>
          </p:nvPr>
        </p:nvSpPr>
        <p:spPr/>
        <p:txBody>
          <a:bodyPr/>
          <a:lstStyle/>
          <a:p>
            <a:pPr algn="ctr"/>
            <a:r>
              <a:rPr lang="en-IN" b="1" dirty="0"/>
              <a:t>Problem Statements</a:t>
            </a:r>
          </a:p>
        </p:txBody>
      </p:sp>
      <p:sp>
        <p:nvSpPr>
          <p:cNvPr id="3" name="Content Placeholder 2">
            <a:extLst>
              <a:ext uri="{FF2B5EF4-FFF2-40B4-BE49-F238E27FC236}">
                <a16:creationId xmlns:a16="http://schemas.microsoft.com/office/drawing/2014/main" id="{7DFEA0C2-77B2-FF72-C297-0A809E7E5B37}"/>
              </a:ext>
            </a:extLst>
          </p:cNvPr>
          <p:cNvSpPr>
            <a:spLocks noGrp="1"/>
          </p:cNvSpPr>
          <p:nvPr>
            <p:ph idx="1"/>
          </p:nvPr>
        </p:nvSpPr>
        <p:spPr>
          <a:xfrm>
            <a:off x="1620078" y="1699591"/>
            <a:ext cx="9884534" cy="4211631"/>
          </a:xfrm>
        </p:spPr>
        <p:txBody>
          <a:bodyPr>
            <a:noAutofit/>
          </a:bodyPr>
          <a:lstStyle/>
          <a:p>
            <a:pPr>
              <a:lnSpc>
                <a:spcPct val="150000"/>
              </a:lnSpc>
            </a:pPr>
            <a:r>
              <a:rPr lang="en-US" sz="2400" dirty="0"/>
              <a:t>A bank wants to predict whether a customer will default on a loan based on transaction history and demographics.</a:t>
            </a:r>
          </a:p>
          <a:p>
            <a:pPr>
              <a:lnSpc>
                <a:spcPct val="150000"/>
              </a:lnSpc>
            </a:pPr>
            <a:r>
              <a:rPr lang="en-US" sz="2400" dirty="0"/>
              <a:t>A company wants to classify customer support emails as complaints, inquiries, or feedback.</a:t>
            </a:r>
          </a:p>
          <a:p>
            <a:pPr>
              <a:lnSpc>
                <a:spcPct val="150000"/>
              </a:lnSpc>
            </a:pPr>
            <a:r>
              <a:rPr lang="en-US" sz="2400" dirty="0"/>
              <a:t>A factory needs an AI system to detect defects in manufactured products by analyzing images.</a:t>
            </a:r>
          </a:p>
          <a:p>
            <a:pPr>
              <a:lnSpc>
                <a:spcPct val="150000"/>
              </a:lnSpc>
            </a:pPr>
            <a:endParaRPr lang="en-IN" sz="2400" dirty="0"/>
          </a:p>
        </p:txBody>
      </p:sp>
    </p:spTree>
    <p:extLst>
      <p:ext uri="{BB962C8B-B14F-4D97-AF65-F5344CB8AC3E}">
        <p14:creationId xmlns:p14="http://schemas.microsoft.com/office/powerpoint/2010/main" val="15518988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286B75-A1D8-0738-B55C-4C9C96CDF513}"/>
              </a:ext>
            </a:extLst>
          </p:cNvPr>
          <p:cNvPicPr>
            <a:picLocks noChangeAspect="1"/>
          </p:cNvPicPr>
          <p:nvPr/>
        </p:nvPicPr>
        <p:blipFill>
          <a:blip r:embed="rId2"/>
          <a:stretch>
            <a:fillRect/>
          </a:stretch>
        </p:blipFill>
        <p:spPr>
          <a:xfrm>
            <a:off x="1524000" y="465867"/>
            <a:ext cx="8592111" cy="5568584"/>
          </a:xfrm>
          <a:prstGeom prst="rect">
            <a:avLst/>
          </a:prstGeom>
        </p:spPr>
      </p:pic>
    </p:spTree>
    <p:extLst>
      <p:ext uri="{BB962C8B-B14F-4D97-AF65-F5344CB8AC3E}">
        <p14:creationId xmlns:p14="http://schemas.microsoft.com/office/powerpoint/2010/main" val="18012810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BF00B-2E86-8D43-D338-0DF108CBCFC7}"/>
              </a:ext>
            </a:extLst>
          </p:cNvPr>
          <p:cNvSpPr>
            <a:spLocks noGrp="1"/>
          </p:cNvSpPr>
          <p:nvPr>
            <p:ph type="title"/>
          </p:nvPr>
        </p:nvSpPr>
        <p:spPr/>
        <p:txBody>
          <a:bodyPr/>
          <a:lstStyle/>
          <a:p>
            <a:r>
              <a:rPr lang="it-IT" dirty="0"/>
              <a:t>AI vs ML vs DL vs Generative AI</a:t>
            </a:r>
            <a:endParaRPr lang="en-IN" dirty="0"/>
          </a:p>
        </p:txBody>
      </p:sp>
      <p:sp>
        <p:nvSpPr>
          <p:cNvPr id="3" name="Content Placeholder 2">
            <a:extLst>
              <a:ext uri="{FF2B5EF4-FFF2-40B4-BE49-F238E27FC236}">
                <a16:creationId xmlns:a16="http://schemas.microsoft.com/office/drawing/2014/main" id="{89BCE10C-680F-5681-94BF-01113AED54F2}"/>
              </a:ext>
            </a:extLst>
          </p:cNvPr>
          <p:cNvSpPr>
            <a:spLocks noGrp="1"/>
          </p:cNvSpPr>
          <p:nvPr>
            <p:ph idx="1"/>
          </p:nvPr>
        </p:nvSpPr>
        <p:spPr>
          <a:xfrm>
            <a:off x="596348" y="1825624"/>
            <a:ext cx="10757452" cy="4783897"/>
          </a:xfrm>
        </p:spPr>
        <p:txBody>
          <a:bodyPr>
            <a:normAutofit fontScale="77500" lnSpcReduction="20000"/>
          </a:bodyPr>
          <a:lstStyle/>
          <a:p>
            <a:r>
              <a:rPr lang="en-US" dirty="0"/>
              <a:t>AI, Machine Learning, Deep Learning, and Generative AI are </a:t>
            </a:r>
            <a:r>
              <a:rPr lang="en-US" b="1" dirty="0"/>
              <a:t>not competing technologies</a:t>
            </a:r>
            <a:r>
              <a:rPr lang="en-US" dirty="0"/>
              <a:t>—they are </a:t>
            </a:r>
            <a:r>
              <a:rPr lang="en-US" b="1" dirty="0"/>
              <a:t>nested technologies</a:t>
            </a:r>
            <a:r>
              <a:rPr lang="en-US" dirty="0"/>
              <a:t>, where each builds upon the previous one.</a:t>
            </a:r>
          </a:p>
          <a:p>
            <a:r>
              <a:rPr lang="en-US" dirty="0"/>
              <a:t>Artificial Intelligence (AI)</a:t>
            </a:r>
          </a:p>
          <a:p>
            <a:pPr marL="0" indent="0">
              <a:buNone/>
            </a:pPr>
            <a:r>
              <a:rPr lang="en-US" dirty="0"/>
              <a:t>│</a:t>
            </a:r>
          </a:p>
          <a:p>
            <a:pPr marL="0" indent="0">
              <a:buNone/>
            </a:pPr>
            <a:r>
              <a:rPr lang="en-US" dirty="0"/>
              <a:t>├── Machine Learning (ML)</a:t>
            </a:r>
          </a:p>
          <a:p>
            <a:pPr marL="0" indent="0">
              <a:buNone/>
            </a:pPr>
            <a:r>
              <a:rPr lang="en-US" dirty="0"/>
              <a:t>│     │</a:t>
            </a:r>
          </a:p>
          <a:p>
            <a:pPr marL="0" indent="0">
              <a:buNone/>
            </a:pPr>
            <a:r>
              <a:rPr lang="en-US" dirty="0"/>
              <a:t>│     └── Deep Learning (DL)</a:t>
            </a:r>
          </a:p>
          <a:p>
            <a:pPr marL="0" indent="0">
              <a:buNone/>
            </a:pPr>
            <a:r>
              <a:rPr lang="en-US" dirty="0"/>
              <a:t>│            │</a:t>
            </a:r>
          </a:p>
          <a:p>
            <a:pPr marL="0" indent="0">
              <a:buNone/>
            </a:pPr>
            <a:r>
              <a:rPr lang="en-US" dirty="0"/>
              <a:t>│            └── Generative AI (GenAI)</a:t>
            </a:r>
          </a:p>
          <a:p>
            <a:r>
              <a:rPr lang="en-US" b="1" dirty="0"/>
              <a:t>Key Message</a:t>
            </a:r>
          </a:p>
          <a:p>
            <a:r>
              <a:rPr lang="en-US" dirty="0"/>
              <a:t>Every Generative AI model uses Deep Learning, every Deep Learning model is a Machine Learning model, and every Machine Learning model is part of Artificial Intelligence.</a:t>
            </a:r>
          </a:p>
        </p:txBody>
      </p:sp>
    </p:spTree>
    <p:extLst>
      <p:ext uri="{BB962C8B-B14F-4D97-AF65-F5344CB8AC3E}">
        <p14:creationId xmlns:p14="http://schemas.microsoft.com/office/powerpoint/2010/main" val="9249469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663A5-C44B-493D-9AA4-15D228167E5D}"/>
              </a:ext>
            </a:extLst>
          </p:cNvPr>
          <p:cNvSpPr>
            <a:spLocks noGrp="1"/>
          </p:cNvSpPr>
          <p:nvPr>
            <p:ph type="title"/>
          </p:nvPr>
        </p:nvSpPr>
        <p:spPr/>
        <p:txBody>
          <a:bodyPr>
            <a:normAutofit/>
          </a:bodyPr>
          <a:lstStyle/>
          <a:p>
            <a:pPr algn="ctr"/>
            <a:r>
              <a:rPr lang="en-IN" sz="4000" dirty="0">
                <a:solidFill>
                  <a:srgbClr val="002060"/>
                </a:solidFill>
                <a:highlight>
                  <a:srgbClr val="C0C0C0"/>
                </a:highlight>
                <a:latin typeface="Times New Roman" panose="02020603050405020304" pitchFamily="18" charset="0"/>
                <a:cs typeface="Times New Roman" panose="02020603050405020304" pitchFamily="18" charset="0"/>
              </a:rPr>
              <a:t>Types of Analytics</a:t>
            </a:r>
          </a:p>
        </p:txBody>
      </p:sp>
      <p:sp>
        <p:nvSpPr>
          <p:cNvPr id="3" name="Content Placeholder 2">
            <a:extLst>
              <a:ext uri="{FF2B5EF4-FFF2-40B4-BE49-F238E27FC236}">
                <a16:creationId xmlns:a16="http://schemas.microsoft.com/office/drawing/2014/main" id="{C01C6F83-3478-46A4-A368-DCEFA66837CE}"/>
              </a:ext>
            </a:extLst>
          </p:cNvPr>
          <p:cNvSpPr>
            <a:spLocks noGrp="1"/>
          </p:cNvSpPr>
          <p:nvPr>
            <p:ph idx="1"/>
          </p:nvPr>
        </p:nvSpPr>
        <p:spPr>
          <a:xfrm>
            <a:off x="1202635" y="1749287"/>
            <a:ext cx="10301977" cy="4161935"/>
          </a:xfrm>
        </p:spPr>
        <p:txBody>
          <a:bodyPr>
            <a:normAutofit/>
          </a:bodyPr>
          <a:lstStyle/>
          <a:p>
            <a:pPr marL="0" indent="0">
              <a:lnSpc>
                <a:spcPct val="200000"/>
              </a:lnSpc>
              <a:buNone/>
            </a:pPr>
            <a:r>
              <a:rPr lang="en-US" sz="2400" b="0" i="0" dirty="0">
                <a:effectLst/>
                <a:latin typeface="Google Sans"/>
              </a:rPr>
              <a:t>In today's data-driven world, information is king. But raw data itself isn't enough. </a:t>
            </a:r>
          </a:p>
          <a:p>
            <a:pPr marL="0" indent="0">
              <a:lnSpc>
                <a:spcPct val="200000"/>
              </a:lnSpc>
              <a:buNone/>
            </a:pPr>
            <a:r>
              <a:rPr lang="en-US" sz="2400" b="0" i="0" dirty="0">
                <a:effectLst/>
                <a:latin typeface="Google Sans"/>
              </a:rPr>
              <a:t>We need to analyze it to extract insights and make informed decisions</a:t>
            </a:r>
            <a:endParaRPr lang="en-IN" sz="2400" dirty="0"/>
          </a:p>
          <a:p>
            <a:pPr marL="0" indent="0">
              <a:lnSpc>
                <a:spcPct val="200000"/>
              </a:lnSpc>
              <a:buNone/>
            </a:pPr>
            <a:endParaRPr lang="en-IN" sz="2400" dirty="0"/>
          </a:p>
        </p:txBody>
      </p:sp>
    </p:spTree>
    <p:extLst>
      <p:ext uri="{BB962C8B-B14F-4D97-AF65-F5344CB8AC3E}">
        <p14:creationId xmlns:p14="http://schemas.microsoft.com/office/powerpoint/2010/main" val="19233149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4E84EF3-16DB-2172-4BB4-53469314A3DD}"/>
              </a:ext>
            </a:extLst>
          </p:cNvPr>
          <p:cNvPicPr>
            <a:picLocks noGrp="1" noChangeAspect="1"/>
          </p:cNvPicPr>
          <p:nvPr>
            <p:ph idx="1"/>
          </p:nvPr>
        </p:nvPicPr>
        <p:blipFill>
          <a:blip r:embed="rId2"/>
          <a:stretch>
            <a:fillRect/>
          </a:stretch>
        </p:blipFill>
        <p:spPr>
          <a:xfrm>
            <a:off x="386591" y="186488"/>
            <a:ext cx="4718809" cy="3161337"/>
          </a:xfrm>
        </p:spPr>
      </p:pic>
      <p:pic>
        <p:nvPicPr>
          <p:cNvPr id="7" name="Picture 6">
            <a:extLst>
              <a:ext uri="{FF2B5EF4-FFF2-40B4-BE49-F238E27FC236}">
                <a16:creationId xmlns:a16="http://schemas.microsoft.com/office/drawing/2014/main" id="{2D0E8227-8E3A-A013-D46F-6497070CE384}"/>
              </a:ext>
            </a:extLst>
          </p:cNvPr>
          <p:cNvPicPr>
            <a:picLocks noChangeAspect="1"/>
          </p:cNvPicPr>
          <p:nvPr/>
        </p:nvPicPr>
        <p:blipFill>
          <a:blip r:embed="rId3"/>
          <a:stretch>
            <a:fillRect/>
          </a:stretch>
        </p:blipFill>
        <p:spPr>
          <a:xfrm>
            <a:off x="5009324" y="230231"/>
            <a:ext cx="4718808" cy="3121973"/>
          </a:xfrm>
          <a:prstGeom prst="rect">
            <a:avLst/>
          </a:prstGeom>
        </p:spPr>
      </p:pic>
      <p:pic>
        <p:nvPicPr>
          <p:cNvPr id="9" name="Picture 8">
            <a:extLst>
              <a:ext uri="{FF2B5EF4-FFF2-40B4-BE49-F238E27FC236}">
                <a16:creationId xmlns:a16="http://schemas.microsoft.com/office/drawing/2014/main" id="{B173A82C-17FE-B2AB-1C35-ADDA4FACD609}"/>
              </a:ext>
            </a:extLst>
          </p:cNvPr>
          <p:cNvPicPr>
            <a:picLocks noChangeAspect="1"/>
          </p:cNvPicPr>
          <p:nvPr/>
        </p:nvPicPr>
        <p:blipFill>
          <a:blip r:embed="rId4"/>
          <a:stretch>
            <a:fillRect/>
          </a:stretch>
        </p:blipFill>
        <p:spPr>
          <a:xfrm>
            <a:off x="9728131" y="198190"/>
            <a:ext cx="2149129" cy="3230810"/>
          </a:xfrm>
          <a:prstGeom prst="rect">
            <a:avLst/>
          </a:prstGeom>
        </p:spPr>
      </p:pic>
      <p:pic>
        <p:nvPicPr>
          <p:cNvPr id="11" name="Picture 10">
            <a:extLst>
              <a:ext uri="{FF2B5EF4-FFF2-40B4-BE49-F238E27FC236}">
                <a16:creationId xmlns:a16="http://schemas.microsoft.com/office/drawing/2014/main" id="{4CDCC2D2-D532-9CAE-4248-E07E3DA912E5}"/>
              </a:ext>
            </a:extLst>
          </p:cNvPr>
          <p:cNvPicPr>
            <a:picLocks noChangeAspect="1"/>
          </p:cNvPicPr>
          <p:nvPr/>
        </p:nvPicPr>
        <p:blipFill>
          <a:blip r:embed="rId5"/>
          <a:stretch>
            <a:fillRect/>
          </a:stretch>
        </p:blipFill>
        <p:spPr>
          <a:xfrm>
            <a:off x="1192101" y="3688751"/>
            <a:ext cx="4556293" cy="2982761"/>
          </a:xfrm>
          <a:prstGeom prst="rect">
            <a:avLst/>
          </a:prstGeom>
        </p:spPr>
      </p:pic>
      <p:pic>
        <p:nvPicPr>
          <p:cNvPr id="13" name="Picture 12">
            <a:extLst>
              <a:ext uri="{FF2B5EF4-FFF2-40B4-BE49-F238E27FC236}">
                <a16:creationId xmlns:a16="http://schemas.microsoft.com/office/drawing/2014/main" id="{FD98A9D6-98EA-52E6-C16A-AE6D4A3F56B3}"/>
              </a:ext>
            </a:extLst>
          </p:cNvPr>
          <p:cNvPicPr>
            <a:picLocks noChangeAspect="1"/>
          </p:cNvPicPr>
          <p:nvPr/>
        </p:nvPicPr>
        <p:blipFill>
          <a:blip r:embed="rId6"/>
          <a:stretch>
            <a:fillRect/>
          </a:stretch>
        </p:blipFill>
        <p:spPr>
          <a:xfrm>
            <a:off x="6443608" y="3631151"/>
            <a:ext cx="4556291" cy="3001417"/>
          </a:xfrm>
          <a:prstGeom prst="rect">
            <a:avLst/>
          </a:prstGeom>
        </p:spPr>
      </p:pic>
    </p:spTree>
    <p:extLst>
      <p:ext uri="{BB962C8B-B14F-4D97-AF65-F5344CB8AC3E}">
        <p14:creationId xmlns:p14="http://schemas.microsoft.com/office/powerpoint/2010/main" val="744128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B1B2BE6-0A45-41B7-B6C7-996E916DE7F8}"/>
              </a:ext>
            </a:extLst>
          </p:cNvPr>
          <p:cNvPicPr>
            <a:picLocks noChangeAspect="1"/>
          </p:cNvPicPr>
          <p:nvPr/>
        </p:nvPicPr>
        <p:blipFill>
          <a:blip r:embed="rId2"/>
          <a:stretch>
            <a:fillRect/>
          </a:stretch>
        </p:blipFill>
        <p:spPr>
          <a:xfrm>
            <a:off x="824368" y="862094"/>
            <a:ext cx="10543264" cy="5133812"/>
          </a:xfrm>
          <a:prstGeom prst="rect">
            <a:avLst/>
          </a:prstGeom>
        </p:spPr>
      </p:pic>
    </p:spTree>
    <p:extLst>
      <p:ext uri="{BB962C8B-B14F-4D97-AF65-F5344CB8AC3E}">
        <p14:creationId xmlns:p14="http://schemas.microsoft.com/office/powerpoint/2010/main" val="22980901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CDD85-035E-46B5-9F76-51B3CB60595A}"/>
              </a:ext>
            </a:extLst>
          </p:cNvPr>
          <p:cNvSpPr>
            <a:spLocks noGrp="1"/>
          </p:cNvSpPr>
          <p:nvPr>
            <p:ph type="title"/>
          </p:nvPr>
        </p:nvSpPr>
        <p:spPr/>
        <p:txBody>
          <a:bodyPr>
            <a:normAutofit/>
          </a:bodyPr>
          <a:lstStyle/>
          <a:p>
            <a:pPr algn="ctr"/>
            <a:r>
              <a:rPr lang="en-US" dirty="0">
                <a:solidFill>
                  <a:srgbClr val="002060"/>
                </a:solidFill>
                <a:highlight>
                  <a:srgbClr val="C0C0C0"/>
                </a:highlight>
                <a:latin typeface="Times New Roman" panose="02020603050405020304" pitchFamily="18" charset="0"/>
                <a:cs typeface="Times New Roman" panose="02020603050405020304" pitchFamily="18" charset="0"/>
              </a:rPr>
              <a:t>Data Science/Machine Learning</a:t>
            </a:r>
            <a:endParaRPr lang="en-IN" dirty="0">
              <a:solidFill>
                <a:srgbClr val="002060"/>
              </a:solidFill>
              <a:highlight>
                <a:srgbClr val="C0C0C0"/>
              </a:highlight>
              <a:latin typeface="Times New Roman" panose="02020603050405020304" pitchFamily="18" charset="0"/>
              <a:cs typeface="Times New Roman" panose="02020603050405020304" pitchFamily="18" charset="0"/>
            </a:endParaRPr>
          </a:p>
        </p:txBody>
      </p:sp>
      <p:pic>
        <p:nvPicPr>
          <p:cNvPr id="8" name="Content Placeholder 4">
            <a:extLst>
              <a:ext uri="{FF2B5EF4-FFF2-40B4-BE49-F238E27FC236}">
                <a16:creationId xmlns:a16="http://schemas.microsoft.com/office/drawing/2014/main" id="{C32E99EC-7ABC-4B2D-AB27-C19BE0F436CA}"/>
              </a:ext>
            </a:extLst>
          </p:cNvPr>
          <p:cNvPicPr>
            <a:picLocks noGrp="1" noChangeAspect="1"/>
          </p:cNvPicPr>
          <p:nvPr>
            <p:ph idx="1"/>
          </p:nvPr>
        </p:nvPicPr>
        <p:blipFill>
          <a:blip r:embed="rId2"/>
          <a:stretch>
            <a:fillRect/>
          </a:stretch>
        </p:blipFill>
        <p:spPr>
          <a:xfrm>
            <a:off x="2515568" y="1825625"/>
            <a:ext cx="7160863" cy="4351338"/>
          </a:xfrm>
        </p:spPr>
      </p:pic>
    </p:spTree>
    <p:extLst>
      <p:ext uri="{BB962C8B-B14F-4D97-AF65-F5344CB8AC3E}">
        <p14:creationId xmlns:p14="http://schemas.microsoft.com/office/powerpoint/2010/main" val="146361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D17D6-121D-4C78-9887-F7B2ACF4FEA3}"/>
              </a:ext>
            </a:extLst>
          </p:cNvPr>
          <p:cNvSpPr>
            <a:spLocks noGrp="1"/>
          </p:cNvSpPr>
          <p:nvPr>
            <p:ph type="title"/>
          </p:nvPr>
        </p:nvSpPr>
        <p:spPr/>
        <p:txBody>
          <a:bodyPr/>
          <a:lstStyle/>
          <a:p>
            <a:pPr algn="ctr"/>
            <a:r>
              <a:rPr lang="en-US" dirty="0"/>
              <a:t>Problem Statement</a:t>
            </a:r>
            <a:endParaRPr lang="en-IN" dirty="0"/>
          </a:p>
        </p:txBody>
      </p:sp>
      <p:pic>
        <p:nvPicPr>
          <p:cNvPr id="5" name="Content Placeholder 4">
            <a:extLst>
              <a:ext uri="{FF2B5EF4-FFF2-40B4-BE49-F238E27FC236}">
                <a16:creationId xmlns:a16="http://schemas.microsoft.com/office/drawing/2014/main" id="{80142A94-0FF7-9E51-238B-80802A67D057}"/>
              </a:ext>
            </a:extLst>
          </p:cNvPr>
          <p:cNvPicPr>
            <a:picLocks noGrp="1" noChangeAspect="1"/>
          </p:cNvPicPr>
          <p:nvPr>
            <p:ph idx="1"/>
          </p:nvPr>
        </p:nvPicPr>
        <p:blipFill>
          <a:blip r:embed="rId2"/>
          <a:stretch>
            <a:fillRect/>
          </a:stretch>
        </p:blipFill>
        <p:spPr>
          <a:xfrm>
            <a:off x="3032494" y="2454300"/>
            <a:ext cx="6127011" cy="3093988"/>
          </a:xfrm>
        </p:spPr>
      </p:pic>
    </p:spTree>
    <p:extLst>
      <p:ext uri="{BB962C8B-B14F-4D97-AF65-F5344CB8AC3E}">
        <p14:creationId xmlns:p14="http://schemas.microsoft.com/office/powerpoint/2010/main" val="30646051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2720AE-CCE7-9FDB-FCA8-7AA7FA0BA2CA}"/>
              </a:ext>
            </a:extLst>
          </p:cNvPr>
          <p:cNvPicPr>
            <a:picLocks noChangeAspect="1"/>
          </p:cNvPicPr>
          <p:nvPr/>
        </p:nvPicPr>
        <p:blipFill>
          <a:blip r:embed="rId2"/>
          <a:stretch>
            <a:fillRect/>
          </a:stretch>
        </p:blipFill>
        <p:spPr>
          <a:xfrm>
            <a:off x="1192352" y="1414468"/>
            <a:ext cx="10364646" cy="3820058"/>
          </a:xfrm>
          <a:prstGeom prst="rect">
            <a:avLst/>
          </a:prstGeom>
        </p:spPr>
      </p:pic>
    </p:spTree>
    <p:extLst>
      <p:ext uri="{BB962C8B-B14F-4D97-AF65-F5344CB8AC3E}">
        <p14:creationId xmlns:p14="http://schemas.microsoft.com/office/powerpoint/2010/main" val="16359603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A99479-2D8B-35F3-A527-F4E54249695F}"/>
              </a:ext>
            </a:extLst>
          </p:cNvPr>
          <p:cNvPicPr>
            <a:picLocks noChangeAspect="1"/>
          </p:cNvPicPr>
          <p:nvPr/>
        </p:nvPicPr>
        <p:blipFill>
          <a:blip r:embed="rId2"/>
          <a:stretch>
            <a:fillRect/>
          </a:stretch>
        </p:blipFill>
        <p:spPr>
          <a:xfrm>
            <a:off x="1947283" y="1276049"/>
            <a:ext cx="8297433" cy="4305901"/>
          </a:xfrm>
          <a:prstGeom prst="rect">
            <a:avLst/>
          </a:prstGeom>
        </p:spPr>
      </p:pic>
    </p:spTree>
    <p:extLst>
      <p:ext uri="{BB962C8B-B14F-4D97-AF65-F5344CB8AC3E}">
        <p14:creationId xmlns:p14="http://schemas.microsoft.com/office/powerpoint/2010/main" val="24363753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B127459-19BF-28B9-0DD8-9342B34E14AA}"/>
              </a:ext>
            </a:extLst>
          </p:cNvPr>
          <p:cNvPicPr>
            <a:picLocks noGrp="1" noChangeAspect="1"/>
          </p:cNvPicPr>
          <p:nvPr>
            <p:ph idx="1"/>
          </p:nvPr>
        </p:nvPicPr>
        <p:blipFill>
          <a:blip r:embed="rId2"/>
          <a:stretch>
            <a:fillRect/>
          </a:stretch>
        </p:blipFill>
        <p:spPr>
          <a:xfrm>
            <a:off x="1554751" y="657875"/>
            <a:ext cx="8921660" cy="5439791"/>
          </a:xfrm>
        </p:spPr>
      </p:pic>
    </p:spTree>
    <p:extLst>
      <p:ext uri="{BB962C8B-B14F-4D97-AF65-F5344CB8AC3E}">
        <p14:creationId xmlns:p14="http://schemas.microsoft.com/office/powerpoint/2010/main" val="3696715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A615F8-B78B-CAB6-F7C9-907B91E63A78}"/>
              </a:ext>
            </a:extLst>
          </p:cNvPr>
          <p:cNvPicPr>
            <a:picLocks noChangeAspect="1"/>
          </p:cNvPicPr>
          <p:nvPr/>
        </p:nvPicPr>
        <p:blipFill>
          <a:blip r:embed="rId2"/>
          <a:stretch>
            <a:fillRect/>
          </a:stretch>
        </p:blipFill>
        <p:spPr>
          <a:xfrm>
            <a:off x="1180669" y="319598"/>
            <a:ext cx="8538096" cy="6047818"/>
          </a:xfrm>
          <a:prstGeom prst="rect">
            <a:avLst/>
          </a:prstGeom>
        </p:spPr>
      </p:pic>
    </p:spTree>
    <p:extLst>
      <p:ext uri="{BB962C8B-B14F-4D97-AF65-F5344CB8AC3E}">
        <p14:creationId xmlns:p14="http://schemas.microsoft.com/office/powerpoint/2010/main" val="8027239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DE3FCE-6FCA-48D4-797D-AE7CAB7391A5}"/>
              </a:ext>
            </a:extLst>
          </p:cNvPr>
          <p:cNvPicPr>
            <a:picLocks noChangeAspect="1"/>
          </p:cNvPicPr>
          <p:nvPr/>
        </p:nvPicPr>
        <p:blipFill>
          <a:blip r:embed="rId2"/>
          <a:stretch>
            <a:fillRect/>
          </a:stretch>
        </p:blipFill>
        <p:spPr>
          <a:xfrm>
            <a:off x="2178884" y="391577"/>
            <a:ext cx="8071104" cy="5708830"/>
          </a:xfrm>
          <a:prstGeom prst="rect">
            <a:avLst/>
          </a:prstGeom>
        </p:spPr>
      </p:pic>
    </p:spTree>
    <p:extLst>
      <p:ext uri="{BB962C8B-B14F-4D97-AF65-F5344CB8AC3E}">
        <p14:creationId xmlns:p14="http://schemas.microsoft.com/office/powerpoint/2010/main" val="12403838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D17D6-121D-4C78-9887-F7B2ACF4FEA3}"/>
              </a:ext>
            </a:extLst>
          </p:cNvPr>
          <p:cNvSpPr>
            <a:spLocks noGrp="1"/>
          </p:cNvSpPr>
          <p:nvPr>
            <p:ph type="title"/>
          </p:nvPr>
        </p:nvSpPr>
        <p:spPr/>
        <p:txBody>
          <a:bodyPr/>
          <a:lstStyle/>
          <a:p>
            <a:pPr algn="ctr"/>
            <a:r>
              <a:rPr lang="en-US" dirty="0"/>
              <a:t>Analytic Approach</a:t>
            </a:r>
            <a:endParaRPr lang="en-IN" dirty="0"/>
          </a:p>
        </p:txBody>
      </p:sp>
      <p:pic>
        <p:nvPicPr>
          <p:cNvPr id="5" name="Content Placeholder 4">
            <a:extLst>
              <a:ext uri="{FF2B5EF4-FFF2-40B4-BE49-F238E27FC236}">
                <a16:creationId xmlns:a16="http://schemas.microsoft.com/office/drawing/2014/main" id="{7B7530C5-8992-EAEF-1183-D3452BE4C4FF}"/>
              </a:ext>
            </a:extLst>
          </p:cNvPr>
          <p:cNvPicPr>
            <a:picLocks noGrp="1" noChangeAspect="1"/>
          </p:cNvPicPr>
          <p:nvPr>
            <p:ph idx="1"/>
          </p:nvPr>
        </p:nvPicPr>
        <p:blipFill>
          <a:blip r:embed="rId2"/>
          <a:stretch>
            <a:fillRect/>
          </a:stretch>
        </p:blipFill>
        <p:spPr>
          <a:xfrm>
            <a:off x="1253070" y="1894181"/>
            <a:ext cx="9685859" cy="4214225"/>
          </a:xfrm>
        </p:spPr>
      </p:pic>
    </p:spTree>
    <p:extLst>
      <p:ext uri="{BB962C8B-B14F-4D97-AF65-F5344CB8AC3E}">
        <p14:creationId xmlns:p14="http://schemas.microsoft.com/office/powerpoint/2010/main" val="23019133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A9606-9FAB-4E5A-8254-C6570E92E566}"/>
              </a:ext>
            </a:extLst>
          </p:cNvPr>
          <p:cNvSpPr>
            <a:spLocks noGrp="1"/>
          </p:cNvSpPr>
          <p:nvPr>
            <p:ph type="title"/>
          </p:nvPr>
        </p:nvSpPr>
        <p:spPr/>
        <p:txBody>
          <a:bodyPr/>
          <a:lstStyle/>
          <a:p>
            <a:pPr algn="ctr"/>
            <a:r>
              <a:rPr lang="en-US" dirty="0"/>
              <a:t>Supervised Learning</a:t>
            </a:r>
            <a:endParaRPr lang="en-IN" dirty="0"/>
          </a:p>
        </p:txBody>
      </p:sp>
      <p:pic>
        <p:nvPicPr>
          <p:cNvPr id="4" name="Content Placeholder 3">
            <a:extLst>
              <a:ext uri="{FF2B5EF4-FFF2-40B4-BE49-F238E27FC236}">
                <a16:creationId xmlns:a16="http://schemas.microsoft.com/office/drawing/2014/main" id="{1FA990FA-9B9C-463D-8B47-7D4B386E604C}"/>
              </a:ext>
            </a:extLst>
          </p:cNvPr>
          <p:cNvPicPr>
            <a:picLocks noGrp="1" noChangeAspect="1"/>
          </p:cNvPicPr>
          <p:nvPr>
            <p:ph idx="1"/>
          </p:nvPr>
        </p:nvPicPr>
        <p:blipFill>
          <a:blip r:embed="rId2"/>
          <a:stretch>
            <a:fillRect/>
          </a:stretch>
        </p:blipFill>
        <p:spPr>
          <a:xfrm>
            <a:off x="1991853" y="1558911"/>
            <a:ext cx="9101859" cy="4579656"/>
          </a:xfrm>
          <a:prstGeom prst="rect">
            <a:avLst/>
          </a:prstGeom>
        </p:spPr>
      </p:pic>
    </p:spTree>
    <p:extLst>
      <p:ext uri="{BB962C8B-B14F-4D97-AF65-F5344CB8AC3E}">
        <p14:creationId xmlns:p14="http://schemas.microsoft.com/office/powerpoint/2010/main" val="15129349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E2309F-0429-1096-9CCB-6FC90EA20F27}"/>
              </a:ext>
            </a:extLst>
          </p:cNvPr>
          <p:cNvPicPr>
            <a:picLocks noChangeAspect="1"/>
          </p:cNvPicPr>
          <p:nvPr/>
        </p:nvPicPr>
        <p:blipFill>
          <a:blip r:embed="rId2"/>
          <a:stretch>
            <a:fillRect/>
          </a:stretch>
        </p:blipFill>
        <p:spPr>
          <a:xfrm>
            <a:off x="1859280" y="724004"/>
            <a:ext cx="8371840" cy="5774403"/>
          </a:xfrm>
          <a:prstGeom prst="rect">
            <a:avLst/>
          </a:prstGeom>
        </p:spPr>
      </p:pic>
    </p:spTree>
    <p:extLst>
      <p:ext uri="{BB962C8B-B14F-4D97-AF65-F5344CB8AC3E}">
        <p14:creationId xmlns:p14="http://schemas.microsoft.com/office/powerpoint/2010/main" val="16326112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387299-6EF0-32AC-B0D5-D20009C1E7D6}"/>
              </a:ext>
            </a:extLst>
          </p:cNvPr>
          <p:cNvPicPr>
            <a:picLocks noChangeAspect="1"/>
          </p:cNvPicPr>
          <p:nvPr/>
        </p:nvPicPr>
        <p:blipFill>
          <a:blip r:embed="rId2"/>
          <a:stretch>
            <a:fillRect/>
          </a:stretch>
        </p:blipFill>
        <p:spPr>
          <a:xfrm>
            <a:off x="832703" y="1280812"/>
            <a:ext cx="10526594" cy="4296375"/>
          </a:xfrm>
          <a:prstGeom prst="rect">
            <a:avLst/>
          </a:prstGeom>
        </p:spPr>
      </p:pic>
    </p:spTree>
    <p:extLst>
      <p:ext uri="{BB962C8B-B14F-4D97-AF65-F5344CB8AC3E}">
        <p14:creationId xmlns:p14="http://schemas.microsoft.com/office/powerpoint/2010/main" val="5285590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1077AD-A7D0-7BE5-F3FD-43F5AE3D842A}"/>
              </a:ext>
            </a:extLst>
          </p:cNvPr>
          <p:cNvPicPr>
            <a:picLocks noChangeAspect="1"/>
          </p:cNvPicPr>
          <p:nvPr/>
        </p:nvPicPr>
        <p:blipFill>
          <a:blip r:embed="rId2"/>
          <a:stretch>
            <a:fillRect/>
          </a:stretch>
        </p:blipFill>
        <p:spPr>
          <a:xfrm>
            <a:off x="1881551" y="483205"/>
            <a:ext cx="8643987" cy="5444348"/>
          </a:xfrm>
          <a:prstGeom prst="rect">
            <a:avLst/>
          </a:prstGeom>
        </p:spPr>
      </p:pic>
    </p:spTree>
    <p:extLst>
      <p:ext uri="{BB962C8B-B14F-4D97-AF65-F5344CB8AC3E}">
        <p14:creationId xmlns:p14="http://schemas.microsoft.com/office/powerpoint/2010/main" val="13991116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732448-26DD-C62C-29F0-96855EC24B16}"/>
              </a:ext>
            </a:extLst>
          </p:cNvPr>
          <p:cNvPicPr>
            <a:picLocks noChangeAspect="1"/>
          </p:cNvPicPr>
          <p:nvPr/>
        </p:nvPicPr>
        <p:blipFill>
          <a:blip r:embed="rId2"/>
          <a:stretch>
            <a:fillRect/>
          </a:stretch>
        </p:blipFill>
        <p:spPr>
          <a:xfrm>
            <a:off x="1350047" y="1872176"/>
            <a:ext cx="9795771" cy="2441407"/>
          </a:xfrm>
          <a:prstGeom prst="rect">
            <a:avLst/>
          </a:prstGeom>
        </p:spPr>
      </p:pic>
    </p:spTree>
    <p:extLst>
      <p:ext uri="{BB962C8B-B14F-4D97-AF65-F5344CB8AC3E}">
        <p14:creationId xmlns:p14="http://schemas.microsoft.com/office/powerpoint/2010/main" val="1477913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1D9FF-095D-309D-EACA-8E0C790DF596}"/>
              </a:ext>
            </a:extLst>
          </p:cNvPr>
          <p:cNvSpPr>
            <a:spLocks noGrp="1"/>
          </p:cNvSpPr>
          <p:nvPr>
            <p:ph type="title"/>
          </p:nvPr>
        </p:nvSpPr>
        <p:spPr/>
        <p:txBody>
          <a:bodyPr/>
          <a:lstStyle/>
          <a:p>
            <a:pPr algn="ctr"/>
            <a:r>
              <a:rPr lang="en-IN" b="1" dirty="0"/>
              <a:t>Data?</a:t>
            </a:r>
          </a:p>
        </p:txBody>
      </p:sp>
      <p:sp>
        <p:nvSpPr>
          <p:cNvPr id="3" name="Content Placeholder 2">
            <a:extLst>
              <a:ext uri="{FF2B5EF4-FFF2-40B4-BE49-F238E27FC236}">
                <a16:creationId xmlns:a16="http://schemas.microsoft.com/office/drawing/2014/main" id="{BDD61A1C-FD52-2F83-BF3B-94E65BB39BB4}"/>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r>
              <a:rPr lang="en-IN" dirty="0"/>
              <a:t>Information and Noise(Insignificant information)</a:t>
            </a:r>
          </a:p>
          <a:p>
            <a:pPr marL="0" indent="0">
              <a:buNone/>
            </a:pPr>
            <a:endParaRPr lang="en-IN" dirty="0"/>
          </a:p>
          <a:p>
            <a:pPr marL="0" indent="0">
              <a:buNone/>
            </a:pPr>
            <a:r>
              <a:rPr lang="en-IN" dirty="0"/>
              <a:t>ML ,DS,AI-&gt; Extract information(Exclude noise)</a:t>
            </a:r>
          </a:p>
        </p:txBody>
      </p:sp>
    </p:spTree>
    <p:extLst>
      <p:ext uri="{BB962C8B-B14F-4D97-AF65-F5344CB8AC3E}">
        <p14:creationId xmlns:p14="http://schemas.microsoft.com/office/powerpoint/2010/main" val="11790939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663A5-C44B-493D-9AA4-15D228167E5D}"/>
              </a:ext>
            </a:extLst>
          </p:cNvPr>
          <p:cNvSpPr>
            <a:spLocks noGrp="1"/>
          </p:cNvSpPr>
          <p:nvPr>
            <p:ph type="title"/>
          </p:nvPr>
        </p:nvSpPr>
        <p:spPr/>
        <p:txBody>
          <a:bodyPr>
            <a:normAutofit/>
          </a:bodyPr>
          <a:lstStyle/>
          <a:p>
            <a:pPr algn="ctr"/>
            <a:r>
              <a:rPr lang="en-IN" sz="4000" dirty="0">
                <a:solidFill>
                  <a:srgbClr val="002060"/>
                </a:solidFill>
                <a:highlight>
                  <a:srgbClr val="C0C0C0"/>
                </a:highlight>
                <a:latin typeface="Times New Roman" panose="02020603050405020304" pitchFamily="18" charset="0"/>
                <a:cs typeface="Times New Roman" panose="02020603050405020304" pitchFamily="18" charset="0"/>
              </a:rPr>
              <a:t>Types of Analytics</a:t>
            </a:r>
          </a:p>
        </p:txBody>
      </p:sp>
      <p:sp>
        <p:nvSpPr>
          <p:cNvPr id="3" name="Content Placeholder 2">
            <a:extLst>
              <a:ext uri="{FF2B5EF4-FFF2-40B4-BE49-F238E27FC236}">
                <a16:creationId xmlns:a16="http://schemas.microsoft.com/office/drawing/2014/main" id="{C01C6F83-3478-46A4-A368-DCEFA66837CE}"/>
              </a:ext>
            </a:extLst>
          </p:cNvPr>
          <p:cNvSpPr>
            <a:spLocks noGrp="1"/>
          </p:cNvSpPr>
          <p:nvPr>
            <p:ph idx="1"/>
          </p:nvPr>
        </p:nvSpPr>
        <p:spPr/>
        <p:txBody>
          <a:bodyPr>
            <a:normAutofit/>
          </a:bodyPr>
          <a:lstStyle/>
          <a:p>
            <a:pPr marL="0" indent="0">
              <a:lnSpc>
                <a:spcPct val="200000"/>
              </a:lnSpc>
              <a:buNone/>
            </a:pPr>
            <a:r>
              <a:rPr lang="en-US" b="0" i="0" dirty="0">
                <a:effectLst/>
                <a:latin typeface="Google Sans"/>
              </a:rPr>
              <a:t>In today's data-driven world, information is king. But raw data itself isn't enough. </a:t>
            </a:r>
          </a:p>
          <a:p>
            <a:pPr marL="0" indent="0">
              <a:lnSpc>
                <a:spcPct val="200000"/>
              </a:lnSpc>
              <a:buNone/>
            </a:pPr>
            <a:r>
              <a:rPr lang="en-US" b="0" i="0" dirty="0">
                <a:effectLst/>
                <a:latin typeface="Google Sans"/>
              </a:rPr>
              <a:t>We need to analyze it to extract insights and make informed decisions</a:t>
            </a:r>
            <a:endParaRPr lang="en-IN" dirty="0"/>
          </a:p>
          <a:p>
            <a:pPr marL="0" indent="0">
              <a:lnSpc>
                <a:spcPct val="200000"/>
              </a:lnSpc>
              <a:buNone/>
            </a:pPr>
            <a:endParaRPr lang="en-IN" dirty="0"/>
          </a:p>
        </p:txBody>
      </p:sp>
    </p:spTree>
    <p:extLst>
      <p:ext uri="{BB962C8B-B14F-4D97-AF65-F5344CB8AC3E}">
        <p14:creationId xmlns:p14="http://schemas.microsoft.com/office/powerpoint/2010/main" val="16298099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4E84EF3-16DB-2172-4BB4-53469314A3DD}"/>
              </a:ext>
            </a:extLst>
          </p:cNvPr>
          <p:cNvPicPr>
            <a:picLocks noGrp="1" noChangeAspect="1"/>
          </p:cNvPicPr>
          <p:nvPr>
            <p:ph idx="1"/>
          </p:nvPr>
        </p:nvPicPr>
        <p:blipFill>
          <a:blip r:embed="rId2"/>
          <a:stretch>
            <a:fillRect/>
          </a:stretch>
        </p:blipFill>
        <p:spPr>
          <a:xfrm>
            <a:off x="386591" y="186488"/>
            <a:ext cx="4718809" cy="3161337"/>
          </a:xfrm>
        </p:spPr>
      </p:pic>
      <p:pic>
        <p:nvPicPr>
          <p:cNvPr id="7" name="Picture 6">
            <a:extLst>
              <a:ext uri="{FF2B5EF4-FFF2-40B4-BE49-F238E27FC236}">
                <a16:creationId xmlns:a16="http://schemas.microsoft.com/office/drawing/2014/main" id="{2D0E8227-8E3A-A013-D46F-6497070CE384}"/>
              </a:ext>
            </a:extLst>
          </p:cNvPr>
          <p:cNvPicPr>
            <a:picLocks noChangeAspect="1"/>
          </p:cNvPicPr>
          <p:nvPr/>
        </p:nvPicPr>
        <p:blipFill>
          <a:blip r:embed="rId3"/>
          <a:stretch>
            <a:fillRect/>
          </a:stretch>
        </p:blipFill>
        <p:spPr>
          <a:xfrm>
            <a:off x="5009324" y="230231"/>
            <a:ext cx="4718808" cy="3121973"/>
          </a:xfrm>
          <a:prstGeom prst="rect">
            <a:avLst/>
          </a:prstGeom>
        </p:spPr>
      </p:pic>
      <p:pic>
        <p:nvPicPr>
          <p:cNvPr id="9" name="Picture 8">
            <a:extLst>
              <a:ext uri="{FF2B5EF4-FFF2-40B4-BE49-F238E27FC236}">
                <a16:creationId xmlns:a16="http://schemas.microsoft.com/office/drawing/2014/main" id="{B173A82C-17FE-B2AB-1C35-ADDA4FACD609}"/>
              </a:ext>
            </a:extLst>
          </p:cNvPr>
          <p:cNvPicPr>
            <a:picLocks noChangeAspect="1"/>
          </p:cNvPicPr>
          <p:nvPr/>
        </p:nvPicPr>
        <p:blipFill>
          <a:blip r:embed="rId4"/>
          <a:stretch>
            <a:fillRect/>
          </a:stretch>
        </p:blipFill>
        <p:spPr>
          <a:xfrm>
            <a:off x="9728131" y="198190"/>
            <a:ext cx="2149129" cy="3230810"/>
          </a:xfrm>
          <a:prstGeom prst="rect">
            <a:avLst/>
          </a:prstGeom>
        </p:spPr>
      </p:pic>
      <p:pic>
        <p:nvPicPr>
          <p:cNvPr id="11" name="Picture 10">
            <a:extLst>
              <a:ext uri="{FF2B5EF4-FFF2-40B4-BE49-F238E27FC236}">
                <a16:creationId xmlns:a16="http://schemas.microsoft.com/office/drawing/2014/main" id="{4CDCC2D2-D532-9CAE-4248-E07E3DA912E5}"/>
              </a:ext>
            </a:extLst>
          </p:cNvPr>
          <p:cNvPicPr>
            <a:picLocks noChangeAspect="1"/>
          </p:cNvPicPr>
          <p:nvPr/>
        </p:nvPicPr>
        <p:blipFill>
          <a:blip r:embed="rId5"/>
          <a:stretch>
            <a:fillRect/>
          </a:stretch>
        </p:blipFill>
        <p:spPr>
          <a:xfrm>
            <a:off x="1192101" y="3688751"/>
            <a:ext cx="4556293" cy="2982761"/>
          </a:xfrm>
          <a:prstGeom prst="rect">
            <a:avLst/>
          </a:prstGeom>
        </p:spPr>
      </p:pic>
      <p:pic>
        <p:nvPicPr>
          <p:cNvPr id="13" name="Picture 12">
            <a:extLst>
              <a:ext uri="{FF2B5EF4-FFF2-40B4-BE49-F238E27FC236}">
                <a16:creationId xmlns:a16="http://schemas.microsoft.com/office/drawing/2014/main" id="{FD98A9D6-98EA-52E6-C16A-AE6D4A3F56B3}"/>
              </a:ext>
            </a:extLst>
          </p:cNvPr>
          <p:cNvPicPr>
            <a:picLocks noChangeAspect="1"/>
          </p:cNvPicPr>
          <p:nvPr/>
        </p:nvPicPr>
        <p:blipFill>
          <a:blip r:embed="rId6"/>
          <a:stretch>
            <a:fillRect/>
          </a:stretch>
        </p:blipFill>
        <p:spPr>
          <a:xfrm>
            <a:off x="6443608" y="3631151"/>
            <a:ext cx="4556291" cy="3001417"/>
          </a:xfrm>
          <a:prstGeom prst="rect">
            <a:avLst/>
          </a:prstGeom>
        </p:spPr>
      </p:pic>
    </p:spTree>
    <p:extLst>
      <p:ext uri="{BB962C8B-B14F-4D97-AF65-F5344CB8AC3E}">
        <p14:creationId xmlns:p14="http://schemas.microsoft.com/office/powerpoint/2010/main" val="30177811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B1B2BE6-0A45-41B7-B6C7-996E916DE7F8}"/>
              </a:ext>
            </a:extLst>
          </p:cNvPr>
          <p:cNvPicPr>
            <a:picLocks noChangeAspect="1"/>
          </p:cNvPicPr>
          <p:nvPr/>
        </p:nvPicPr>
        <p:blipFill>
          <a:blip r:embed="rId2"/>
          <a:stretch>
            <a:fillRect/>
          </a:stretch>
        </p:blipFill>
        <p:spPr>
          <a:xfrm>
            <a:off x="824368" y="862094"/>
            <a:ext cx="10543264" cy="5133812"/>
          </a:xfrm>
          <a:prstGeom prst="rect">
            <a:avLst/>
          </a:prstGeom>
        </p:spPr>
      </p:pic>
    </p:spTree>
    <p:extLst>
      <p:ext uri="{BB962C8B-B14F-4D97-AF65-F5344CB8AC3E}">
        <p14:creationId xmlns:p14="http://schemas.microsoft.com/office/powerpoint/2010/main" val="14326353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1AD59A5-BF47-136D-1090-6A84AEE10C1D}"/>
              </a:ext>
            </a:extLst>
          </p:cNvPr>
          <p:cNvPicPr>
            <a:picLocks noGrp="1" noChangeAspect="1"/>
          </p:cNvPicPr>
          <p:nvPr>
            <p:ph idx="1"/>
          </p:nvPr>
        </p:nvPicPr>
        <p:blipFill>
          <a:blip r:embed="rId2"/>
          <a:stretch>
            <a:fillRect/>
          </a:stretch>
        </p:blipFill>
        <p:spPr>
          <a:xfrm>
            <a:off x="566529" y="241637"/>
            <a:ext cx="6098031" cy="4071944"/>
          </a:xfrm>
        </p:spPr>
      </p:pic>
      <p:pic>
        <p:nvPicPr>
          <p:cNvPr id="6" name="Content Placeholder 4">
            <a:extLst>
              <a:ext uri="{FF2B5EF4-FFF2-40B4-BE49-F238E27FC236}">
                <a16:creationId xmlns:a16="http://schemas.microsoft.com/office/drawing/2014/main" id="{395BC0EE-D2C1-9A84-504D-8736DD18F1CC}"/>
              </a:ext>
            </a:extLst>
          </p:cNvPr>
          <p:cNvPicPr>
            <a:picLocks noChangeAspect="1"/>
          </p:cNvPicPr>
          <p:nvPr/>
        </p:nvPicPr>
        <p:blipFill>
          <a:blip r:embed="rId3"/>
          <a:stretch>
            <a:fillRect/>
          </a:stretch>
        </p:blipFill>
        <p:spPr>
          <a:xfrm>
            <a:off x="4933121" y="4313581"/>
            <a:ext cx="7119533" cy="2431817"/>
          </a:xfrm>
          <a:prstGeom prst="rect">
            <a:avLst/>
          </a:prstGeom>
        </p:spPr>
      </p:pic>
    </p:spTree>
    <p:extLst>
      <p:ext uri="{BB962C8B-B14F-4D97-AF65-F5344CB8AC3E}">
        <p14:creationId xmlns:p14="http://schemas.microsoft.com/office/powerpoint/2010/main" val="4081910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5C6A97E-6ADE-2792-1E91-5E6F32BDAC84}"/>
              </a:ext>
            </a:extLst>
          </p:cNvPr>
          <p:cNvPicPr>
            <a:picLocks noGrp="1" noChangeAspect="1"/>
          </p:cNvPicPr>
          <p:nvPr>
            <p:ph idx="1"/>
          </p:nvPr>
        </p:nvPicPr>
        <p:blipFill>
          <a:blip r:embed="rId2"/>
          <a:stretch>
            <a:fillRect/>
          </a:stretch>
        </p:blipFill>
        <p:spPr>
          <a:xfrm>
            <a:off x="516835" y="365126"/>
            <a:ext cx="5703875" cy="4009654"/>
          </a:xfrm>
        </p:spPr>
      </p:pic>
      <p:pic>
        <p:nvPicPr>
          <p:cNvPr id="7" name="Picture 6">
            <a:extLst>
              <a:ext uri="{FF2B5EF4-FFF2-40B4-BE49-F238E27FC236}">
                <a16:creationId xmlns:a16="http://schemas.microsoft.com/office/drawing/2014/main" id="{1BFBE9A3-F82E-CAF3-5DED-9119B8141FB1}"/>
              </a:ext>
            </a:extLst>
          </p:cNvPr>
          <p:cNvPicPr>
            <a:picLocks noChangeAspect="1"/>
          </p:cNvPicPr>
          <p:nvPr/>
        </p:nvPicPr>
        <p:blipFill>
          <a:blip r:embed="rId3"/>
          <a:stretch>
            <a:fillRect/>
          </a:stretch>
        </p:blipFill>
        <p:spPr>
          <a:xfrm>
            <a:off x="6530094" y="365126"/>
            <a:ext cx="5145071" cy="2855152"/>
          </a:xfrm>
          <a:prstGeom prst="rect">
            <a:avLst/>
          </a:prstGeom>
        </p:spPr>
      </p:pic>
      <p:pic>
        <p:nvPicPr>
          <p:cNvPr id="9" name="Picture 8">
            <a:extLst>
              <a:ext uri="{FF2B5EF4-FFF2-40B4-BE49-F238E27FC236}">
                <a16:creationId xmlns:a16="http://schemas.microsoft.com/office/drawing/2014/main" id="{CAB7D31B-578C-94BF-063F-154722C54CB8}"/>
              </a:ext>
            </a:extLst>
          </p:cNvPr>
          <p:cNvPicPr>
            <a:picLocks noChangeAspect="1"/>
          </p:cNvPicPr>
          <p:nvPr/>
        </p:nvPicPr>
        <p:blipFill>
          <a:blip r:embed="rId4"/>
          <a:stretch>
            <a:fillRect/>
          </a:stretch>
        </p:blipFill>
        <p:spPr>
          <a:xfrm>
            <a:off x="4442792" y="4318950"/>
            <a:ext cx="7404651" cy="2514538"/>
          </a:xfrm>
          <a:prstGeom prst="rect">
            <a:avLst/>
          </a:prstGeom>
        </p:spPr>
      </p:pic>
    </p:spTree>
    <p:extLst>
      <p:ext uri="{BB962C8B-B14F-4D97-AF65-F5344CB8AC3E}">
        <p14:creationId xmlns:p14="http://schemas.microsoft.com/office/powerpoint/2010/main" val="347029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7670CD-3742-C7EA-E98D-37041A35F5C1}"/>
              </a:ext>
            </a:extLst>
          </p:cNvPr>
          <p:cNvPicPr>
            <a:picLocks noChangeAspect="1"/>
          </p:cNvPicPr>
          <p:nvPr/>
        </p:nvPicPr>
        <p:blipFill>
          <a:blip r:embed="rId2"/>
          <a:stretch>
            <a:fillRect/>
          </a:stretch>
        </p:blipFill>
        <p:spPr>
          <a:xfrm>
            <a:off x="1609099" y="1128391"/>
            <a:ext cx="8973802" cy="4601217"/>
          </a:xfrm>
          <a:prstGeom prst="rect">
            <a:avLst/>
          </a:prstGeom>
        </p:spPr>
      </p:pic>
    </p:spTree>
    <p:extLst>
      <p:ext uri="{BB962C8B-B14F-4D97-AF65-F5344CB8AC3E}">
        <p14:creationId xmlns:p14="http://schemas.microsoft.com/office/powerpoint/2010/main" val="40369341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CDD85-035E-46B5-9F76-51B3CB60595A}"/>
              </a:ext>
            </a:extLst>
          </p:cNvPr>
          <p:cNvSpPr>
            <a:spLocks noGrp="1"/>
          </p:cNvSpPr>
          <p:nvPr>
            <p:ph type="title"/>
          </p:nvPr>
        </p:nvSpPr>
        <p:spPr/>
        <p:txBody>
          <a:bodyPr>
            <a:normAutofit/>
          </a:bodyPr>
          <a:lstStyle/>
          <a:p>
            <a:pPr algn="ctr"/>
            <a:r>
              <a:rPr lang="en-US" dirty="0">
                <a:solidFill>
                  <a:srgbClr val="002060"/>
                </a:solidFill>
                <a:highlight>
                  <a:srgbClr val="C0C0C0"/>
                </a:highlight>
                <a:latin typeface="Times New Roman" panose="02020603050405020304" pitchFamily="18" charset="0"/>
                <a:cs typeface="Times New Roman" panose="02020603050405020304" pitchFamily="18" charset="0"/>
              </a:rPr>
              <a:t>Data Science/Machine Learning</a:t>
            </a:r>
            <a:endParaRPr lang="en-IN" dirty="0">
              <a:solidFill>
                <a:srgbClr val="002060"/>
              </a:solidFill>
              <a:highlight>
                <a:srgbClr val="C0C0C0"/>
              </a:highlight>
              <a:latin typeface="Times New Roman" panose="02020603050405020304" pitchFamily="18" charset="0"/>
              <a:cs typeface="Times New Roman" panose="02020603050405020304" pitchFamily="18" charset="0"/>
            </a:endParaRPr>
          </a:p>
        </p:txBody>
      </p:sp>
      <p:pic>
        <p:nvPicPr>
          <p:cNvPr id="8" name="Content Placeholder 4">
            <a:extLst>
              <a:ext uri="{FF2B5EF4-FFF2-40B4-BE49-F238E27FC236}">
                <a16:creationId xmlns:a16="http://schemas.microsoft.com/office/drawing/2014/main" id="{C32E99EC-7ABC-4B2D-AB27-C19BE0F436CA}"/>
              </a:ext>
            </a:extLst>
          </p:cNvPr>
          <p:cNvPicPr>
            <a:picLocks noGrp="1" noChangeAspect="1"/>
          </p:cNvPicPr>
          <p:nvPr>
            <p:ph idx="1"/>
          </p:nvPr>
        </p:nvPicPr>
        <p:blipFill>
          <a:blip r:embed="rId2"/>
          <a:stretch>
            <a:fillRect/>
          </a:stretch>
        </p:blipFill>
        <p:spPr>
          <a:xfrm>
            <a:off x="2475452" y="1650093"/>
            <a:ext cx="8285752" cy="5034884"/>
          </a:xfrm>
        </p:spPr>
      </p:pic>
    </p:spTree>
    <p:extLst>
      <p:ext uri="{BB962C8B-B14F-4D97-AF65-F5344CB8AC3E}">
        <p14:creationId xmlns:p14="http://schemas.microsoft.com/office/powerpoint/2010/main" val="148323656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D17D6-121D-4C78-9887-F7B2ACF4FEA3}"/>
              </a:ext>
            </a:extLst>
          </p:cNvPr>
          <p:cNvSpPr>
            <a:spLocks noGrp="1"/>
          </p:cNvSpPr>
          <p:nvPr>
            <p:ph type="title"/>
          </p:nvPr>
        </p:nvSpPr>
        <p:spPr/>
        <p:txBody>
          <a:bodyPr/>
          <a:lstStyle/>
          <a:p>
            <a:pPr algn="ctr"/>
            <a:r>
              <a:rPr lang="en-US" dirty="0"/>
              <a:t>Problem Statement</a:t>
            </a:r>
            <a:endParaRPr lang="en-IN" dirty="0"/>
          </a:p>
        </p:txBody>
      </p:sp>
      <p:pic>
        <p:nvPicPr>
          <p:cNvPr id="5" name="Content Placeholder 4">
            <a:extLst>
              <a:ext uri="{FF2B5EF4-FFF2-40B4-BE49-F238E27FC236}">
                <a16:creationId xmlns:a16="http://schemas.microsoft.com/office/drawing/2014/main" id="{80142A94-0FF7-9E51-238B-80802A67D057}"/>
              </a:ext>
            </a:extLst>
          </p:cNvPr>
          <p:cNvPicPr>
            <a:picLocks noGrp="1" noChangeAspect="1"/>
          </p:cNvPicPr>
          <p:nvPr>
            <p:ph idx="1"/>
          </p:nvPr>
        </p:nvPicPr>
        <p:blipFill>
          <a:blip r:embed="rId2"/>
          <a:stretch>
            <a:fillRect/>
          </a:stretch>
        </p:blipFill>
        <p:spPr>
          <a:xfrm>
            <a:off x="2325712" y="1673965"/>
            <a:ext cx="9455307" cy="4774695"/>
          </a:xfrm>
        </p:spPr>
      </p:pic>
    </p:spTree>
    <p:extLst>
      <p:ext uri="{BB962C8B-B14F-4D97-AF65-F5344CB8AC3E}">
        <p14:creationId xmlns:p14="http://schemas.microsoft.com/office/powerpoint/2010/main" val="8974907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D17D6-121D-4C78-9887-F7B2ACF4FEA3}"/>
              </a:ext>
            </a:extLst>
          </p:cNvPr>
          <p:cNvSpPr>
            <a:spLocks noGrp="1"/>
          </p:cNvSpPr>
          <p:nvPr>
            <p:ph type="title"/>
          </p:nvPr>
        </p:nvSpPr>
        <p:spPr/>
        <p:txBody>
          <a:bodyPr/>
          <a:lstStyle/>
          <a:p>
            <a:pPr algn="ctr"/>
            <a:r>
              <a:rPr lang="en-US" dirty="0"/>
              <a:t>Analytic Approach</a:t>
            </a:r>
            <a:endParaRPr lang="en-IN" dirty="0"/>
          </a:p>
        </p:txBody>
      </p:sp>
      <p:pic>
        <p:nvPicPr>
          <p:cNvPr id="5" name="Content Placeholder 4">
            <a:extLst>
              <a:ext uri="{FF2B5EF4-FFF2-40B4-BE49-F238E27FC236}">
                <a16:creationId xmlns:a16="http://schemas.microsoft.com/office/drawing/2014/main" id="{5B127459-19BF-28B9-0DD8-9342B34E14AA}"/>
              </a:ext>
            </a:extLst>
          </p:cNvPr>
          <p:cNvPicPr>
            <a:picLocks noGrp="1" noChangeAspect="1"/>
          </p:cNvPicPr>
          <p:nvPr>
            <p:ph idx="1"/>
          </p:nvPr>
        </p:nvPicPr>
        <p:blipFill>
          <a:blip r:embed="rId2"/>
          <a:stretch>
            <a:fillRect/>
          </a:stretch>
        </p:blipFill>
        <p:spPr>
          <a:xfrm>
            <a:off x="2355940" y="1650653"/>
            <a:ext cx="8256664" cy="5034324"/>
          </a:xfrm>
        </p:spPr>
      </p:pic>
    </p:spTree>
    <p:extLst>
      <p:ext uri="{BB962C8B-B14F-4D97-AF65-F5344CB8AC3E}">
        <p14:creationId xmlns:p14="http://schemas.microsoft.com/office/powerpoint/2010/main" val="20292123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D17D6-121D-4C78-9887-F7B2ACF4FEA3}"/>
              </a:ext>
            </a:extLst>
          </p:cNvPr>
          <p:cNvSpPr>
            <a:spLocks noGrp="1"/>
          </p:cNvSpPr>
          <p:nvPr>
            <p:ph type="title"/>
          </p:nvPr>
        </p:nvSpPr>
        <p:spPr/>
        <p:txBody>
          <a:bodyPr/>
          <a:lstStyle/>
          <a:p>
            <a:pPr algn="ctr"/>
            <a:r>
              <a:rPr lang="en-US" dirty="0"/>
              <a:t>Analytic Approach</a:t>
            </a:r>
            <a:endParaRPr lang="en-IN" dirty="0"/>
          </a:p>
        </p:txBody>
      </p:sp>
      <p:pic>
        <p:nvPicPr>
          <p:cNvPr id="5" name="Content Placeholder 4">
            <a:extLst>
              <a:ext uri="{FF2B5EF4-FFF2-40B4-BE49-F238E27FC236}">
                <a16:creationId xmlns:a16="http://schemas.microsoft.com/office/drawing/2014/main" id="{7B7530C5-8992-EAEF-1183-D3452BE4C4FF}"/>
              </a:ext>
            </a:extLst>
          </p:cNvPr>
          <p:cNvPicPr>
            <a:picLocks noGrp="1" noChangeAspect="1"/>
          </p:cNvPicPr>
          <p:nvPr>
            <p:ph idx="1"/>
          </p:nvPr>
        </p:nvPicPr>
        <p:blipFill>
          <a:blip r:embed="rId2"/>
          <a:stretch>
            <a:fillRect/>
          </a:stretch>
        </p:blipFill>
        <p:spPr>
          <a:xfrm>
            <a:off x="1770882" y="1787966"/>
            <a:ext cx="9698567" cy="4219753"/>
          </a:xfrm>
        </p:spPr>
      </p:pic>
    </p:spTree>
    <p:extLst>
      <p:ext uri="{BB962C8B-B14F-4D97-AF65-F5344CB8AC3E}">
        <p14:creationId xmlns:p14="http://schemas.microsoft.com/office/powerpoint/2010/main" val="19262751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A9606-9FAB-4E5A-8254-C6570E92E566}"/>
              </a:ext>
            </a:extLst>
          </p:cNvPr>
          <p:cNvSpPr>
            <a:spLocks noGrp="1"/>
          </p:cNvSpPr>
          <p:nvPr>
            <p:ph type="title"/>
          </p:nvPr>
        </p:nvSpPr>
        <p:spPr/>
        <p:txBody>
          <a:bodyPr/>
          <a:lstStyle/>
          <a:p>
            <a:pPr algn="ctr"/>
            <a:r>
              <a:rPr lang="en-US" dirty="0"/>
              <a:t>Supervised Learning</a:t>
            </a:r>
            <a:endParaRPr lang="en-IN" dirty="0"/>
          </a:p>
        </p:txBody>
      </p:sp>
      <p:pic>
        <p:nvPicPr>
          <p:cNvPr id="4" name="Content Placeholder 3">
            <a:extLst>
              <a:ext uri="{FF2B5EF4-FFF2-40B4-BE49-F238E27FC236}">
                <a16:creationId xmlns:a16="http://schemas.microsoft.com/office/drawing/2014/main" id="{1FA990FA-9B9C-463D-8B47-7D4B386E604C}"/>
              </a:ext>
            </a:extLst>
          </p:cNvPr>
          <p:cNvPicPr>
            <a:picLocks noGrp="1" noChangeAspect="1"/>
          </p:cNvPicPr>
          <p:nvPr>
            <p:ph idx="1"/>
          </p:nvPr>
        </p:nvPicPr>
        <p:blipFill>
          <a:blip r:embed="rId2"/>
          <a:stretch>
            <a:fillRect/>
          </a:stretch>
        </p:blipFill>
        <p:spPr>
          <a:xfrm>
            <a:off x="1991853" y="1558911"/>
            <a:ext cx="9101859" cy="4579656"/>
          </a:xfrm>
          <a:prstGeom prst="rect">
            <a:avLst/>
          </a:prstGeom>
        </p:spPr>
      </p:pic>
    </p:spTree>
    <p:extLst>
      <p:ext uri="{BB962C8B-B14F-4D97-AF65-F5344CB8AC3E}">
        <p14:creationId xmlns:p14="http://schemas.microsoft.com/office/powerpoint/2010/main" val="26007101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58BFB5-22A8-4255-2494-BE7B955F66A2}"/>
              </a:ext>
            </a:extLst>
          </p:cNvPr>
          <p:cNvPicPr>
            <a:picLocks noChangeAspect="1"/>
          </p:cNvPicPr>
          <p:nvPr/>
        </p:nvPicPr>
        <p:blipFill>
          <a:blip r:embed="rId2"/>
          <a:stretch>
            <a:fillRect/>
          </a:stretch>
        </p:blipFill>
        <p:spPr>
          <a:xfrm>
            <a:off x="1310544" y="1805078"/>
            <a:ext cx="9207170" cy="2766921"/>
          </a:xfrm>
          <a:prstGeom prst="rect">
            <a:avLst/>
          </a:prstGeom>
        </p:spPr>
      </p:pic>
    </p:spTree>
    <p:extLst>
      <p:ext uri="{BB962C8B-B14F-4D97-AF65-F5344CB8AC3E}">
        <p14:creationId xmlns:p14="http://schemas.microsoft.com/office/powerpoint/2010/main" val="16071187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6E3F4B-CA79-0C74-73E1-5F94F45ECFC9}"/>
              </a:ext>
            </a:extLst>
          </p:cNvPr>
          <p:cNvPicPr>
            <a:picLocks noChangeAspect="1"/>
          </p:cNvPicPr>
          <p:nvPr/>
        </p:nvPicPr>
        <p:blipFill>
          <a:blip r:embed="rId2"/>
          <a:stretch>
            <a:fillRect/>
          </a:stretch>
        </p:blipFill>
        <p:spPr>
          <a:xfrm>
            <a:off x="1921015" y="1199427"/>
            <a:ext cx="8349969" cy="4459146"/>
          </a:xfrm>
          <a:prstGeom prst="rect">
            <a:avLst/>
          </a:prstGeom>
        </p:spPr>
      </p:pic>
    </p:spTree>
    <p:extLst>
      <p:ext uri="{BB962C8B-B14F-4D97-AF65-F5344CB8AC3E}">
        <p14:creationId xmlns:p14="http://schemas.microsoft.com/office/powerpoint/2010/main" val="1656085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1C12D9-ED65-C15E-6458-E699FFDCF899}"/>
              </a:ext>
            </a:extLst>
          </p:cNvPr>
          <p:cNvPicPr>
            <a:picLocks noChangeAspect="1"/>
          </p:cNvPicPr>
          <p:nvPr/>
        </p:nvPicPr>
        <p:blipFill>
          <a:blip r:embed="rId2"/>
          <a:stretch>
            <a:fillRect/>
          </a:stretch>
        </p:blipFill>
        <p:spPr>
          <a:xfrm>
            <a:off x="1053239" y="1228418"/>
            <a:ext cx="10544530" cy="3134860"/>
          </a:xfrm>
          <a:prstGeom prst="rect">
            <a:avLst/>
          </a:prstGeom>
        </p:spPr>
      </p:pic>
    </p:spTree>
    <p:extLst>
      <p:ext uri="{BB962C8B-B14F-4D97-AF65-F5344CB8AC3E}">
        <p14:creationId xmlns:p14="http://schemas.microsoft.com/office/powerpoint/2010/main" val="2007291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C753CF7-F088-CB59-9CBC-AF559C9A585E}"/>
              </a:ext>
            </a:extLst>
          </p:cNvPr>
          <p:cNvSpPr>
            <a:spLocks noGrp="1"/>
          </p:cNvSpPr>
          <p:nvPr>
            <p:ph type="body" idx="1"/>
          </p:nvPr>
        </p:nvSpPr>
        <p:spPr/>
        <p:txBody>
          <a:bodyPr/>
          <a:lstStyle/>
          <a:p>
            <a:pPr marL="0" indent="0">
              <a:buNone/>
            </a:pPr>
            <a:r>
              <a:rPr lang="en-US" dirty="0"/>
              <a:t>          Questions ????</a:t>
            </a:r>
            <a:endParaRPr lang="en-IN" dirty="0"/>
          </a:p>
        </p:txBody>
      </p:sp>
      <p:sp>
        <p:nvSpPr>
          <p:cNvPr id="3" name="Slide Number Placeholder 2">
            <a:extLst>
              <a:ext uri="{FF2B5EF4-FFF2-40B4-BE49-F238E27FC236}">
                <a16:creationId xmlns:a16="http://schemas.microsoft.com/office/drawing/2014/main" id="{A7E2A523-8334-8BD0-3C86-B36EEF4E28EE}"/>
              </a:ext>
            </a:extLst>
          </p:cNvPr>
          <p:cNvSpPr>
            <a:spLocks noGrp="1"/>
          </p:cNvSpPr>
          <p:nvPr>
            <p:ph type="sldNum" idx="12"/>
          </p:nvPr>
        </p:nvSpPr>
        <p:spPr/>
        <p:txBody>
          <a:bodyPr/>
          <a:lstStyle/>
          <a:p>
            <a:fld id="{00000000-1234-1234-1234-123412341234}" type="slidenum">
              <a:rPr lang="en" smtClean="0"/>
              <a:pPr/>
              <a:t>85</a:t>
            </a:fld>
            <a:endParaRPr lang="en"/>
          </a:p>
        </p:txBody>
      </p:sp>
    </p:spTree>
    <p:extLst>
      <p:ext uri="{BB962C8B-B14F-4D97-AF65-F5344CB8AC3E}">
        <p14:creationId xmlns:p14="http://schemas.microsoft.com/office/powerpoint/2010/main" val="13389039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0CCD8-3835-A7A6-7CCA-BCDB7CAC660F}"/>
              </a:ext>
            </a:extLst>
          </p:cNvPr>
          <p:cNvSpPr>
            <a:spLocks noGrp="1"/>
          </p:cNvSpPr>
          <p:nvPr>
            <p:ph type="title"/>
          </p:nvPr>
        </p:nvSpPr>
        <p:spPr/>
        <p:txBody>
          <a:bodyPr/>
          <a:lstStyle/>
          <a:p>
            <a:pPr algn="ctr"/>
            <a:r>
              <a:rPr lang="en-US" b="1" dirty="0"/>
              <a:t>What is AI in Finance?</a:t>
            </a:r>
            <a:endParaRPr lang="en-IN" b="1" dirty="0"/>
          </a:p>
        </p:txBody>
      </p:sp>
      <p:sp>
        <p:nvSpPr>
          <p:cNvPr id="3" name="Content Placeholder 2">
            <a:extLst>
              <a:ext uri="{FF2B5EF4-FFF2-40B4-BE49-F238E27FC236}">
                <a16:creationId xmlns:a16="http://schemas.microsoft.com/office/drawing/2014/main" id="{36EED6F0-CB5B-D859-2F07-1B5D3AF21CCF}"/>
              </a:ext>
            </a:extLst>
          </p:cNvPr>
          <p:cNvSpPr>
            <a:spLocks noGrp="1"/>
          </p:cNvSpPr>
          <p:nvPr>
            <p:ph idx="1"/>
          </p:nvPr>
        </p:nvSpPr>
        <p:spPr/>
        <p:txBody>
          <a:bodyPr>
            <a:normAutofit fontScale="92500"/>
          </a:bodyPr>
          <a:lstStyle/>
          <a:p>
            <a:pPr>
              <a:lnSpc>
                <a:spcPct val="150000"/>
              </a:lnSpc>
            </a:pPr>
            <a:r>
              <a:rPr lang="en-US" dirty="0"/>
              <a:t>Artificial Intelligence (AI) in finance means using machines and algorithms to analyze financial data, identify patterns, make predictions, and automate decisions that traditionally required human judgment.</a:t>
            </a:r>
          </a:p>
          <a:p>
            <a:pPr>
              <a:lnSpc>
                <a:spcPct val="150000"/>
              </a:lnSpc>
            </a:pPr>
            <a:r>
              <a:rPr lang="en-US" dirty="0"/>
              <a:t>Instead of manually analyzing spreadsheets or reports, AI systems can process millions of transactions, detect anomalies, predict risks, and support financial decision-making in real time.</a:t>
            </a:r>
          </a:p>
          <a:p>
            <a:pPr>
              <a:lnSpc>
                <a:spcPct val="150000"/>
              </a:lnSpc>
            </a:pPr>
            <a:endParaRPr lang="en-IN" dirty="0"/>
          </a:p>
        </p:txBody>
      </p:sp>
    </p:spTree>
    <p:extLst>
      <p:ext uri="{BB962C8B-B14F-4D97-AF65-F5344CB8AC3E}">
        <p14:creationId xmlns:p14="http://schemas.microsoft.com/office/powerpoint/2010/main" val="11128442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7FBD8-7D13-520B-E20B-43727103C5EB}"/>
              </a:ext>
            </a:extLst>
          </p:cNvPr>
          <p:cNvSpPr>
            <a:spLocks noGrp="1"/>
          </p:cNvSpPr>
          <p:nvPr>
            <p:ph type="title"/>
          </p:nvPr>
        </p:nvSpPr>
        <p:spPr/>
        <p:txBody>
          <a:bodyPr/>
          <a:lstStyle/>
          <a:p>
            <a:pPr algn="ctr"/>
            <a:r>
              <a:rPr lang="en-US" b="1" dirty="0"/>
              <a:t>Simple Example</a:t>
            </a:r>
            <a:br>
              <a:rPr lang="en-US" b="1" dirty="0"/>
            </a:br>
            <a:endParaRPr lang="en-IN" dirty="0"/>
          </a:p>
        </p:txBody>
      </p:sp>
      <p:sp>
        <p:nvSpPr>
          <p:cNvPr id="3" name="Content Placeholder 2">
            <a:extLst>
              <a:ext uri="{FF2B5EF4-FFF2-40B4-BE49-F238E27FC236}">
                <a16:creationId xmlns:a16="http://schemas.microsoft.com/office/drawing/2014/main" id="{B48C84A5-546C-931C-6CD9-BBC831E814F1}"/>
              </a:ext>
            </a:extLst>
          </p:cNvPr>
          <p:cNvSpPr>
            <a:spLocks noGrp="1"/>
          </p:cNvSpPr>
          <p:nvPr>
            <p:ph idx="1"/>
          </p:nvPr>
        </p:nvSpPr>
        <p:spPr/>
        <p:txBody>
          <a:bodyPr>
            <a:normAutofit lnSpcReduction="10000"/>
          </a:bodyPr>
          <a:lstStyle/>
          <a:p>
            <a:pPr>
              <a:lnSpc>
                <a:spcPct val="150000"/>
              </a:lnSpc>
            </a:pPr>
            <a:r>
              <a:rPr lang="en-US" dirty="0"/>
              <a:t>A finance analyst may review thousands of transactions to detect fraud.</a:t>
            </a:r>
          </a:p>
          <a:p>
            <a:pPr>
              <a:lnSpc>
                <a:spcPct val="150000"/>
              </a:lnSpc>
            </a:pPr>
            <a:r>
              <a:rPr lang="en-US" dirty="0"/>
              <a:t>AI can:</a:t>
            </a:r>
          </a:p>
          <a:p>
            <a:pPr>
              <a:lnSpc>
                <a:spcPct val="150000"/>
              </a:lnSpc>
              <a:buFont typeface="Wingdings" panose="05000000000000000000" pitchFamily="2" charset="2"/>
              <a:buChar char="q"/>
            </a:pPr>
            <a:r>
              <a:rPr lang="en-US" dirty="0"/>
              <a:t>Scan millions of transactions</a:t>
            </a:r>
          </a:p>
          <a:p>
            <a:pPr>
              <a:lnSpc>
                <a:spcPct val="150000"/>
              </a:lnSpc>
              <a:buFont typeface="Wingdings" panose="05000000000000000000" pitchFamily="2" charset="2"/>
              <a:buChar char="q"/>
            </a:pPr>
            <a:r>
              <a:rPr lang="en-US" dirty="0"/>
              <a:t>Identify unusual patterns</a:t>
            </a:r>
          </a:p>
          <a:p>
            <a:pPr>
              <a:lnSpc>
                <a:spcPct val="150000"/>
              </a:lnSpc>
              <a:buFont typeface="Wingdings" panose="05000000000000000000" pitchFamily="2" charset="2"/>
              <a:buChar char="q"/>
            </a:pPr>
            <a:r>
              <a:rPr lang="en-US" dirty="0"/>
              <a:t>Flag potential fraud within seconds</a:t>
            </a:r>
          </a:p>
          <a:p>
            <a:pPr>
              <a:lnSpc>
                <a:spcPct val="150000"/>
              </a:lnSpc>
            </a:pPr>
            <a:endParaRPr lang="en-IN" dirty="0"/>
          </a:p>
        </p:txBody>
      </p:sp>
    </p:spTree>
    <p:extLst>
      <p:ext uri="{BB962C8B-B14F-4D97-AF65-F5344CB8AC3E}">
        <p14:creationId xmlns:p14="http://schemas.microsoft.com/office/powerpoint/2010/main" val="22672280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2595-5B24-CE96-4FF0-43E54DF0FE3B}"/>
              </a:ext>
            </a:extLst>
          </p:cNvPr>
          <p:cNvSpPr>
            <a:spLocks noGrp="1"/>
          </p:cNvSpPr>
          <p:nvPr>
            <p:ph type="title"/>
          </p:nvPr>
        </p:nvSpPr>
        <p:spPr/>
        <p:txBody>
          <a:bodyPr/>
          <a:lstStyle/>
          <a:p>
            <a:pPr algn="ctr"/>
            <a:r>
              <a:rPr lang="en-IN" b="1" dirty="0"/>
              <a:t>Pattern Recognition</a:t>
            </a:r>
            <a:br>
              <a:rPr lang="en-IN" dirty="0"/>
            </a:br>
            <a:endParaRPr lang="en-IN" dirty="0"/>
          </a:p>
        </p:txBody>
      </p:sp>
      <p:sp>
        <p:nvSpPr>
          <p:cNvPr id="3" name="Content Placeholder 2">
            <a:extLst>
              <a:ext uri="{FF2B5EF4-FFF2-40B4-BE49-F238E27FC236}">
                <a16:creationId xmlns:a16="http://schemas.microsoft.com/office/drawing/2014/main" id="{8DFA6325-C7E2-A02D-AB71-4584EA22061E}"/>
              </a:ext>
            </a:extLst>
          </p:cNvPr>
          <p:cNvSpPr>
            <a:spLocks noGrp="1"/>
          </p:cNvSpPr>
          <p:nvPr>
            <p:ph idx="1"/>
          </p:nvPr>
        </p:nvSpPr>
        <p:spPr/>
        <p:txBody>
          <a:bodyPr>
            <a:normAutofit lnSpcReduction="10000"/>
          </a:bodyPr>
          <a:lstStyle/>
          <a:p>
            <a:pPr marL="0" indent="0">
              <a:lnSpc>
                <a:spcPct val="150000"/>
              </a:lnSpc>
              <a:buNone/>
            </a:pPr>
            <a:r>
              <a:rPr lang="en-IN" dirty="0"/>
              <a:t>AI finds hidden patterns in large datasets.</a:t>
            </a:r>
          </a:p>
          <a:p>
            <a:pPr>
              <a:lnSpc>
                <a:spcPct val="150000"/>
              </a:lnSpc>
            </a:pPr>
            <a:r>
              <a:rPr lang="en-IN" dirty="0"/>
              <a:t>Examples:</a:t>
            </a:r>
          </a:p>
          <a:p>
            <a:pPr>
              <a:lnSpc>
                <a:spcPct val="150000"/>
              </a:lnSpc>
            </a:pPr>
            <a:r>
              <a:rPr lang="en-IN" dirty="0"/>
              <a:t>Fraud detection</a:t>
            </a:r>
          </a:p>
          <a:p>
            <a:pPr>
              <a:lnSpc>
                <a:spcPct val="150000"/>
              </a:lnSpc>
            </a:pPr>
            <a:r>
              <a:rPr lang="en-IN" dirty="0"/>
              <a:t>Spending behavior analysis</a:t>
            </a:r>
          </a:p>
          <a:p>
            <a:pPr>
              <a:lnSpc>
                <a:spcPct val="150000"/>
              </a:lnSpc>
            </a:pPr>
            <a:r>
              <a:rPr lang="en-IN" dirty="0"/>
              <a:t>Market trends</a:t>
            </a:r>
          </a:p>
          <a:p>
            <a:pPr>
              <a:lnSpc>
                <a:spcPct val="150000"/>
              </a:lnSpc>
            </a:pPr>
            <a:r>
              <a:rPr lang="en-IN" dirty="0"/>
              <a:t>Supplier payment patterns</a:t>
            </a:r>
          </a:p>
          <a:p>
            <a:pPr>
              <a:lnSpc>
                <a:spcPct val="150000"/>
              </a:lnSpc>
            </a:pPr>
            <a:endParaRPr lang="en-IN" dirty="0"/>
          </a:p>
        </p:txBody>
      </p:sp>
    </p:spTree>
    <p:extLst>
      <p:ext uri="{BB962C8B-B14F-4D97-AF65-F5344CB8AC3E}">
        <p14:creationId xmlns:p14="http://schemas.microsoft.com/office/powerpoint/2010/main" val="359838447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ED43A-60A1-785B-CB78-1A16E7B9E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8F3EA3-8323-D5D3-3730-207A0838F51D}"/>
              </a:ext>
            </a:extLst>
          </p:cNvPr>
          <p:cNvSpPr>
            <a:spLocks noGrp="1"/>
          </p:cNvSpPr>
          <p:nvPr>
            <p:ph type="title"/>
          </p:nvPr>
        </p:nvSpPr>
        <p:spPr/>
        <p:txBody>
          <a:bodyPr/>
          <a:lstStyle/>
          <a:p>
            <a:pPr algn="ctr"/>
            <a:r>
              <a:rPr lang="en-IN" b="1" dirty="0"/>
              <a:t>Automation</a:t>
            </a:r>
            <a:br>
              <a:rPr lang="en-IN" dirty="0"/>
            </a:br>
            <a:endParaRPr lang="en-IN" dirty="0"/>
          </a:p>
        </p:txBody>
      </p:sp>
      <p:sp>
        <p:nvSpPr>
          <p:cNvPr id="3" name="Content Placeholder 2">
            <a:extLst>
              <a:ext uri="{FF2B5EF4-FFF2-40B4-BE49-F238E27FC236}">
                <a16:creationId xmlns:a16="http://schemas.microsoft.com/office/drawing/2014/main" id="{8E9E555A-7B3E-88EF-CBCF-7D1535D65A0B}"/>
              </a:ext>
            </a:extLst>
          </p:cNvPr>
          <p:cNvSpPr>
            <a:spLocks noGrp="1"/>
          </p:cNvSpPr>
          <p:nvPr>
            <p:ph idx="1"/>
          </p:nvPr>
        </p:nvSpPr>
        <p:spPr/>
        <p:txBody>
          <a:bodyPr>
            <a:normAutofit lnSpcReduction="10000"/>
          </a:bodyPr>
          <a:lstStyle/>
          <a:p>
            <a:pPr>
              <a:lnSpc>
                <a:spcPct val="150000"/>
              </a:lnSpc>
            </a:pPr>
            <a:r>
              <a:rPr lang="en-IN" dirty="0"/>
              <a:t>AI automates repetitive financial tasks.</a:t>
            </a:r>
          </a:p>
          <a:p>
            <a:pPr marL="0" indent="0" algn="ctr">
              <a:lnSpc>
                <a:spcPct val="150000"/>
              </a:lnSpc>
              <a:buNone/>
            </a:pPr>
            <a:r>
              <a:rPr lang="en-IN" u="sng" dirty="0"/>
              <a:t>Examples:</a:t>
            </a:r>
          </a:p>
          <a:p>
            <a:pPr>
              <a:lnSpc>
                <a:spcPct val="150000"/>
              </a:lnSpc>
            </a:pPr>
            <a:r>
              <a:rPr lang="en-IN" dirty="0"/>
              <a:t>Invoice processing</a:t>
            </a:r>
          </a:p>
          <a:p>
            <a:pPr>
              <a:lnSpc>
                <a:spcPct val="150000"/>
              </a:lnSpc>
            </a:pPr>
            <a:r>
              <a:rPr lang="en-IN" dirty="0"/>
              <a:t>Expense categorization</a:t>
            </a:r>
          </a:p>
          <a:p>
            <a:pPr>
              <a:lnSpc>
                <a:spcPct val="150000"/>
              </a:lnSpc>
            </a:pPr>
            <a:r>
              <a:rPr lang="en-IN" dirty="0"/>
              <a:t>Bank reconciliation</a:t>
            </a:r>
          </a:p>
          <a:p>
            <a:pPr>
              <a:lnSpc>
                <a:spcPct val="150000"/>
              </a:lnSpc>
            </a:pPr>
            <a:r>
              <a:rPr lang="en-IN" dirty="0"/>
              <a:t>Customer support</a:t>
            </a:r>
          </a:p>
          <a:p>
            <a:pPr>
              <a:lnSpc>
                <a:spcPct val="150000"/>
              </a:lnSpc>
            </a:pPr>
            <a:endParaRPr lang="en-IN" dirty="0"/>
          </a:p>
        </p:txBody>
      </p:sp>
    </p:spTree>
    <p:extLst>
      <p:ext uri="{BB962C8B-B14F-4D97-AF65-F5344CB8AC3E}">
        <p14:creationId xmlns:p14="http://schemas.microsoft.com/office/powerpoint/2010/main" val="232227306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B2DAA-8D6E-AD76-CA23-155FEE106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DFD6F5-8CEE-7F35-324B-A84D87627120}"/>
              </a:ext>
            </a:extLst>
          </p:cNvPr>
          <p:cNvSpPr>
            <a:spLocks noGrp="1"/>
          </p:cNvSpPr>
          <p:nvPr>
            <p:ph type="title"/>
          </p:nvPr>
        </p:nvSpPr>
        <p:spPr/>
        <p:txBody>
          <a:bodyPr/>
          <a:lstStyle/>
          <a:p>
            <a:pPr algn="ctr"/>
            <a:r>
              <a:rPr lang="en-US" b="1" dirty="0"/>
              <a:t>Decision Support</a:t>
            </a:r>
            <a:br>
              <a:rPr lang="en-US" dirty="0"/>
            </a:br>
            <a:endParaRPr lang="en-IN" dirty="0"/>
          </a:p>
        </p:txBody>
      </p:sp>
      <p:sp>
        <p:nvSpPr>
          <p:cNvPr id="3" name="Content Placeholder 2">
            <a:extLst>
              <a:ext uri="{FF2B5EF4-FFF2-40B4-BE49-F238E27FC236}">
                <a16:creationId xmlns:a16="http://schemas.microsoft.com/office/drawing/2014/main" id="{AA7AFD6A-0A03-A212-5C84-8714057531CD}"/>
              </a:ext>
            </a:extLst>
          </p:cNvPr>
          <p:cNvSpPr>
            <a:spLocks noGrp="1"/>
          </p:cNvSpPr>
          <p:nvPr>
            <p:ph idx="1"/>
          </p:nvPr>
        </p:nvSpPr>
        <p:spPr/>
        <p:txBody>
          <a:bodyPr>
            <a:normAutofit lnSpcReduction="10000"/>
          </a:bodyPr>
          <a:lstStyle/>
          <a:p>
            <a:pPr>
              <a:lnSpc>
                <a:spcPct val="150000"/>
              </a:lnSpc>
            </a:pPr>
            <a:r>
              <a:rPr lang="en-US" dirty="0"/>
              <a:t>AI supports financial decision-making.</a:t>
            </a:r>
          </a:p>
          <a:p>
            <a:pPr>
              <a:lnSpc>
                <a:spcPct val="150000"/>
              </a:lnSpc>
            </a:pPr>
            <a:r>
              <a:rPr lang="en-US" dirty="0"/>
              <a:t>Examples:</a:t>
            </a:r>
          </a:p>
          <a:p>
            <a:pPr>
              <a:lnSpc>
                <a:spcPct val="150000"/>
              </a:lnSpc>
            </a:pPr>
            <a:r>
              <a:rPr lang="en-US" dirty="0"/>
              <a:t>Should a loan be approved?</a:t>
            </a:r>
          </a:p>
          <a:p>
            <a:pPr>
              <a:lnSpc>
                <a:spcPct val="150000"/>
              </a:lnSpc>
            </a:pPr>
            <a:r>
              <a:rPr lang="en-US" dirty="0"/>
              <a:t>What credit limit should be offered?</a:t>
            </a:r>
          </a:p>
          <a:p>
            <a:pPr>
              <a:lnSpc>
                <a:spcPct val="150000"/>
              </a:lnSpc>
            </a:pPr>
            <a:r>
              <a:rPr lang="en-US" dirty="0"/>
              <a:t>Which customer is high risk?</a:t>
            </a:r>
          </a:p>
          <a:p>
            <a:pPr>
              <a:lnSpc>
                <a:spcPct val="150000"/>
              </a:lnSpc>
            </a:pPr>
            <a:r>
              <a:rPr lang="en-US" dirty="0"/>
              <a:t>AI does not replace humans, but augments decision-making.</a:t>
            </a:r>
          </a:p>
          <a:p>
            <a:pPr>
              <a:lnSpc>
                <a:spcPct val="150000"/>
              </a:lnSpc>
            </a:pPr>
            <a:endParaRPr lang="en-IN" dirty="0"/>
          </a:p>
        </p:txBody>
      </p:sp>
    </p:spTree>
    <p:extLst>
      <p:ext uri="{BB962C8B-B14F-4D97-AF65-F5344CB8AC3E}">
        <p14:creationId xmlns:p14="http://schemas.microsoft.com/office/powerpoint/2010/main" val="14799758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7D277-86A3-33BE-B420-A7BA29E955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4B0FF7-A216-8F4E-76EA-9BD6D00EA719}"/>
              </a:ext>
            </a:extLst>
          </p:cNvPr>
          <p:cNvSpPr>
            <a:spLocks noGrp="1"/>
          </p:cNvSpPr>
          <p:nvPr>
            <p:ph idx="1"/>
          </p:nvPr>
        </p:nvSpPr>
        <p:spPr>
          <a:xfrm>
            <a:off x="1083364" y="815009"/>
            <a:ext cx="10270435" cy="5361954"/>
          </a:xfrm>
        </p:spPr>
        <p:txBody>
          <a:bodyPr>
            <a:normAutofit/>
          </a:bodyPr>
          <a:lstStyle/>
          <a:p>
            <a:pPr marL="0" indent="0">
              <a:lnSpc>
                <a:spcPct val="150000"/>
              </a:lnSpc>
              <a:buNone/>
            </a:pPr>
            <a:r>
              <a:rPr lang="en-US" dirty="0"/>
              <a:t>AI-based systems evaluate many variables simultaneously, such as:</a:t>
            </a:r>
          </a:p>
          <a:p>
            <a:pPr>
              <a:lnSpc>
                <a:spcPct val="150000"/>
              </a:lnSpc>
            </a:pPr>
            <a:r>
              <a:rPr lang="en-US" dirty="0"/>
              <a:t>spending behavior</a:t>
            </a:r>
          </a:p>
          <a:p>
            <a:pPr>
              <a:lnSpc>
                <a:spcPct val="150000"/>
              </a:lnSpc>
            </a:pPr>
            <a:r>
              <a:rPr lang="en-US" dirty="0"/>
              <a:t>transaction history</a:t>
            </a:r>
          </a:p>
          <a:p>
            <a:pPr>
              <a:lnSpc>
                <a:spcPct val="150000"/>
              </a:lnSpc>
            </a:pPr>
            <a:r>
              <a:rPr lang="en-US" dirty="0"/>
              <a:t>employment pattern</a:t>
            </a:r>
          </a:p>
          <a:p>
            <a:pPr>
              <a:lnSpc>
                <a:spcPct val="150000"/>
              </a:lnSpc>
            </a:pPr>
            <a:r>
              <a:rPr lang="en-US" dirty="0"/>
              <a:t>repayment behavior</a:t>
            </a:r>
          </a:p>
          <a:p>
            <a:pPr>
              <a:lnSpc>
                <a:spcPct val="150000"/>
              </a:lnSpc>
            </a:pPr>
            <a:r>
              <a:rPr lang="en-US" dirty="0"/>
              <a:t>location patterns</a:t>
            </a:r>
          </a:p>
          <a:p>
            <a:pPr>
              <a:lnSpc>
                <a:spcPct val="150000"/>
              </a:lnSpc>
            </a:pPr>
            <a:endParaRPr lang="en-IN" dirty="0"/>
          </a:p>
        </p:txBody>
      </p:sp>
    </p:spTree>
    <p:extLst>
      <p:ext uri="{BB962C8B-B14F-4D97-AF65-F5344CB8AC3E}">
        <p14:creationId xmlns:p14="http://schemas.microsoft.com/office/powerpoint/2010/main" val="343346998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D9960-E7EA-D0D1-5133-BB31A8030E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94A8C8-D840-D889-AF52-4A5700E80D13}"/>
              </a:ext>
            </a:extLst>
          </p:cNvPr>
          <p:cNvSpPr>
            <a:spLocks noGrp="1"/>
          </p:cNvSpPr>
          <p:nvPr>
            <p:ph type="title"/>
          </p:nvPr>
        </p:nvSpPr>
        <p:spPr/>
        <p:txBody>
          <a:bodyPr/>
          <a:lstStyle/>
          <a:p>
            <a:pPr algn="ctr"/>
            <a:r>
              <a:rPr lang="en-US" b="1" dirty="0"/>
              <a:t>Key Changes in Financial Products</a:t>
            </a:r>
            <a:endParaRPr lang="en-IN" b="1" dirty="0"/>
          </a:p>
        </p:txBody>
      </p:sp>
      <p:sp>
        <p:nvSpPr>
          <p:cNvPr id="3" name="Content Placeholder 2">
            <a:extLst>
              <a:ext uri="{FF2B5EF4-FFF2-40B4-BE49-F238E27FC236}">
                <a16:creationId xmlns:a16="http://schemas.microsoft.com/office/drawing/2014/main" id="{4150B424-3F14-E10E-D035-273D272729ED}"/>
              </a:ext>
            </a:extLst>
          </p:cNvPr>
          <p:cNvSpPr>
            <a:spLocks noGrp="1"/>
          </p:cNvSpPr>
          <p:nvPr>
            <p:ph idx="1"/>
          </p:nvPr>
        </p:nvSpPr>
        <p:spPr/>
        <p:txBody>
          <a:bodyPr>
            <a:normAutofit fontScale="85000" lnSpcReduction="20000"/>
          </a:bodyPr>
          <a:lstStyle/>
          <a:p>
            <a:pPr>
              <a:lnSpc>
                <a:spcPct val="150000"/>
              </a:lnSpc>
            </a:pPr>
            <a:r>
              <a:rPr lang="en-US" dirty="0"/>
              <a:t>Personalized Financial Services</a:t>
            </a:r>
          </a:p>
          <a:p>
            <a:pPr>
              <a:lnSpc>
                <a:spcPct val="150000"/>
              </a:lnSpc>
            </a:pPr>
            <a:r>
              <a:rPr lang="en-US" dirty="0"/>
              <a:t>AI enables hyper-personalized financial experiences.</a:t>
            </a:r>
          </a:p>
          <a:p>
            <a:pPr>
              <a:lnSpc>
                <a:spcPct val="150000"/>
              </a:lnSpc>
            </a:pPr>
            <a:r>
              <a:rPr lang="en-US" dirty="0"/>
              <a:t>Examples:</a:t>
            </a:r>
          </a:p>
          <a:p>
            <a:pPr>
              <a:lnSpc>
                <a:spcPct val="150000"/>
              </a:lnSpc>
            </a:pPr>
            <a:r>
              <a:rPr lang="en-US" dirty="0"/>
              <a:t>Personalized credit limits</a:t>
            </a:r>
          </a:p>
          <a:p>
            <a:pPr>
              <a:lnSpc>
                <a:spcPct val="150000"/>
              </a:lnSpc>
            </a:pPr>
            <a:r>
              <a:rPr lang="en-US" dirty="0"/>
              <a:t>Customized loan offers</a:t>
            </a:r>
          </a:p>
          <a:p>
            <a:pPr>
              <a:lnSpc>
                <a:spcPct val="150000"/>
              </a:lnSpc>
            </a:pPr>
            <a:r>
              <a:rPr lang="en-US" dirty="0"/>
              <a:t>Smart investment recommendations</a:t>
            </a:r>
          </a:p>
          <a:p>
            <a:pPr>
              <a:lnSpc>
                <a:spcPct val="150000"/>
              </a:lnSpc>
            </a:pPr>
            <a:r>
              <a:rPr lang="en-US" dirty="0"/>
              <a:t>Tailored insurance plans</a:t>
            </a:r>
          </a:p>
          <a:p>
            <a:pPr>
              <a:lnSpc>
                <a:spcPct val="150000"/>
              </a:lnSpc>
            </a:pPr>
            <a:endParaRPr lang="en-IN" dirty="0"/>
          </a:p>
        </p:txBody>
      </p:sp>
    </p:spTree>
    <p:extLst>
      <p:ext uri="{BB962C8B-B14F-4D97-AF65-F5344CB8AC3E}">
        <p14:creationId xmlns:p14="http://schemas.microsoft.com/office/powerpoint/2010/main" val="96040502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22D9F-68E3-83BE-1CCC-FDBAE9CA5E6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9967B8-6AE6-E758-E580-2A402E5E2AE7}"/>
              </a:ext>
            </a:extLst>
          </p:cNvPr>
          <p:cNvSpPr>
            <a:spLocks noGrp="1"/>
          </p:cNvSpPr>
          <p:nvPr>
            <p:ph idx="1"/>
          </p:nvPr>
        </p:nvSpPr>
        <p:spPr>
          <a:xfrm>
            <a:off x="1013790" y="815009"/>
            <a:ext cx="10340009" cy="5361954"/>
          </a:xfrm>
        </p:spPr>
        <p:txBody>
          <a:bodyPr/>
          <a:lstStyle/>
          <a:p>
            <a:pPr>
              <a:lnSpc>
                <a:spcPct val="200000"/>
              </a:lnSpc>
            </a:pPr>
            <a:r>
              <a:rPr lang="en-US" dirty="0"/>
              <a:t>Example:</a:t>
            </a:r>
            <a:br>
              <a:rPr lang="en-US" dirty="0"/>
            </a:br>
            <a:r>
              <a:rPr lang="en-US" dirty="0"/>
              <a:t>A banking app suggests:</a:t>
            </a:r>
          </a:p>
          <a:p>
            <a:pPr>
              <a:lnSpc>
                <a:spcPct val="200000"/>
              </a:lnSpc>
            </a:pPr>
            <a:r>
              <a:rPr lang="en-US" dirty="0"/>
              <a:t>“You can save ₹8,000 this month”</a:t>
            </a:r>
          </a:p>
          <a:p>
            <a:pPr>
              <a:lnSpc>
                <a:spcPct val="200000"/>
              </a:lnSpc>
            </a:pPr>
            <a:r>
              <a:rPr lang="en-US" dirty="0"/>
              <a:t>“You may qualify for a home loan”</a:t>
            </a:r>
          </a:p>
          <a:p>
            <a:pPr>
              <a:lnSpc>
                <a:spcPct val="200000"/>
              </a:lnSpc>
            </a:pPr>
            <a:endParaRPr lang="en-IN" dirty="0"/>
          </a:p>
        </p:txBody>
      </p:sp>
    </p:spTree>
    <p:extLst>
      <p:ext uri="{BB962C8B-B14F-4D97-AF65-F5344CB8AC3E}">
        <p14:creationId xmlns:p14="http://schemas.microsoft.com/office/powerpoint/2010/main" val="190073628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58563-CADB-3E89-94A9-6BE79401B8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AC6EF0-4464-A1A3-940B-2A4383339691}"/>
              </a:ext>
            </a:extLst>
          </p:cNvPr>
          <p:cNvSpPr>
            <a:spLocks noGrp="1"/>
          </p:cNvSpPr>
          <p:nvPr>
            <p:ph type="title"/>
          </p:nvPr>
        </p:nvSpPr>
        <p:spPr/>
        <p:txBody>
          <a:bodyPr/>
          <a:lstStyle/>
          <a:p>
            <a:pPr algn="ctr"/>
            <a:r>
              <a:rPr lang="en-IN" b="1" dirty="0"/>
              <a:t>Real-Time Decision Making</a:t>
            </a:r>
          </a:p>
        </p:txBody>
      </p:sp>
      <p:sp>
        <p:nvSpPr>
          <p:cNvPr id="3" name="Content Placeholder 2">
            <a:extLst>
              <a:ext uri="{FF2B5EF4-FFF2-40B4-BE49-F238E27FC236}">
                <a16:creationId xmlns:a16="http://schemas.microsoft.com/office/drawing/2014/main" id="{B0CA7FB2-718F-FB0D-1AB4-D1540A4032D2}"/>
              </a:ext>
            </a:extLst>
          </p:cNvPr>
          <p:cNvSpPr>
            <a:spLocks noGrp="1"/>
          </p:cNvSpPr>
          <p:nvPr>
            <p:ph idx="1"/>
          </p:nvPr>
        </p:nvSpPr>
        <p:spPr/>
        <p:txBody>
          <a:bodyPr>
            <a:normAutofit fontScale="77500" lnSpcReduction="20000"/>
          </a:bodyPr>
          <a:lstStyle/>
          <a:p>
            <a:pPr>
              <a:lnSpc>
                <a:spcPct val="150000"/>
              </a:lnSpc>
            </a:pPr>
            <a:r>
              <a:rPr lang="en-US" dirty="0"/>
              <a:t>Earlier processes took days or weeks.</a:t>
            </a:r>
          </a:p>
          <a:p>
            <a:pPr>
              <a:lnSpc>
                <a:spcPct val="150000"/>
              </a:lnSpc>
            </a:pPr>
            <a:r>
              <a:rPr lang="en-US" dirty="0"/>
              <a:t>AI enables instant financial decisions.</a:t>
            </a:r>
          </a:p>
          <a:p>
            <a:pPr>
              <a:lnSpc>
                <a:spcPct val="150000"/>
              </a:lnSpc>
            </a:pPr>
            <a:r>
              <a:rPr lang="en-US" dirty="0"/>
              <a:t>Examples:</a:t>
            </a:r>
          </a:p>
          <a:p>
            <a:pPr>
              <a:lnSpc>
                <a:spcPct val="150000"/>
              </a:lnSpc>
            </a:pPr>
            <a:r>
              <a:rPr lang="en-US" dirty="0"/>
              <a:t>Instant loan approval</a:t>
            </a:r>
          </a:p>
          <a:p>
            <a:pPr>
              <a:lnSpc>
                <a:spcPct val="150000"/>
              </a:lnSpc>
            </a:pPr>
            <a:r>
              <a:rPr lang="en-US" dirty="0"/>
              <a:t>Real-time fraud detection</a:t>
            </a:r>
          </a:p>
          <a:p>
            <a:pPr>
              <a:lnSpc>
                <a:spcPct val="150000"/>
              </a:lnSpc>
            </a:pPr>
            <a:r>
              <a:rPr lang="en-US" dirty="0"/>
              <a:t>Instant payment risk scoring</a:t>
            </a:r>
          </a:p>
          <a:p>
            <a:pPr>
              <a:lnSpc>
                <a:spcPct val="150000"/>
              </a:lnSpc>
            </a:pPr>
            <a:r>
              <a:rPr lang="en-US" dirty="0"/>
              <a:t>Example:</a:t>
            </a:r>
            <a:br>
              <a:rPr lang="en-US" dirty="0"/>
            </a:br>
            <a:r>
              <a:rPr lang="en-US" dirty="0"/>
              <a:t>A credit card transaction is approved in milliseconds using AI risk scoring.</a:t>
            </a:r>
          </a:p>
          <a:p>
            <a:pPr>
              <a:lnSpc>
                <a:spcPct val="150000"/>
              </a:lnSpc>
            </a:pPr>
            <a:endParaRPr lang="en-IN" dirty="0"/>
          </a:p>
        </p:txBody>
      </p:sp>
    </p:spTree>
    <p:extLst>
      <p:ext uri="{BB962C8B-B14F-4D97-AF65-F5344CB8AC3E}">
        <p14:creationId xmlns:p14="http://schemas.microsoft.com/office/powerpoint/2010/main" val="312547444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C92E1-5A45-BF72-0C68-23D7F4644F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8CBAD8-3491-4389-4D09-94AEB218352D}"/>
              </a:ext>
            </a:extLst>
          </p:cNvPr>
          <p:cNvSpPr>
            <a:spLocks noGrp="1"/>
          </p:cNvSpPr>
          <p:nvPr>
            <p:ph type="title"/>
          </p:nvPr>
        </p:nvSpPr>
        <p:spPr/>
        <p:txBody>
          <a:bodyPr/>
          <a:lstStyle/>
          <a:p>
            <a:pPr algn="ctr"/>
            <a:r>
              <a:rPr lang="en-IN" b="1" dirty="0"/>
              <a:t>Smarter Risk Management</a:t>
            </a:r>
          </a:p>
        </p:txBody>
      </p:sp>
      <p:sp>
        <p:nvSpPr>
          <p:cNvPr id="3" name="Content Placeholder 2">
            <a:extLst>
              <a:ext uri="{FF2B5EF4-FFF2-40B4-BE49-F238E27FC236}">
                <a16:creationId xmlns:a16="http://schemas.microsoft.com/office/drawing/2014/main" id="{5576FB29-9B60-7C73-CB8C-666F429089D8}"/>
              </a:ext>
            </a:extLst>
          </p:cNvPr>
          <p:cNvSpPr>
            <a:spLocks noGrp="1"/>
          </p:cNvSpPr>
          <p:nvPr>
            <p:ph idx="1"/>
          </p:nvPr>
        </p:nvSpPr>
        <p:spPr/>
        <p:txBody>
          <a:bodyPr>
            <a:normAutofit/>
          </a:bodyPr>
          <a:lstStyle/>
          <a:p>
            <a:pPr>
              <a:lnSpc>
                <a:spcPct val="160000"/>
              </a:lnSpc>
            </a:pPr>
            <a:r>
              <a:rPr lang="en-IN" dirty="0"/>
              <a:t>AI evaluates risk more accurately than traditional methods.</a:t>
            </a:r>
          </a:p>
          <a:p>
            <a:pPr>
              <a:lnSpc>
                <a:spcPct val="160000"/>
              </a:lnSpc>
            </a:pPr>
            <a:r>
              <a:rPr lang="en-IN" dirty="0"/>
              <a:t>Examples:</a:t>
            </a:r>
          </a:p>
          <a:p>
            <a:pPr>
              <a:lnSpc>
                <a:spcPct val="160000"/>
              </a:lnSpc>
            </a:pPr>
            <a:r>
              <a:rPr lang="en-IN" dirty="0"/>
              <a:t>Predicting loan default</a:t>
            </a:r>
          </a:p>
          <a:p>
            <a:pPr>
              <a:lnSpc>
                <a:spcPct val="160000"/>
              </a:lnSpc>
            </a:pPr>
            <a:r>
              <a:rPr lang="en-IN" dirty="0"/>
              <a:t>Detecting suspicious transactions</a:t>
            </a:r>
          </a:p>
          <a:p>
            <a:pPr>
              <a:lnSpc>
                <a:spcPct val="160000"/>
              </a:lnSpc>
            </a:pPr>
            <a:r>
              <a:rPr lang="en-IN" dirty="0"/>
              <a:t>Monitoring portfolio risk</a:t>
            </a:r>
          </a:p>
          <a:p>
            <a:pPr>
              <a:lnSpc>
                <a:spcPct val="160000"/>
              </a:lnSpc>
            </a:pPr>
            <a:endParaRPr lang="en-IN" dirty="0"/>
          </a:p>
        </p:txBody>
      </p:sp>
    </p:spTree>
    <p:extLst>
      <p:ext uri="{BB962C8B-B14F-4D97-AF65-F5344CB8AC3E}">
        <p14:creationId xmlns:p14="http://schemas.microsoft.com/office/powerpoint/2010/main" val="70085676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81B90-488D-9EAE-9DCB-5C7B5CDA66A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8B16C0-2E14-8EEB-C378-C8A4102A66AF}"/>
              </a:ext>
            </a:extLst>
          </p:cNvPr>
          <p:cNvSpPr>
            <a:spLocks noGrp="1"/>
          </p:cNvSpPr>
          <p:nvPr>
            <p:ph idx="1"/>
          </p:nvPr>
        </p:nvSpPr>
        <p:spPr/>
        <p:txBody>
          <a:bodyPr/>
          <a:lstStyle/>
          <a:p>
            <a:pPr>
              <a:lnSpc>
                <a:spcPct val="160000"/>
              </a:lnSpc>
            </a:pPr>
            <a:r>
              <a:rPr lang="en-IN" dirty="0"/>
              <a:t>AI considers:</a:t>
            </a:r>
          </a:p>
          <a:p>
            <a:pPr>
              <a:lnSpc>
                <a:spcPct val="160000"/>
              </a:lnSpc>
            </a:pPr>
            <a:r>
              <a:rPr lang="en-IN" dirty="0"/>
              <a:t>transaction patterns</a:t>
            </a:r>
          </a:p>
          <a:p>
            <a:pPr>
              <a:lnSpc>
                <a:spcPct val="160000"/>
              </a:lnSpc>
            </a:pPr>
            <a:r>
              <a:rPr lang="en-IN" dirty="0"/>
              <a:t>behavioural signals</a:t>
            </a:r>
          </a:p>
          <a:p>
            <a:pPr>
              <a:lnSpc>
                <a:spcPct val="160000"/>
              </a:lnSpc>
            </a:pPr>
            <a:r>
              <a:rPr lang="en-IN" dirty="0"/>
              <a:t>macroeconomic indicators</a:t>
            </a:r>
          </a:p>
          <a:p>
            <a:endParaRPr lang="en-IN" dirty="0"/>
          </a:p>
        </p:txBody>
      </p:sp>
    </p:spTree>
    <p:extLst>
      <p:ext uri="{BB962C8B-B14F-4D97-AF65-F5344CB8AC3E}">
        <p14:creationId xmlns:p14="http://schemas.microsoft.com/office/powerpoint/2010/main" val="221832945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50A25-7617-F672-6F3E-295D4A6275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8960D-B032-7030-726D-622B7888F69F}"/>
              </a:ext>
            </a:extLst>
          </p:cNvPr>
          <p:cNvSpPr>
            <a:spLocks noGrp="1"/>
          </p:cNvSpPr>
          <p:nvPr>
            <p:ph type="title"/>
          </p:nvPr>
        </p:nvSpPr>
        <p:spPr/>
        <p:txBody>
          <a:bodyPr/>
          <a:lstStyle/>
          <a:p>
            <a:pPr algn="ctr"/>
            <a:r>
              <a:rPr lang="en-US" b="1" dirty="0"/>
              <a:t>Intelligent Automation</a:t>
            </a:r>
            <a:br>
              <a:rPr lang="en-US" b="1" dirty="0"/>
            </a:br>
            <a:endParaRPr lang="en-IN" dirty="0"/>
          </a:p>
        </p:txBody>
      </p:sp>
      <p:sp>
        <p:nvSpPr>
          <p:cNvPr id="3" name="Content Placeholder 2">
            <a:extLst>
              <a:ext uri="{FF2B5EF4-FFF2-40B4-BE49-F238E27FC236}">
                <a16:creationId xmlns:a16="http://schemas.microsoft.com/office/drawing/2014/main" id="{1CE9914E-DCBD-2F0D-02AB-08D46DBE917C}"/>
              </a:ext>
            </a:extLst>
          </p:cNvPr>
          <p:cNvSpPr>
            <a:spLocks noGrp="1"/>
          </p:cNvSpPr>
          <p:nvPr>
            <p:ph idx="1"/>
          </p:nvPr>
        </p:nvSpPr>
        <p:spPr/>
        <p:txBody>
          <a:bodyPr>
            <a:normAutofit lnSpcReduction="10000"/>
          </a:bodyPr>
          <a:lstStyle/>
          <a:p>
            <a:pPr>
              <a:lnSpc>
                <a:spcPct val="150000"/>
              </a:lnSpc>
            </a:pPr>
            <a:r>
              <a:rPr lang="en-US" dirty="0"/>
              <a:t>Many finance operations are now AI-assisted or automated.</a:t>
            </a:r>
          </a:p>
          <a:p>
            <a:pPr>
              <a:lnSpc>
                <a:spcPct val="150000"/>
              </a:lnSpc>
            </a:pPr>
            <a:r>
              <a:rPr lang="en-US" dirty="0"/>
              <a:t>Examples:</a:t>
            </a:r>
          </a:p>
          <a:p>
            <a:pPr>
              <a:lnSpc>
                <a:spcPct val="150000"/>
              </a:lnSpc>
            </a:pPr>
            <a:r>
              <a:rPr lang="en-US" dirty="0"/>
              <a:t>Automated invoice processing</a:t>
            </a:r>
          </a:p>
          <a:p>
            <a:pPr>
              <a:lnSpc>
                <a:spcPct val="150000"/>
              </a:lnSpc>
            </a:pPr>
            <a:r>
              <a:rPr lang="en-US" dirty="0"/>
              <a:t>Smart reconciliation</a:t>
            </a:r>
          </a:p>
          <a:p>
            <a:pPr>
              <a:lnSpc>
                <a:spcPct val="150000"/>
              </a:lnSpc>
            </a:pPr>
            <a:r>
              <a:rPr lang="en-US" dirty="0"/>
              <a:t>Contract analysis</a:t>
            </a:r>
          </a:p>
          <a:p>
            <a:pPr>
              <a:lnSpc>
                <a:spcPct val="150000"/>
              </a:lnSpc>
            </a:pPr>
            <a:r>
              <a:rPr lang="en-US" dirty="0"/>
              <a:t>Expense validation</a:t>
            </a:r>
          </a:p>
          <a:p>
            <a:pPr>
              <a:lnSpc>
                <a:spcPct val="150000"/>
              </a:lnSpc>
            </a:pPr>
            <a:endParaRPr lang="en-IN" dirty="0"/>
          </a:p>
        </p:txBody>
      </p:sp>
    </p:spTree>
    <p:extLst>
      <p:ext uri="{BB962C8B-B14F-4D97-AF65-F5344CB8AC3E}">
        <p14:creationId xmlns:p14="http://schemas.microsoft.com/office/powerpoint/2010/main" val="295698888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BAD9C-8381-8351-87B6-8AAB7B6F37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9810EE-BAF1-B664-57CE-71A1EAC650D8}"/>
              </a:ext>
            </a:extLst>
          </p:cNvPr>
          <p:cNvSpPr>
            <a:spLocks noGrp="1"/>
          </p:cNvSpPr>
          <p:nvPr>
            <p:ph idx="1"/>
          </p:nvPr>
        </p:nvSpPr>
        <p:spPr>
          <a:xfrm>
            <a:off x="815009" y="636104"/>
            <a:ext cx="10538791" cy="5540859"/>
          </a:xfrm>
        </p:spPr>
        <p:txBody>
          <a:bodyPr/>
          <a:lstStyle/>
          <a:p>
            <a:pPr marL="0" indent="0">
              <a:lnSpc>
                <a:spcPct val="150000"/>
              </a:lnSpc>
              <a:buNone/>
            </a:pPr>
            <a:r>
              <a:rPr lang="en-US" dirty="0"/>
              <a:t>This reduces:</a:t>
            </a:r>
          </a:p>
          <a:p>
            <a:pPr>
              <a:lnSpc>
                <a:spcPct val="150000"/>
              </a:lnSpc>
            </a:pPr>
            <a:r>
              <a:rPr lang="en-US" dirty="0"/>
              <a:t>manual effort</a:t>
            </a:r>
          </a:p>
          <a:p>
            <a:pPr>
              <a:lnSpc>
                <a:spcPct val="150000"/>
              </a:lnSpc>
            </a:pPr>
            <a:r>
              <a:rPr lang="en-US" dirty="0"/>
              <a:t>errors</a:t>
            </a:r>
          </a:p>
          <a:p>
            <a:pPr>
              <a:lnSpc>
                <a:spcPct val="150000"/>
              </a:lnSpc>
            </a:pPr>
            <a:r>
              <a:rPr lang="en-US" dirty="0"/>
              <a:t>processing time</a:t>
            </a:r>
          </a:p>
          <a:p>
            <a:pPr>
              <a:lnSpc>
                <a:spcPct val="150000"/>
              </a:lnSpc>
            </a:pPr>
            <a:endParaRPr lang="en-IN" dirty="0"/>
          </a:p>
        </p:txBody>
      </p:sp>
    </p:spTree>
    <p:extLst>
      <p:ext uri="{BB962C8B-B14F-4D97-AF65-F5344CB8AC3E}">
        <p14:creationId xmlns:p14="http://schemas.microsoft.com/office/powerpoint/2010/main" val="41461588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9832A-744B-BEA7-1E3A-5FAA6243A5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7EF8CE-4DD5-04EC-6AB7-509D76D5265A}"/>
              </a:ext>
            </a:extLst>
          </p:cNvPr>
          <p:cNvSpPr>
            <a:spLocks noGrp="1"/>
          </p:cNvSpPr>
          <p:nvPr>
            <p:ph type="title"/>
          </p:nvPr>
        </p:nvSpPr>
        <p:spPr/>
        <p:txBody>
          <a:bodyPr/>
          <a:lstStyle/>
          <a:p>
            <a:pPr algn="ctr"/>
            <a:r>
              <a:rPr lang="en-IN" b="1" dirty="0"/>
              <a:t>Proactive Financial Insights</a:t>
            </a:r>
          </a:p>
        </p:txBody>
      </p:sp>
      <p:sp>
        <p:nvSpPr>
          <p:cNvPr id="3" name="Content Placeholder 2">
            <a:extLst>
              <a:ext uri="{FF2B5EF4-FFF2-40B4-BE49-F238E27FC236}">
                <a16:creationId xmlns:a16="http://schemas.microsoft.com/office/drawing/2014/main" id="{1BF4D4E6-484A-420E-FCB4-C1956582D5AE}"/>
              </a:ext>
            </a:extLst>
          </p:cNvPr>
          <p:cNvSpPr>
            <a:spLocks noGrp="1"/>
          </p:cNvSpPr>
          <p:nvPr>
            <p:ph idx="1"/>
          </p:nvPr>
        </p:nvSpPr>
        <p:spPr/>
        <p:txBody>
          <a:bodyPr>
            <a:normAutofit fontScale="92500"/>
          </a:bodyPr>
          <a:lstStyle/>
          <a:p>
            <a:pPr>
              <a:lnSpc>
                <a:spcPct val="150000"/>
              </a:lnSpc>
            </a:pPr>
            <a:r>
              <a:rPr lang="en-US" dirty="0"/>
              <a:t>AI systems provide alerts and recommendations.</a:t>
            </a:r>
          </a:p>
          <a:p>
            <a:pPr>
              <a:lnSpc>
                <a:spcPct val="150000"/>
              </a:lnSpc>
            </a:pPr>
            <a:r>
              <a:rPr lang="en-US" dirty="0"/>
              <a:t>Examples:</a:t>
            </a:r>
          </a:p>
          <a:p>
            <a:pPr>
              <a:lnSpc>
                <a:spcPct val="150000"/>
              </a:lnSpc>
            </a:pPr>
            <a:r>
              <a:rPr lang="en-US" dirty="0"/>
              <a:t>“Cash flow may drop next month”</a:t>
            </a:r>
          </a:p>
          <a:p>
            <a:pPr>
              <a:lnSpc>
                <a:spcPct val="150000"/>
              </a:lnSpc>
            </a:pPr>
            <a:r>
              <a:rPr lang="en-US" dirty="0"/>
              <a:t>“Supplier payments are delayed”</a:t>
            </a:r>
          </a:p>
          <a:p>
            <a:pPr>
              <a:lnSpc>
                <a:spcPct val="150000"/>
              </a:lnSpc>
            </a:pPr>
            <a:r>
              <a:rPr lang="en-US" dirty="0"/>
              <a:t>“Customer payment risk increasing”</a:t>
            </a:r>
          </a:p>
          <a:p>
            <a:pPr>
              <a:lnSpc>
                <a:spcPct val="150000"/>
              </a:lnSpc>
            </a:pPr>
            <a:r>
              <a:rPr lang="en-US" dirty="0"/>
              <a:t>Finance teams move from reactive reporting to proactive decision-making.</a:t>
            </a:r>
          </a:p>
          <a:p>
            <a:pPr>
              <a:lnSpc>
                <a:spcPct val="150000"/>
              </a:lnSpc>
            </a:pPr>
            <a:endParaRPr lang="en-IN" dirty="0"/>
          </a:p>
        </p:txBody>
      </p:sp>
    </p:spTree>
    <p:extLst>
      <p:ext uri="{BB962C8B-B14F-4D97-AF65-F5344CB8AC3E}">
        <p14:creationId xmlns:p14="http://schemas.microsoft.com/office/powerpoint/2010/main" val="221997455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00843-903E-68BB-EF92-E93F0CC0AC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56722-B5AA-4950-3C99-A615BEEC723F}"/>
              </a:ext>
            </a:extLst>
          </p:cNvPr>
          <p:cNvSpPr>
            <a:spLocks noGrp="1"/>
          </p:cNvSpPr>
          <p:nvPr>
            <p:ph type="title"/>
          </p:nvPr>
        </p:nvSpPr>
        <p:spPr/>
        <p:txBody>
          <a:bodyPr/>
          <a:lstStyle/>
          <a:p>
            <a:pPr algn="ctr"/>
            <a:r>
              <a:rPr lang="en-US" b="1" dirty="0"/>
              <a:t>Role of an AI-Aware Finance Product Manager</a:t>
            </a:r>
            <a:endParaRPr lang="en-IN" b="1" dirty="0"/>
          </a:p>
        </p:txBody>
      </p:sp>
      <p:sp>
        <p:nvSpPr>
          <p:cNvPr id="3" name="Content Placeholder 2">
            <a:extLst>
              <a:ext uri="{FF2B5EF4-FFF2-40B4-BE49-F238E27FC236}">
                <a16:creationId xmlns:a16="http://schemas.microsoft.com/office/drawing/2014/main" id="{5941B9F2-868D-ABC5-3A11-55D869ECB3C6}"/>
              </a:ext>
            </a:extLst>
          </p:cNvPr>
          <p:cNvSpPr>
            <a:spLocks noGrp="1"/>
          </p:cNvSpPr>
          <p:nvPr>
            <p:ph idx="1"/>
          </p:nvPr>
        </p:nvSpPr>
        <p:spPr/>
        <p:txBody>
          <a:bodyPr/>
          <a:lstStyle/>
          <a:p>
            <a:pPr marL="0" indent="0">
              <a:buNone/>
            </a:pPr>
            <a:r>
              <a:rPr lang="en-US" dirty="0">
                <a:highlight>
                  <a:srgbClr val="FFFF00"/>
                </a:highlight>
              </a:rPr>
              <a:t>Finance Product Managers are responsible for building financial products that deliver business value.</a:t>
            </a:r>
          </a:p>
          <a:p>
            <a:r>
              <a:rPr lang="en-US" dirty="0"/>
              <a:t>With AI, their role expands.</a:t>
            </a:r>
          </a:p>
          <a:p>
            <a:r>
              <a:rPr lang="en-US" dirty="0"/>
              <a:t>They must understand:</a:t>
            </a:r>
          </a:p>
          <a:p>
            <a:r>
              <a:rPr lang="en-US" dirty="0"/>
              <a:t>where AI adds value</a:t>
            </a:r>
          </a:p>
          <a:p>
            <a:r>
              <a:rPr lang="en-US" dirty="0"/>
              <a:t>what problems AI should solve</a:t>
            </a:r>
          </a:p>
          <a:p>
            <a:r>
              <a:rPr lang="en-US" dirty="0"/>
              <a:t>risks of AI decisions</a:t>
            </a:r>
          </a:p>
          <a:p>
            <a:r>
              <a:rPr lang="en-US" dirty="0"/>
              <a:t>governance and compliance</a:t>
            </a:r>
          </a:p>
          <a:p>
            <a:endParaRPr lang="en-IN" dirty="0"/>
          </a:p>
        </p:txBody>
      </p:sp>
    </p:spTree>
    <p:extLst>
      <p:ext uri="{BB962C8B-B14F-4D97-AF65-F5344CB8AC3E}">
        <p14:creationId xmlns:p14="http://schemas.microsoft.com/office/powerpoint/2010/main" val="327014046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1C9EA-2C78-B2B4-013A-B40B39AB9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39455-74E0-B2AC-4501-C1C32948654F}"/>
              </a:ext>
            </a:extLst>
          </p:cNvPr>
          <p:cNvSpPr>
            <a:spLocks noGrp="1"/>
          </p:cNvSpPr>
          <p:nvPr>
            <p:ph type="title"/>
          </p:nvPr>
        </p:nvSpPr>
        <p:spPr/>
        <p:txBody>
          <a:bodyPr/>
          <a:lstStyle/>
          <a:p>
            <a:pPr algn="ctr"/>
            <a:r>
              <a:rPr lang="en-IN" b="1" dirty="0"/>
              <a:t>Key Responsibilities</a:t>
            </a:r>
          </a:p>
        </p:txBody>
      </p:sp>
      <p:sp>
        <p:nvSpPr>
          <p:cNvPr id="3" name="Content Placeholder 2">
            <a:extLst>
              <a:ext uri="{FF2B5EF4-FFF2-40B4-BE49-F238E27FC236}">
                <a16:creationId xmlns:a16="http://schemas.microsoft.com/office/drawing/2014/main" id="{AF5BA5F6-3E32-DD07-A928-E491BB211E88}"/>
              </a:ext>
            </a:extLst>
          </p:cNvPr>
          <p:cNvSpPr>
            <a:spLocks noGrp="1"/>
          </p:cNvSpPr>
          <p:nvPr>
            <p:ph idx="1"/>
          </p:nvPr>
        </p:nvSpPr>
        <p:spPr/>
        <p:txBody>
          <a:bodyPr/>
          <a:lstStyle/>
          <a:p>
            <a:pPr>
              <a:lnSpc>
                <a:spcPct val="150000"/>
              </a:lnSpc>
            </a:pPr>
            <a:r>
              <a:rPr lang="en-US" b="1" dirty="0"/>
              <a:t>Identify AI Opportunities</a:t>
            </a:r>
          </a:p>
          <a:p>
            <a:pPr>
              <a:lnSpc>
                <a:spcPct val="150000"/>
              </a:lnSpc>
            </a:pPr>
            <a:r>
              <a:rPr lang="en-US" dirty="0"/>
              <a:t>Example questions a PM should ask:</a:t>
            </a:r>
          </a:p>
          <a:p>
            <a:pPr>
              <a:lnSpc>
                <a:spcPct val="150000"/>
              </a:lnSpc>
            </a:pPr>
            <a:r>
              <a:rPr lang="en-US" dirty="0"/>
              <a:t>Can AI detect fraud earlier?</a:t>
            </a:r>
          </a:p>
          <a:p>
            <a:pPr>
              <a:lnSpc>
                <a:spcPct val="150000"/>
              </a:lnSpc>
            </a:pPr>
            <a:r>
              <a:rPr lang="en-US" dirty="0"/>
              <a:t>Can we automate reconciliation?</a:t>
            </a:r>
          </a:p>
          <a:p>
            <a:pPr>
              <a:lnSpc>
                <a:spcPct val="150000"/>
              </a:lnSpc>
            </a:pPr>
            <a:r>
              <a:rPr lang="en-US" dirty="0"/>
              <a:t>Can we predict payment delays?</a:t>
            </a:r>
          </a:p>
          <a:p>
            <a:pPr>
              <a:lnSpc>
                <a:spcPct val="150000"/>
              </a:lnSpc>
            </a:pPr>
            <a:endParaRPr lang="en-IN" dirty="0"/>
          </a:p>
        </p:txBody>
      </p:sp>
    </p:spTree>
    <p:extLst>
      <p:ext uri="{BB962C8B-B14F-4D97-AF65-F5344CB8AC3E}">
        <p14:creationId xmlns:p14="http://schemas.microsoft.com/office/powerpoint/2010/main" val="161102344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530B4-3079-0E12-C89C-FBA76CEA28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C10B62-16CA-9F9B-6A45-69D40A83C6F7}"/>
              </a:ext>
            </a:extLst>
          </p:cNvPr>
          <p:cNvSpPr>
            <a:spLocks noGrp="1"/>
          </p:cNvSpPr>
          <p:nvPr>
            <p:ph type="title"/>
          </p:nvPr>
        </p:nvSpPr>
        <p:spPr/>
        <p:txBody>
          <a:bodyPr/>
          <a:lstStyle/>
          <a:p>
            <a:pPr algn="ctr"/>
            <a:r>
              <a:rPr lang="en-IN" b="1" dirty="0"/>
              <a:t>Key Responsibilities</a:t>
            </a:r>
          </a:p>
        </p:txBody>
      </p:sp>
      <p:sp>
        <p:nvSpPr>
          <p:cNvPr id="3" name="Content Placeholder 2">
            <a:extLst>
              <a:ext uri="{FF2B5EF4-FFF2-40B4-BE49-F238E27FC236}">
                <a16:creationId xmlns:a16="http://schemas.microsoft.com/office/drawing/2014/main" id="{BE57095E-C42B-45A6-055C-D912024ED667}"/>
              </a:ext>
            </a:extLst>
          </p:cNvPr>
          <p:cNvSpPr>
            <a:spLocks noGrp="1"/>
          </p:cNvSpPr>
          <p:nvPr>
            <p:ph idx="1"/>
          </p:nvPr>
        </p:nvSpPr>
        <p:spPr/>
        <p:txBody>
          <a:bodyPr/>
          <a:lstStyle/>
          <a:p>
            <a:r>
              <a:rPr lang="en-US" b="1" dirty="0"/>
              <a:t>Define the Right Problem</a:t>
            </a:r>
          </a:p>
          <a:p>
            <a:r>
              <a:rPr lang="en-US" dirty="0"/>
              <a:t>Not every problem needs AI.</a:t>
            </a:r>
          </a:p>
          <a:p>
            <a:r>
              <a:rPr lang="en-US" dirty="0"/>
              <a:t>Example:</a:t>
            </a:r>
          </a:p>
          <a:p>
            <a:r>
              <a:rPr lang="en-US" dirty="0"/>
              <a:t>Bad problem:</a:t>
            </a:r>
            <a:br>
              <a:rPr lang="en-US" dirty="0"/>
            </a:br>
            <a:r>
              <a:rPr lang="en-US" dirty="0"/>
              <a:t>“Use AI for accounts payable”</a:t>
            </a:r>
          </a:p>
          <a:p>
            <a:r>
              <a:rPr lang="en-US" dirty="0"/>
              <a:t>Good problem:</a:t>
            </a:r>
            <a:br>
              <a:rPr lang="en-US" dirty="0"/>
            </a:br>
            <a:r>
              <a:rPr lang="en-US" dirty="0"/>
              <a:t>“Use AI to predict late supplier payments”</a:t>
            </a:r>
          </a:p>
          <a:p>
            <a:endParaRPr lang="en-IN" dirty="0"/>
          </a:p>
        </p:txBody>
      </p:sp>
    </p:spTree>
    <p:extLst>
      <p:ext uri="{BB962C8B-B14F-4D97-AF65-F5344CB8AC3E}">
        <p14:creationId xmlns:p14="http://schemas.microsoft.com/office/powerpoint/2010/main" val="349598148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7AD80-8CBC-922C-8136-14F565A37B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8062D-F128-E30F-46B9-D0E9CEFFE8CB}"/>
              </a:ext>
            </a:extLst>
          </p:cNvPr>
          <p:cNvSpPr>
            <a:spLocks noGrp="1"/>
          </p:cNvSpPr>
          <p:nvPr>
            <p:ph type="title"/>
          </p:nvPr>
        </p:nvSpPr>
        <p:spPr/>
        <p:txBody>
          <a:bodyPr/>
          <a:lstStyle/>
          <a:p>
            <a:pPr algn="ctr"/>
            <a:r>
              <a:rPr lang="en-IN" b="1" dirty="0"/>
              <a:t>Key Responsibilities</a:t>
            </a:r>
          </a:p>
        </p:txBody>
      </p:sp>
      <p:sp>
        <p:nvSpPr>
          <p:cNvPr id="3" name="Content Placeholder 2">
            <a:extLst>
              <a:ext uri="{FF2B5EF4-FFF2-40B4-BE49-F238E27FC236}">
                <a16:creationId xmlns:a16="http://schemas.microsoft.com/office/drawing/2014/main" id="{359A38F6-FCB0-8221-B6E1-01D66BDEE896}"/>
              </a:ext>
            </a:extLst>
          </p:cNvPr>
          <p:cNvSpPr>
            <a:spLocks noGrp="1"/>
          </p:cNvSpPr>
          <p:nvPr>
            <p:ph idx="1"/>
          </p:nvPr>
        </p:nvSpPr>
        <p:spPr/>
        <p:txBody>
          <a:bodyPr>
            <a:normAutofit lnSpcReduction="10000"/>
          </a:bodyPr>
          <a:lstStyle/>
          <a:p>
            <a:r>
              <a:rPr lang="en-US" b="1" dirty="0"/>
              <a:t>3. Work with Data Teams</a:t>
            </a:r>
          </a:p>
          <a:p>
            <a:r>
              <a:rPr lang="en-US" dirty="0"/>
              <a:t>PMs collaborate with:</a:t>
            </a:r>
          </a:p>
          <a:p>
            <a:r>
              <a:rPr lang="en-US" dirty="0"/>
              <a:t>data scientists</a:t>
            </a:r>
          </a:p>
          <a:p>
            <a:r>
              <a:rPr lang="en-US" dirty="0"/>
              <a:t>engineers</a:t>
            </a:r>
          </a:p>
          <a:p>
            <a:r>
              <a:rPr lang="en-US" dirty="0"/>
              <a:t>compliance teams</a:t>
            </a:r>
          </a:p>
          <a:p>
            <a:r>
              <a:rPr lang="en-US" dirty="0"/>
              <a:t>They translate business needs into </a:t>
            </a:r>
            <a:r>
              <a:rPr lang="en-US" b="1" dirty="0"/>
              <a:t>data-driven features</a:t>
            </a:r>
            <a:r>
              <a:rPr lang="en-US" dirty="0"/>
              <a:t>.</a:t>
            </a:r>
          </a:p>
          <a:p>
            <a:r>
              <a:rPr lang="en-US" dirty="0"/>
              <a:t>Example:</a:t>
            </a:r>
          </a:p>
          <a:p>
            <a:r>
              <a:rPr lang="en-US" dirty="0"/>
              <a:t>Business Need → Reduce loan defaults</a:t>
            </a:r>
            <a:br>
              <a:rPr lang="en-US" dirty="0"/>
            </a:br>
            <a:r>
              <a:rPr lang="en-US" dirty="0"/>
              <a:t>AI Feature → Loan risk prediction model</a:t>
            </a:r>
          </a:p>
          <a:p>
            <a:endParaRPr lang="en-IN" dirty="0"/>
          </a:p>
        </p:txBody>
      </p:sp>
    </p:spTree>
    <p:extLst>
      <p:ext uri="{BB962C8B-B14F-4D97-AF65-F5344CB8AC3E}">
        <p14:creationId xmlns:p14="http://schemas.microsoft.com/office/powerpoint/2010/main" val="246893651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C216F-3615-9F38-3337-0A13BB42D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ECBA8A-8C69-DB8B-E028-FEA5D4AB7F33}"/>
              </a:ext>
            </a:extLst>
          </p:cNvPr>
          <p:cNvSpPr>
            <a:spLocks noGrp="1"/>
          </p:cNvSpPr>
          <p:nvPr>
            <p:ph type="title"/>
          </p:nvPr>
        </p:nvSpPr>
        <p:spPr/>
        <p:txBody>
          <a:bodyPr/>
          <a:lstStyle/>
          <a:p>
            <a:pPr algn="ctr"/>
            <a:r>
              <a:rPr lang="en-IN" b="1" dirty="0"/>
              <a:t>Key Responsibilities</a:t>
            </a:r>
          </a:p>
        </p:txBody>
      </p:sp>
      <p:sp>
        <p:nvSpPr>
          <p:cNvPr id="3" name="Content Placeholder 2">
            <a:extLst>
              <a:ext uri="{FF2B5EF4-FFF2-40B4-BE49-F238E27FC236}">
                <a16:creationId xmlns:a16="http://schemas.microsoft.com/office/drawing/2014/main" id="{9B2C1E61-CCB9-FB13-D4E7-C4EFE3FF6545}"/>
              </a:ext>
            </a:extLst>
          </p:cNvPr>
          <p:cNvSpPr>
            <a:spLocks noGrp="1"/>
          </p:cNvSpPr>
          <p:nvPr>
            <p:ph idx="1"/>
          </p:nvPr>
        </p:nvSpPr>
        <p:spPr/>
        <p:txBody>
          <a:bodyPr>
            <a:normAutofit/>
          </a:bodyPr>
          <a:lstStyle/>
          <a:p>
            <a:r>
              <a:rPr lang="en-US" b="1" dirty="0"/>
              <a:t>Evaluate AI Performance</a:t>
            </a:r>
          </a:p>
          <a:p>
            <a:r>
              <a:rPr lang="en-US" dirty="0"/>
              <a:t>PMs must track:</a:t>
            </a:r>
          </a:p>
          <a:p>
            <a:r>
              <a:rPr lang="en-US" dirty="0"/>
              <a:t>accuracy</a:t>
            </a:r>
          </a:p>
          <a:p>
            <a:r>
              <a:rPr lang="en-US" dirty="0"/>
              <a:t>fairness</a:t>
            </a:r>
          </a:p>
          <a:p>
            <a:r>
              <a:rPr lang="en-US" dirty="0"/>
              <a:t>reliability</a:t>
            </a:r>
          </a:p>
          <a:p>
            <a:r>
              <a:rPr lang="en-US" dirty="0"/>
              <a:t>business impact</a:t>
            </a:r>
          </a:p>
          <a:p>
            <a:endParaRPr lang="en-IN" dirty="0"/>
          </a:p>
        </p:txBody>
      </p:sp>
    </p:spTree>
    <p:extLst>
      <p:ext uri="{BB962C8B-B14F-4D97-AF65-F5344CB8AC3E}">
        <p14:creationId xmlns:p14="http://schemas.microsoft.com/office/powerpoint/2010/main" val="90022434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B01C-F4B6-1355-D849-A6230C4EB5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25784-57B1-3B60-66E0-2D2FF576FF27}"/>
              </a:ext>
            </a:extLst>
          </p:cNvPr>
          <p:cNvSpPr>
            <a:spLocks noGrp="1"/>
          </p:cNvSpPr>
          <p:nvPr>
            <p:ph type="title"/>
          </p:nvPr>
        </p:nvSpPr>
        <p:spPr/>
        <p:txBody>
          <a:bodyPr/>
          <a:lstStyle/>
          <a:p>
            <a:pPr algn="ctr"/>
            <a:r>
              <a:rPr lang="en-IN" b="1" dirty="0"/>
              <a:t>Key Responsibilities</a:t>
            </a:r>
          </a:p>
        </p:txBody>
      </p:sp>
      <p:sp>
        <p:nvSpPr>
          <p:cNvPr id="3" name="Content Placeholder 2">
            <a:extLst>
              <a:ext uri="{FF2B5EF4-FFF2-40B4-BE49-F238E27FC236}">
                <a16:creationId xmlns:a16="http://schemas.microsoft.com/office/drawing/2014/main" id="{C35BC5BC-249B-0497-68D5-D6F01103CDA3}"/>
              </a:ext>
            </a:extLst>
          </p:cNvPr>
          <p:cNvSpPr>
            <a:spLocks noGrp="1"/>
          </p:cNvSpPr>
          <p:nvPr>
            <p:ph idx="1"/>
          </p:nvPr>
        </p:nvSpPr>
        <p:spPr/>
        <p:txBody>
          <a:bodyPr/>
          <a:lstStyle/>
          <a:p>
            <a:r>
              <a:rPr lang="en-US" dirty="0"/>
              <a:t>Example metrics:</a:t>
            </a:r>
          </a:p>
          <a:p>
            <a:r>
              <a:rPr lang="en-US" dirty="0"/>
              <a:t>fraud detection rate</a:t>
            </a:r>
          </a:p>
          <a:p>
            <a:r>
              <a:rPr lang="en-US" dirty="0"/>
              <a:t>reduction in manual review</a:t>
            </a:r>
          </a:p>
          <a:p>
            <a:r>
              <a:rPr lang="en-US" dirty="0"/>
              <a:t>improvement in approval time</a:t>
            </a:r>
          </a:p>
          <a:p>
            <a:endParaRPr lang="en-IN" dirty="0"/>
          </a:p>
        </p:txBody>
      </p:sp>
    </p:spTree>
    <p:extLst>
      <p:ext uri="{BB962C8B-B14F-4D97-AF65-F5344CB8AC3E}">
        <p14:creationId xmlns:p14="http://schemas.microsoft.com/office/powerpoint/2010/main" val="274296500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3B9DE-D6BE-079C-7C67-92933CB581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13D9FF-584A-F2E7-303A-27162D741235}"/>
              </a:ext>
            </a:extLst>
          </p:cNvPr>
          <p:cNvSpPr>
            <a:spLocks noGrp="1"/>
          </p:cNvSpPr>
          <p:nvPr>
            <p:ph type="title"/>
          </p:nvPr>
        </p:nvSpPr>
        <p:spPr/>
        <p:txBody>
          <a:bodyPr/>
          <a:lstStyle/>
          <a:p>
            <a:pPr algn="ctr"/>
            <a:r>
              <a:rPr lang="en-IN" b="1" dirty="0"/>
              <a:t>Key Responsibilities</a:t>
            </a:r>
          </a:p>
        </p:txBody>
      </p:sp>
      <p:sp>
        <p:nvSpPr>
          <p:cNvPr id="3" name="Content Placeholder 2">
            <a:extLst>
              <a:ext uri="{FF2B5EF4-FFF2-40B4-BE49-F238E27FC236}">
                <a16:creationId xmlns:a16="http://schemas.microsoft.com/office/drawing/2014/main" id="{4A7E30D6-27C8-05CA-5797-E1CD4282D45E}"/>
              </a:ext>
            </a:extLst>
          </p:cNvPr>
          <p:cNvSpPr>
            <a:spLocks noGrp="1"/>
          </p:cNvSpPr>
          <p:nvPr>
            <p:ph idx="1"/>
          </p:nvPr>
        </p:nvSpPr>
        <p:spPr/>
        <p:txBody>
          <a:bodyPr>
            <a:normAutofit lnSpcReduction="10000"/>
          </a:bodyPr>
          <a:lstStyle/>
          <a:p>
            <a:r>
              <a:rPr lang="en-US" b="1" dirty="0"/>
              <a:t>Ensure Responsible AI</a:t>
            </a:r>
          </a:p>
          <a:p>
            <a:r>
              <a:rPr lang="en-US" dirty="0"/>
              <a:t>Finance is highly regulated.</a:t>
            </a:r>
          </a:p>
          <a:p>
            <a:r>
              <a:rPr lang="en-US" dirty="0"/>
              <a:t>PMs must ensure:</a:t>
            </a:r>
          </a:p>
          <a:p>
            <a:r>
              <a:rPr lang="en-US" dirty="0"/>
              <a:t>fairness</a:t>
            </a:r>
          </a:p>
          <a:p>
            <a:r>
              <a:rPr lang="en-US" dirty="0"/>
              <a:t>transparency</a:t>
            </a:r>
          </a:p>
          <a:p>
            <a:r>
              <a:rPr lang="en-US" dirty="0"/>
              <a:t>explainability</a:t>
            </a:r>
          </a:p>
          <a:p>
            <a:r>
              <a:rPr lang="en-US" dirty="0"/>
              <a:t>compliance</a:t>
            </a:r>
          </a:p>
          <a:p>
            <a:r>
              <a:rPr lang="en-US" dirty="0"/>
              <a:t>Example:</a:t>
            </a:r>
            <a:br>
              <a:rPr lang="en-US" dirty="0"/>
            </a:br>
            <a:r>
              <a:rPr lang="en-US" dirty="0"/>
              <a:t>A bank must explain </a:t>
            </a:r>
            <a:r>
              <a:rPr lang="en-US" b="1" dirty="0"/>
              <a:t>why a loan was rejected</a:t>
            </a:r>
            <a:r>
              <a:rPr lang="en-US" dirty="0"/>
              <a:t>.</a:t>
            </a:r>
          </a:p>
          <a:p>
            <a:endParaRPr lang="en-IN" dirty="0"/>
          </a:p>
        </p:txBody>
      </p:sp>
    </p:spTree>
    <p:extLst>
      <p:ext uri="{BB962C8B-B14F-4D97-AF65-F5344CB8AC3E}">
        <p14:creationId xmlns:p14="http://schemas.microsoft.com/office/powerpoint/2010/main" val="219687764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51345-7EFB-E728-A637-A80242E007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EAF23-2647-A461-6776-3D0B4ADCED9D}"/>
              </a:ext>
            </a:extLst>
          </p:cNvPr>
          <p:cNvSpPr>
            <a:spLocks noGrp="1"/>
          </p:cNvSpPr>
          <p:nvPr>
            <p:ph type="title"/>
          </p:nvPr>
        </p:nvSpPr>
        <p:spPr/>
        <p:txBody>
          <a:bodyPr/>
          <a:lstStyle/>
          <a:p>
            <a:pPr algn="ctr"/>
            <a:r>
              <a:rPr lang="en-US" b="1" dirty="0"/>
              <a:t>How AI Impacts Key Finance Functions</a:t>
            </a:r>
            <a:endParaRPr lang="en-IN" b="1" dirty="0"/>
          </a:p>
        </p:txBody>
      </p:sp>
      <p:sp>
        <p:nvSpPr>
          <p:cNvPr id="3" name="Content Placeholder 2">
            <a:extLst>
              <a:ext uri="{FF2B5EF4-FFF2-40B4-BE49-F238E27FC236}">
                <a16:creationId xmlns:a16="http://schemas.microsoft.com/office/drawing/2014/main" id="{2E1E5D56-BDAB-3B07-1176-8F7E46A9DD72}"/>
              </a:ext>
            </a:extLst>
          </p:cNvPr>
          <p:cNvSpPr>
            <a:spLocks noGrp="1"/>
          </p:cNvSpPr>
          <p:nvPr>
            <p:ph idx="1"/>
          </p:nvPr>
        </p:nvSpPr>
        <p:spPr/>
        <p:txBody>
          <a:bodyPr>
            <a:normAutofit fontScale="85000" lnSpcReduction="20000"/>
          </a:bodyPr>
          <a:lstStyle/>
          <a:p>
            <a:r>
              <a:rPr lang="en-US" dirty="0"/>
              <a:t>AI affects multiple financial areas.</a:t>
            </a:r>
          </a:p>
          <a:p>
            <a:pPr marL="0" indent="0">
              <a:buNone/>
            </a:pPr>
            <a:endParaRPr lang="en-US" dirty="0"/>
          </a:p>
          <a:p>
            <a:r>
              <a:rPr lang="en-US" dirty="0"/>
              <a:t>Credit &amp; Lending</a:t>
            </a:r>
          </a:p>
          <a:p>
            <a:r>
              <a:rPr lang="en-US" dirty="0"/>
              <a:t>AI helps evaluate borrower risk more accurately.</a:t>
            </a:r>
          </a:p>
          <a:p>
            <a:r>
              <a:rPr lang="en-US" dirty="0"/>
              <a:t>Applications:</a:t>
            </a:r>
          </a:p>
          <a:p>
            <a:r>
              <a:rPr lang="en-US" dirty="0"/>
              <a:t>credit scoring</a:t>
            </a:r>
          </a:p>
          <a:p>
            <a:r>
              <a:rPr lang="en-US" dirty="0"/>
              <a:t>loan approval</a:t>
            </a:r>
          </a:p>
          <a:p>
            <a:r>
              <a:rPr lang="en-US" dirty="0"/>
              <a:t>default prediction</a:t>
            </a:r>
          </a:p>
          <a:p>
            <a:r>
              <a:rPr lang="en-US" dirty="0"/>
              <a:t>credit limit optimization</a:t>
            </a:r>
          </a:p>
          <a:p>
            <a:r>
              <a:rPr lang="en-US" dirty="0"/>
              <a:t>Example:</a:t>
            </a:r>
            <a:br>
              <a:rPr lang="en-US" dirty="0"/>
            </a:br>
            <a:r>
              <a:rPr lang="en-US" dirty="0"/>
              <a:t>AI predicts which borrowers are likely to miss payments.</a:t>
            </a:r>
          </a:p>
          <a:p>
            <a:endParaRPr lang="en-IN" dirty="0"/>
          </a:p>
        </p:txBody>
      </p:sp>
    </p:spTree>
    <p:extLst>
      <p:ext uri="{BB962C8B-B14F-4D97-AF65-F5344CB8AC3E}">
        <p14:creationId xmlns:p14="http://schemas.microsoft.com/office/powerpoint/2010/main" val="376330109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2611D-D51E-70ED-8763-93DA41FF86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104794-2352-0FF7-CE5A-0E29433B48D9}"/>
              </a:ext>
            </a:extLst>
          </p:cNvPr>
          <p:cNvSpPr>
            <a:spLocks noGrp="1"/>
          </p:cNvSpPr>
          <p:nvPr>
            <p:ph type="title"/>
          </p:nvPr>
        </p:nvSpPr>
        <p:spPr/>
        <p:txBody>
          <a:bodyPr/>
          <a:lstStyle/>
          <a:p>
            <a:pPr algn="ctr"/>
            <a:r>
              <a:rPr lang="en-IN" b="1" dirty="0"/>
              <a:t>Payments</a:t>
            </a:r>
          </a:p>
        </p:txBody>
      </p:sp>
      <p:sp>
        <p:nvSpPr>
          <p:cNvPr id="3" name="Content Placeholder 2">
            <a:extLst>
              <a:ext uri="{FF2B5EF4-FFF2-40B4-BE49-F238E27FC236}">
                <a16:creationId xmlns:a16="http://schemas.microsoft.com/office/drawing/2014/main" id="{82A86E04-515F-E91A-7F9F-7531BCC3FFA9}"/>
              </a:ext>
            </a:extLst>
          </p:cNvPr>
          <p:cNvSpPr>
            <a:spLocks noGrp="1"/>
          </p:cNvSpPr>
          <p:nvPr>
            <p:ph idx="1"/>
          </p:nvPr>
        </p:nvSpPr>
        <p:spPr/>
        <p:txBody>
          <a:bodyPr/>
          <a:lstStyle/>
          <a:p>
            <a:r>
              <a:rPr lang="en-US" dirty="0"/>
              <a:t>AI improves payment processing and fraud detection.</a:t>
            </a:r>
          </a:p>
          <a:p>
            <a:r>
              <a:rPr lang="en-US" dirty="0"/>
              <a:t>Applications:</a:t>
            </a:r>
          </a:p>
          <a:p>
            <a:r>
              <a:rPr lang="en-US" dirty="0"/>
              <a:t>transaction monitoring</a:t>
            </a:r>
          </a:p>
          <a:p>
            <a:r>
              <a:rPr lang="en-US" dirty="0"/>
              <a:t>payment authentication</a:t>
            </a:r>
          </a:p>
          <a:p>
            <a:r>
              <a:rPr lang="en-US" dirty="0"/>
              <a:t>anomaly detection</a:t>
            </a:r>
          </a:p>
          <a:p>
            <a:r>
              <a:rPr lang="en-US" dirty="0"/>
              <a:t>Example:</a:t>
            </a:r>
            <a:br>
              <a:rPr lang="en-US" dirty="0"/>
            </a:br>
            <a:r>
              <a:rPr lang="en-US" dirty="0"/>
              <a:t>AI detects suspicious card transactions instantly.</a:t>
            </a:r>
          </a:p>
          <a:p>
            <a:endParaRPr lang="en-IN" dirty="0"/>
          </a:p>
        </p:txBody>
      </p:sp>
    </p:spTree>
    <p:extLst>
      <p:ext uri="{BB962C8B-B14F-4D97-AF65-F5344CB8AC3E}">
        <p14:creationId xmlns:p14="http://schemas.microsoft.com/office/powerpoint/2010/main" val="337620166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79D1D-17CB-1F7D-6D84-4B8B1B5C51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A0EE4C-4294-F8B3-C31E-9F7B54AA7FDF}"/>
              </a:ext>
            </a:extLst>
          </p:cNvPr>
          <p:cNvSpPr>
            <a:spLocks noGrp="1"/>
          </p:cNvSpPr>
          <p:nvPr>
            <p:ph type="title"/>
          </p:nvPr>
        </p:nvSpPr>
        <p:spPr/>
        <p:txBody>
          <a:bodyPr/>
          <a:lstStyle/>
          <a:p>
            <a:pPr algn="ctr"/>
            <a:r>
              <a:rPr lang="en-IN" b="1" dirty="0"/>
              <a:t>Risk Management</a:t>
            </a:r>
          </a:p>
        </p:txBody>
      </p:sp>
      <p:sp>
        <p:nvSpPr>
          <p:cNvPr id="3" name="Content Placeholder 2">
            <a:extLst>
              <a:ext uri="{FF2B5EF4-FFF2-40B4-BE49-F238E27FC236}">
                <a16:creationId xmlns:a16="http://schemas.microsoft.com/office/drawing/2014/main" id="{7D48CC73-B519-9309-D944-618F21502AC3}"/>
              </a:ext>
            </a:extLst>
          </p:cNvPr>
          <p:cNvSpPr>
            <a:spLocks noGrp="1"/>
          </p:cNvSpPr>
          <p:nvPr>
            <p:ph idx="1"/>
          </p:nvPr>
        </p:nvSpPr>
        <p:spPr/>
        <p:txBody>
          <a:bodyPr/>
          <a:lstStyle/>
          <a:p>
            <a:r>
              <a:rPr lang="en-IN" dirty="0"/>
              <a:t>AI helps identify financial risks earlier.</a:t>
            </a:r>
          </a:p>
          <a:p>
            <a:r>
              <a:rPr lang="en-IN" dirty="0"/>
              <a:t>Applications:</a:t>
            </a:r>
          </a:p>
          <a:p>
            <a:r>
              <a:rPr lang="en-IN" dirty="0"/>
              <a:t>portfolio risk analysis</a:t>
            </a:r>
          </a:p>
          <a:p>
            <a:r>
              <a:rPr lang="en-IN" dirty="0"/>
              <a:t>liquidity risk prediction</a:t>
            </a:r>
          </a:p>
          <a:p>
            <a:r>
              <a:rPr lang="en-IN" dirty="0"/>
              <a:t>market volatility detection</a:t>
            </a:r>
          </a:p>
          <a:p>
            <a:r>
              <a:rPr lang="en-IN" dirty="0"/>
              <a:t>Example:</a:t>
            </a:r>
            <a:br>
              <a:rPr lang="en-IN" dirty="0"/>
            </a:br>
            <a:r>
              <a:rPr lang="en-IN" dirty="0"/>
              <a:t>AI predicts </a:t>
            </a:r>
            <a:r>
              <a:rPr lang="en-IN" b="1" dirty="0"/>
              <a:t>risk exposure in loan portfolios</a:t>
            </a:r>
            <a:r>
              <a:rPr lang="en-IN" dirty="0"/>
              <a:t>.</a:t>
            </a:r>
          </a:p>
          <a:p>
            <a:pPr marL="0" indent="0">
              <a:buNone/>
            </a:pPr>
            <a:endParaRPr lang="en-IN" dirty="0"/>
          </a:p>
        </p:txBody>
      </p:sp>
    </p:spTree>
    <p:extLst>
      <p:ext uri="{BB962C8B-B14F-4D97-AF65-F5344CB8AC3E}">
        <p14:creationId xmlns:p14="http://schemas.microsoft.com/office/powerpoint/2010/main" val="15483475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3D53-7934-6435-B885-3DB40C9A0F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F6DA2B-DF9D-92F0-2928-C158D1964533}"/>
              </a:ext>
            </a:extLst>
          </p:cNvPr>
          <p:cNvSpPr>
            <a:spLocks noGrp="1"/>
          </p:cNvSpPr>
          <p:nvPr>
            <p:ph type="title"/>
          </p:nvPr>
        </p:nvSpPr>
        <p:spPr/>
        <p:txBody>
          <a:bodyPr/>
          <a:lstStyle/>
          <a:p>
            <a:pPr algn="ctr"/>
            <a:r>
              <a:rPr lang="en-IN" b="1" dirty="0"/>
              <a:t>Compliance</a:t>
            </a:r>
          </a:p>
        </p:txBody>
      </p:sp>
      <p:sp>
        <p:nvSpPr>
          <p:cNvPr id="3" name="Content Placeholder 2">
            <a:extLst>
              <a:ext uri="{FF2B5EF4-FFF2-40B4-BE49-F238E27FC236}">
                <a16:creationId xmlns:a16="http://schemas.microsoft.com/office/drawing/2014/main" id="{00343212-11B1-74FF-13F7-21B785082158}"/>
              </a:ext>
            </a:extLst>
          </p:cNvPr>
          <p:cNvSpPr>
            <a:spLocks noGrp="1"/>
          </p:cNvSpPr>
          <p:nvPr>
            <p:ph idx="1"/>
          </p:nvPr>
        </p:nvSpPr>
        <p:spPr/>
        <p:txBody>
          <a:bodyPr/>
          <a:lstStyle/>
          <a:p>
            <a:r>
              <a:rPr lang="en-IN" dirty="0"/>
              <a:t>Financial institutions must follow strict regulations.</a:t>
            </a:r>
          </a:p>
          <a:p>
            <a:r>
              <a:rPr lang="en-IN" dirty="0"/>
              <a:t>AI helps monitor compliance.</a:t>
            </a:r>
          </a:p>
          <a:p>
            <a:r>
              <a:rPr lang="en-IN" dirty="0"/>
              <a:t>Applications:</a:t>
            </a:r>
          </a:p>
          <a:p>
            <a:r>
              <a:rPr lang="en-IN" dirty="0"/>
              <a:t>AML (Anti-Money Laundering)</a:t>
            </a:r>
          </a:p>
          <a:p>
            <a:r>
              <a:rPr lang="en-IN" dirty="0"/>
              <a:t>transaction monitoring</a:t>
            </a:r>
          </a:p>
          <a:p>
            <a:r>
              <a:rPr lang="en-IN" dirty="0"/>
              <a:t>regulatory reporting</a:t>
            </a:r>
          </a:p>
          <a:p>
            <a:r>
              <a:rPr lang="en-IN" dirty="0"/>
              <a:t>Example:</a:t>
            </a:r>
            <a:br>
              <a:rPr lang="en-IN" dirty="0"/>
            </a:br>
            <a:r>
              <a:rPr lang="en-IN" dirty="0"/>
              <a:t>AI flags </a:t>
            </a:r>
            <a:r>
              <a:rPr lang="en-IN" b="1" dirty="0"/>
              <a:t>suspicious transactions linked to money laundering</a:t>
            </a:r>
            <a:r>
              <a:rPr lang="en-IN" dirty="0"/>
              <a:t>.</a:t>
            </a:r>
          </a:p>
          <a:p>
            <a:endParaRPr lang="en-IN" dirty="0"/>
          </a:p>
        </p:txBody>
      </p:sp>
    </p:spTree>
    <p:extLst>
      <p:ext uri="{BB962C8B-B14F-4D97-AF65-F5344CB8AC3E}">
        <p14:creationId xmlns:p14="http://schemas.microsoft.com/office/powerpoint/2010/main" val="311919645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CF151-2E15-FCB7-FB6C-124E17C520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28500-BC4F-766E-F003-EBC34D0CEE21}"/>
              </a:ext>
            </a:extLst>
          </p:cNvPr>
          <p:cNvSpPr>
            <a:spLocks noGrp="1"/>
          </p:cNvSpPr>
          <p:nvPr>
            <p:ph type="title"/>
          </p:nvPr>
        </p:nvSpPr>
        <p:spPr/>
        <p:txBody>
          <a:bodyPr/>
          <a:lstStyle/>
          <a:p>
            <a:pPr algn="ctr"/>
            <a:r>
              <a:rPr lang="en-IN" b="1" dirty="0"/>
              <a:t>Finance Operations</a:t>
            </a:r>
          </a:p>
        </p:txBody>
      </p:sp>
      <p:sp>
        <p:nvSpPr>
          <p:cNvPr id="3" name="Content Placeholder 2">
            <a:extLst>
              <a:ext uri="{FF2B5EF4-FFF2-40B4-BE49-F238E27FC236}">
                <a16:creationId xmlns:a16="http://schemas.microsoft.com/office/drawing/2014/main" id="{EBF5B76E-63C0-5CB0-9905-EF45BAAA1579}"/>
              </a:ext>
            </a:extLst>
          </p:cNvPr>
          <p:cNvSpPr>
            <a:spLocks noGrp="1"/>
          </p:cNvSpPr>
          <p:nvPr>
            <p:ph idx="1"/>
          </p:nvPr>
        </p:nvSpPr>
        <p:spPr/>
        <p:txBody>
          <a:bodyPr>
            <a:normAutofit fontScale="92500" lnSpcReduction="20000"/>
          </a:bodyPr>
          <a:lstStyle/>
          <a:p>
            <a:r>
              <a:rPr lang="en-IN" dirty="0"/>
              <a:t>AI automates operational processes.</a:t>
            </a:r>
          </a:p>
          <a:p>
            <a:r>
              <a:rPr lang="en-IN" dirty="0"/>
              <a:t>Applications:</a:t>
            </a:r>
          </a:p>
          <a:p>
            <a:r>
              <a:rPr lang="en-IN" dirty="0"/>
              <a:t>invoice processing</a:t>
            </a:r>
          </a:p>
          <a:p>
            <a:r>
              <a:rPr lang="en-IN" dirty="0"/>
              <a:t>reconciliation</a:t>
            </a:r>
          </a:p>
          <a:p>
            <a:r>
              <a:rPr lang="en-IN" dirty="0"/>
              <a:t>expense auditing</a:t>
            </a:r>
          </a:p>
          <a:p>
            <a:r>
              <a:rPr lang="en-IN" dirty="0"/>
              <a:t>document processing</a:t>
            </a:r>
          </a:p>
          <a:p>
            <a:r>
              <a:rPr lang="en-US" dirty="0"/>
              <a:t>Example:</a:t>
            </a:r>
            <a:br>
              <a:rPr lang="en-US" dirty="0"/>
            </a:br>
            <a:r>
              <a:rPr lang="en-US" dirty="0"/>
              <a:t>AI reads invoices and automatically extracts:</a:t>
            </a:r>
          </a:p>
          <a:p>
            <a:r>
              <a:rPr lang="en-US" dirty="0"/>
              <a:t>vendor name</a:t>
            </a:r>
          </a:p>
          <a:p>
            <a:r>
              <a:rPr lang="en-US" dirty="0"/>
              <a:t>amount</a:t>
            </a:r>
          </a:p>
          <a:p>
            <a:r>
              <a:rPr lang="en-US" dirty="0"/>
              <a:t>due date</a:t>
            </a:r>
          </a:p>
          <a:p>
            <a:endParaRPr lang="en-IN" dirty="0"/>
          </a:p>
        </p:txBody>
      </p:sp>
    </p:spTree>
    <p:extLst>
      <p:ext uri="{BB962C8B-B14F-4D97-AF65-F5344CB8AC3E}">
        <p14:creationId xmlns:p14="http://schemas.microsoft.com/office/powerpoint/2010/main" val="253471100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E1573-2075-6AFD-33A1-981906FE1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B04A64-2E85-326F-43E3-D15CCB6BB588}"/>
              </a:ext>
            </a:extLst>
          </p:cNvPr>
          <p:cNvSpPr>
            <a:spLocks noGrp="1"/>
          </p:cNvSpPr>
          <p:nvPr>
            <p:ph type="title"/>
          </p:nvPr>
        </p:nvSpPr>
        <p:spPr/>
        <p:txBody>
          <a:bodyPr/>
          <a:lstStyle/>
          <a:p>
            <a:pPr algn="ctr"/>
            <a:r>
              <a:rPr lang="en-IN" b="1" dirty="0"/>
              <a:t>As an AIPM</a:t>
            </a:r>
          </a:p>
        </p:txBody>
      </p:sp>
      <p:sp>
        <p:nvSpPr>
          <p:cNvPr id="3" name="Content Placeholder 2">
            <a:extLst>
              <a:ext uri="{FF2B5EF4-FFF2-40B4-BE49-F238E27FC236}">
                <a16:creationId xmlns:a16="http://schemas.microsoft.com/office/drawing/2014/main" id="{1FEA3427-EBEB-AC20-588B-6AFEB4233F62}"/>
              </a:ext>
            </a:extLst>
          </p:cNvPr>
          <p:cNvSpPr>
            <a:spLocks noGrp="1"/>
          </p:cNvSpPr>
          <p:nvPr>
            <p:ph idx="1"/>
          </p:nvPr>
        </p:nvSpPr>
        <p:spPr/>
        <p:txBody>
          <a:bodyPr>
            <a:normAutofit lnSpcReduction="10000"/>
          </a:bodyPr>
          <a:lstStyle/>
          <a:p>
            <a:r>
              <a:rPr lang="en-US" dirty="0"/>
              <a:t>AI is transforming finance from:</a:t>
            </a:r>
          </a:p>
          <a:p>
            <a:r>
              <a:rPr lang="en-US" b="1" dirty="0"/>
              <a:t>Manual → Automated</a:t>
            </a:r>
            <a:endParaRPr lang="en-US" dirty="0"/>
          </a:p>
          <a:p>
            <a:r>
              <a:rPr lang="en-US" b="1" dirty="0"/>
              <a:t>Reactive → Predictive</a:t>
            </a:r>
            <a:endParaRPr lang="en-US" dirty="0"/>
          </a:p>
          <a:p>
            <a:r>
              <a:rPr lang="en-US" b="1" dirty="0"/>
              <a:t>Rule-based → Intelligent</a:t>
            </a:r>
            <a:endParaRPr lang="en-US" dirty="0"/>
          </a:p>
          <a:p>
            <a:r>
              <a:rPr lang="en-US" dirty="0"/>
              <a:t>For finance professionals and product managers, the goal is not to build AI models but to:</a:t>
            </a:r>
          </a:p>
          <a:p>
            <a:r>
              <a:rPr lang="en-US" dirty="0"/>
              <a:t>✔ Identify valuable problems</a:t>
            </a:r>
            <a:br>
              <a:rPr lang="en-US" dirty="0"/>
            </a:br>
            <a:r>
              <a:rPr lang="en-US" dirty="0"/>
              <a:t>✔ Understand data opportunities</a:t>
            </a:r>
            <a:br>
              <a:rPr lang="en-US" dirty="0"/>
            </a:br>
            <a:r>
              <a:rPr lang="en-US" dirty="0"/>
              <a:t>✔ Design AI-enabled financial products</a:t>
            </a:r>
            <a:br>
              <a:rPr lang="en-US" dirty="0"/>
            </a:br>
            <a:r>
              <a:rPr lang="en-US" dirty="0"/>
              <a:t>✔ Ensure governance and trust</a:t>
            </a:r>
          </a:p>
          <a:p>
            <a:endParaRPr lang="en-IN" dirty="0"/>
          </a:p>
        </p:txBody>
      </p:sp>
    </p:spTree>
    <p:extLst>
      <p:ext uri="{BB962C8B-B14F-4D97-AF65-F5344CB8AC3E}">
        <p14:creationId xmlns:p14="http://schemas.microsoft.com/office/powerpoint/2010/main" val="12772577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4D571-203F-AF78-9D7C-706BC217B2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94688-476F-74F6-A240-615CDDFD3F00}"/>
              </a:ext>
            </a:extLst>
          </p:cNvPr>
          <p:cNvSpPr>
            <a:spLocks noGrp="1"/>
          </p:cNvSpPr>
          <p:nvPr>
            <p:ph type="title"/>
          </p:nvPr>
        </p:nvSpPr>
        <p:spPr/>
        <p:txBody>
          <a:bodyPr/>
          <a:lstStyle/>
          <a:p>
            <a:r>
              <a:rPr lang="en-IN" b="1" dirty="0"/>
              <a:t>Understanding AI Product Management</a:t>
            </a:r>
          </a:p>
        </p:txBody>
      </p:sp>
      <p:sp>
        <p:nvSpPr>
          <p:cNvPr id="3" name="Content Placeholder 2">
            <a:extLst>
              <a:ext uri="{FF2B5EF4-FFF2-40B4-BE49-F238E27FC236}">
                <a16:creationId xmlns:a16="http://schemas.microsoft.com/office/drawing/2014/main" id="{59E7C6CB-8C67-1367-D44B-1802454A47E5}"/>
              </a:ext>
            </a:extLst>
          </p:cNvPr>
          <p:cNvSpPr>
            <a:spLocks noGrp="1"/>
          </p:cNvSpPr>
          <p:nvPr>
            <p:ph idx="1"/>
          </p:nvPr>
        </p:nvSpPr>
        <p:spPr/>
        <p:txBody>
          <a:bodyPr>
            <a:normAutofit fontScale="92500" lnSpcReduction="10000"/>
          </a:bodyPr>
          <a:lstStyle/>
          <a:p>
            <a:pPr>
              <a:lnSpc>
                <a:spcPct val="150000"/>
              </a:lnSpc>
            </a:pPr>
            <a:r>
              <a:rPr lang="en-US" dirty="0"/>
              <a:t>AI Product Management is about designing products that use AI to improve decisions, automate processes, and create better financial experiences for customers.</a:t>
            </a:r>
          </a:p>
          <a:p>
            <a:pPr>
              <a:lnSpc>
                <a:spcPct val="150000"/>
              </a:lnSpc>
            </a:pPr>
            <a:r>
              <a:rPr lang="en-US" dirty="0"/>
              <a:t>Unlike traditional software products, AI products learn from data and evolve over time.</a:t>
            </a:r>
            <a:br>
              <a:rPr lang="en-US" dirty="0"/>
            </a:br>
            <a:r>
              <a:rPr lang="en-US" dirty="0"/>
              <a:t>Because of this, Product Managers must understand how AI behaves, what it can do well, and where it may fail.</a:t>
            </a:r>
          </a:p>
          <a:p>
            <a:pPr>
              <a:lnSpc>
                <a:spcPct val="150000"/>
              </a:lnSpc>
            </a:pPr>
            <a:endParaRPr lang="en-IN" dirty="0"/>
          </a:p>
        </p:txBody>
      </p:sp>
    </p:spTree>
    <p:extLst>
      <p:ext uri="{BB962C8B-B14F-4D97-AF65-F5344CB8AC3E}">
        <p14:creationId xmlns:p14="http://schemas.microsoft.com/office/powerpoint/2010/main" val="220848442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69A1D-AEC3-E03C-E7EA-B49715C8AF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877EA-04C8-AF02-B62A-8E11C3E05FD7}"/>
              </a:ext>
            </a:extLst>
          </p:cNvPr>
          <p:cNvSpPr>
            <a:spLocks noGrp="1"/>
          </p:cNvSpPr>
          <p:nvPr>
            <p:ph type="title"/>
          </p:nvPr>
        </p:nvSpPr>
        <p:spPr/>
        <p:txBody>
          <a:bodyPr>
            <a:noAutofit/>
          </a:bodyPr>
          <a:lstStyle/>
          <a:p>
            <a:pPr algn="ctr"/>
            <a:br>
              <a:rPr lang="en-US" sz="3600" b="1" dirty="0"/>
            </a:br>
            <a:r>
              <a:rPr lang="en-US" sz="3600" b="1" dirty="0"/>
              <a:t>Why Product Managers Need to Understand AI Behaviour</a:t>
            </a:r>
            <a:br>
              <a:rPr lang="en-US" sz="3600" b="1" dirty="0"/>
            </a:br>
            <a:endParaRPr lang="en-IN" sz="3600" dirty="0"/>
          </a:p>
        </p:txBody>
      </p:sp>
      <p:sp>
        <p:nvSpPr>
          <p:cNvPr id="3" name="Content Placeholder 2">
            <a:extLst>
              <a:ext uri="{FF2B5EF4-FFF2-40B4-BE49-F238E27FC236}">
                <a16:creationId xmlns:a16="http://schemas.microsoft.com/office/drawing/2014/main" id="{3ABFB7D3-71AF-A561-3397-8CB5964CBEC4}"/>
              </a:ext>
            </a:extLst>
          </p:cNvPr>
          <p:cNvSpPr>
            <a:spLocks noGrp="1"/>
          </p:cNvSpPr>
          <p:nvPr>
            <p:ph idx="1"/>
          </p:nvPr>
        </p:nvSpPr>
        <p:spPr/>
        <p:txBody>
          <a:bodyPr/>
          <a:lstStyle/>
          <a:p>
            <a:r>
              <a:rPr lang="en-US" dirty="0"/>
              <a:t>Traditional software behaves predictably.</a:t>
            </a:r>
          </a:p>
          <a:p>
            <a:r>
              <a:rPr lang="en-US" dirty="0"/>
              <a:t>Example:</a:t>
            </a:r>
          </a:p>
          <a:p>
            <a:r>
              <a:rPr lang="en-US" dirty="0"/>
              <a:t>If payment amount &gt; ₹1,00,000 → send approval request</a:t>
            </a:r>
          </a:p>
          <a:p>
            <a:r>
              <a:rPr lang="en-US" dirty="0"/>
              <a:t>The output is always the same.</a:t>
            </a:r>
          </a:p>
          <a:p>
            <a:r>
              <a:rPr lang="en-US" dirty="0"/>
              <a:t>AI systems behave differently.</a:t>
            </a:r>
          </a:p>
          <a:p>
            <a:r>
              <a:rPr lang="en-US" dirty="0"/>
              <a:t>AI learns patterns from historical data and then makes predictions or classifications.</a:t>
            </a:r>
            <a:br>
              <a:rPr lang="en-US" dirty="0"/>
            </a:br>
            <a:r>
              <a:rPr lang="en-US" dirty="0"/>
              <a:t>Because of this, the output may change as the model learns new patterns.</a:t>
            </a:r>
          </a:p>
          <a:p>
            <a:endParaRPr lang="en-IN" dirty="0"/>
          </a:p>
        </p:txBody>
      </p:sp>
    </p:spTree>
    <p:extLst>
      <p:ext uri="{BB962C8B-B14F-4D97-AF65-F5344CB8AC3E}">
        <p14:creationId xmlns:p14="http://schemas.microsoft.com/office/powerpoint/2010/main" val="178293150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D41C4-2D10-960C-5413-794926B42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7B317-DD2B-A266-068B-B6D46ED87F15}"/>
              </a:ext>
            </a:extLst>
          </p:cNvPr>
          <p:cNvSpPr>
            <a:spLocks noGrp="1"/>
          </p:cNvSpPr>
          <p:nvPr>
            <p:ph type="title"/>
          </p:nvPr>
        </p:nvSpPr>
        <p:spPr/>
        <p:txBody>
          <a:bodyPr/>
          <a:lstStyle/>
          <a:p>
            <a:pPr algn="ctr"/>
            <a:r>
              <a:rPr lang="en-US" b="1" dirty="0"/>
              <a:t>Example in finance:</a:t>
            </a:r>
            <a:br>
              <a:rPr lang="en-US" b="1" dirty="0"/>
            </a:br>
            <a:endParaRPr lang="en-IN" b="1" dirty="0"/>
          </a:p>
        </p:txBody>
      </p:sp>
      <p:sp>
        <p:nvSpPr>
          <p:cNvPr id="3" name="Content Placeholder 2">
            <a:extLst>
              <a:ext uri="{FF2B5EF4-FFF2-40B4-BE49-F238E27FC236}">
                <a16:creationId xmlns:a16="http://schemas.microsoft.com/office/drawing/2014/main" id="{EBA17FF9-ED3A-8F48-32F5-BA7CA5AAFFE2}"/>
              </a:ext>
            </a:extLst>
          </p:cNvPr>
          <p:cNvSpPr>
            <a:spLocks noGrp="1"/>
          </p:cNvSpPr>
          <p:nvPr>
            <p:ph idx="1"/>
          </p:nvPr>
        </p:nvSpPr>
        <p:spPr/>
        <p:txBody>
          <a:bodyPr>
            <a:normAutofit fontScale="92500" lnSpcReduction="10000"/>
          </a:bodyPr>
          <a:lstStyle/>
          <a:p>
            <a:r>
              <a:rPr lang="en-US" dirty="0"/>
              <a:t>Traditional rule:</a:t>
            </a:r>
          </a:p>
          <a:p>
            <a:r>
              <a:rPr lang="en-US" dirty="0"/>
              <a:t>Reject loan if credit score &lt; 650</a:t>
            </a:r>
          </a:p>
          <a:p>
            <a:r>
              <a:rPr lang="en-US" dirty="0"/>
              <a:t>AI-based evaluation considers many factors:</a:t>
            </a:r>
          </a:p>
          <a:p>
            <a:r>
              <a:rPr lang="en-US" dirty="0"/>
              <a:t>spending behavior</a:t>
            </a:r>
          </a:p>
          <a:p>
            <a:r>
              <a:rPr lang="en-US" dirty="0"/>
              <a:t>repayment patterns</a:t>
            </a:r>
          </a:p>
          <a:p>
            <a:r>
              <a:rPr lang="en-US" dirty="0"/>
              <a:t>income consistency</a:t>
            </a:r>
          </a:p>
          <a:p>
            <a:r>
              <a:rPr lang="en-US" dirty="0"/>
              <a:t>transaction patterns</a:t>
            </a:r>
          </a:p>
          <a:p>
            <a:r>
              <a:rPr lang="en-US" dirty="0"/>
              <a:t>previous defaults</a:t>
            </a:r>
          </a:p>
          <a:p>
            <a:r>
              <a:rPr lang="en-US" dirty="0"/>
              <a:t>AI may approve a borrower </a:t>
            </a:r>
            <a:r>
              <a:rPr lang="en-US" b="1" dirty="0"/>
              <a:t>even if their credit score is slightly lower</a:t>
            </a:r>
            <a:r>
              <a:rPr lang="en-US" dirty="0"/>
              <a:t>, because other signals suggest low risk.</a:t>
            </a:r>
          </a:p>
          <a:p>
            <a:endParaRPr lang="en-IN" dirty="0"/>
          </a:p>
        </p:txBody>
      </p:sp>
    </p:spTree>
    <p:extLst>
      <p:ext uri="{BB962C8B-B14F-4D97-AF65-F5344CB8AC3E}">
        <p14:creationId xmlns:p14="http://schemas.microsoft.com/office/powerpoint/2010/main" val="341289215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3EADE-28AF-538E-C0AE-8B31FF168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5BD31C-9B9A-D4F3-B8DF-6B682E4DC759}"/>
              </a:ext>
            </a:extLst>
          </p:cNvPr>
          <p:cNvSpPr>
            <a:spLocks noGrp="1"/>
          </p:cNvSpPr>
          <p:nvPr>
            <p:ph type="title"/>
          </p:nvPr>
        </p:nvSpPr>
        <p:spPr/>
        <p:txBody>
          <a:bodyPr/>
          <a:lstStyle/>
          <a:p>
            <a:pPr algn="ctr"/>
            <a:r>
              <a:rPr lang="en-US" b="1" dirty="0"/>
              <a:t>Why PMs Must Understand AI Behaviour</a:t>
            </a:r>
            <a:endParaRPr lang="en-IN" b="1" dirty="0"/>
          </a:p>
        </p:txBody>
      </p:sp>
      <p:sp>
        <p:nvSpPr>
          <p:cNvPr id="3" name="Content Placeholder 2">
            <a:extLst>
              <a:ext uri="{FF2B5EF4-FFF2-40B4-BE49-F238E27FC236}">
                <a16:creationId xmlns:a16="http://schemas.microsoft.com/office/drawing/2014/main" id="{58AA8019-551F-D002-8A41-C4112256436D}"/>
              </a:ext>
            </a:extLst>
          </p:cNvPr>
          <p:cNvSpPr>
            <a:spLocks noGrp="1"/>
          </p:cNvSpPr>
          <p:nvPr>
            <p:ph idx="1"/>
          </p:nvPr>
        </p:nvSpPr>
        <p:spPr/>
        <p:txBody>
          <a:bodyPr/>
          <a:lstStyle/>
          <a:p>
            <a:r>
              <a:rPr lang="en-US" dirty="0"/>
              <a:t>Product Managers are responsible for </a:t>
            </a:r>
            <a:r>
              <a:rPr lang="en-US" b="1" dirty="0"/>
              <a:t>product decisions</a:t>
            </a:r>
            <a:r>
              <a:rPr lang="en-US" dirty="0"/>
              <a:t>, not technical model building.</a:t>
            </a:r>
          </a:p>
          <a:p>
            <a:r>
              <a:rPr lang="en-US" dirty="0"/>
              <a:t>But You must understand:</a:t>
            </a:r>
          </a:p>
          <a:p>
            <a:endParaRPr lang="en-IN" dirty="0"/>
          </a:p>
        </p:txBody>
      </p:sp>
    </p:spTree>
    <p:extLst>
      <p:ext uri="{BB962C8B-B14F-4D97-AF65-F5344CB8AC3E}">
        <p14:creationId xmlns:p14="http://schemas.microsoft.com/office/powerpoint/2010/main" val="391888898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8E97F-8FBB-A183-C682-B591B16A6AC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C89615-F635-582B-4749-650AE02603E1}"/>
              </a:ext>
            </a:extLst>
          </p:cNvPr>
          <p:cNvSpPr>
            <a:spLocks noGrp="1"/>
          </p:cNvSpPr>
          <p:nvPr>
            <p:ph idx="1"/>
          </p:nvPr>
        </p:nvSpPr>
        <p:spPr/>
        <p:txBody>
          <a:bodyPr/>
          <a:lstStyle/>
          <a:p>
            <a:r>
              <a:rPr lang="en-US" b="1" dirty="0"/>
              <a:t>AI is not always 100% accurate</a:t>
            </a:r>
            <a:endParaRPr lang="en-US" dirty="0"/>
          </a:p>
          <a:p>
            <a:r>
              <a:rPr lang="en-US" dirty="0"/>
              <a:t>Example:</a:t>
            </a:r>
            <a:br>
              <a:rPr lang="en-US" dirty="0"/>
            </a:br>
            <a:r>
              <a:rPr lang="en-US" dirty="0"/>
              <a:t>A fraud model may detect </a:t>
            </a:r>
            <a:r>
              <a:rPr lang="en-US" b="1" dirty="0"/>
              <a:t>92% of fraud cases</a:t>
            </a:r>
            <a:r>
              <a:rPr lang="en-US" dirty="0"/>
              <a:t>, but </a:t>
            </a:r>
            <a:r>
              <a:rPr lang="en-US" b="1" dirty="0"/>
              <a:t>8% may still slip through</a:t>
            </a:r>
            <a:r>
              <a:rPr lang="en-US" dirty="0"/>
              <a:t>.</a:t>
            </a:r>
          </a:p>
          <a:p>
            <a:r>
              <a:rPr lang="en-US" dirty="0"/>
              <a:t>PMs must decide:</a:t>
            </a:r>
          </a:p>
          <a:p>
            <a:r>
              <a:rPr lang="en-US" dirty="0"/>
              <a:t>Is this accuracy acceptable?</a:t>
            </a:r>
          </a:p>
          <a:p>
            <a:r>
              <a:rPr lang="en-US" dirty="0"/>
              <a:t>Should we add human review?</a:t>
            </a:r>
          </a:p>
          <a:p>
            <a:endParaRPr lang="en-IN" dirty="0"/>
          </a:p>
        </p:txBody>
      </p:sp>
    </p:spTree>
    <p:extLst>
      <p:ext uri="{BB962C8B-B14F-4D97-AF65-F5344CB8AC3E}">
        <p14:creationId xmlns:p14="http://schemas.microsoft.com/office/powerpoint/2010/main" val="65762255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7FE3A-EF9D-798C-45AC-670DD6774BC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EC19DE-94C7-BC65-7C39-79C89EA4B274}"/>
              </a:ext>
            </a:extLst>
          </p:cNvPr>
          <p:cNvSpPr>
            <a:spLocks noGrp="1"/>
          </p:cNvSpPr>
          <p:nvPr>
            <p:ph idx="1"/>
          </p:nvPr>
        </p:nvSpPr>
        <p:spPr/>
        <p:txBody>
          <a:bodyPr/>
          <a:lstStyle/>
          <a:p>
            <a:r>
              <a:rPr lang="en-US" b="1" dirty="0"/>
              <a:t>AI depends heavily on data quality</a:t>
            </a:r>
            <a:endParaRPr lang="en-US" dirty="0"/>
          </a:p>
          <a:p>
            <a:r>
              <a:rPr lang="en-US" dirty="0"/>
              <a:t>If data is incomplete or biased, AI decisions will also be biased.</a:t>
            </a:r>
          </a:p>
          <a:p>
            <a:r>
              <a:rPr lang="en-US" dirty="0"/>
              <a:t>Example:</a:t>
            </a:r>
            <a:br>
              <a:rPr lang="en-US" dirty="0"/>
            </a:br>
            <a:r>
              <a:rPr lang="en-US" dirty="0"/>
              <a:t>If historical loan data excludes certain customer groups, the model may unfairly reject them.</a:t>
            </a:r>
          </a:p>
          <a:p>
            <a:endParaRPr lang="en-IN" dirty="0"/>
          </a:p>
        </p:txBody>
      </p:sp>
    </p:spTree>
    <p:extLst>
      <p:ext uri="{BB962C8B-B14F-4D97-AF65-F5344CB8AC3E}">
        <p14:creationId xmlns:p14="http://schemas.microsoft.com/office/powerpoint/2010/main" val="307244366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A0634-42A6-B7D7-5145-04646EE178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F808A5-A8DC-AD6E-D889-DF19F7126070}"/>
              </a:ext>
            </a:extLst>
          </p:cNvPr>
          <p:cNvSpPr>
            <a:spLocks noGrp="1"/>
          </p:cNvSpPr>
          <p:nvPr>
            <p:ph idx="1"/>
          </p:nvPr>
        </p:nvSpPr>
        <p:spPr/>
        <p:txBody>
          <a:bodyPr/>
          <a:lstStyle/>
          <a:p>
            <a:r>
              <a:rPr lang="en-US" b="1" dirty="0"/>
              <a:t>AI models degrade over time</a:t>
            </a:r>
            <a:endParaRPr lang="en-US" dirty="0"/>
          </a:p>
          <a:p>
            <a:r>
              <a:rPr lang="en-US" dirty="0"/>
              <a:t>Customer behavior changes.</a:t>
            </a:r>
          </a:p>
          <a:p>
            <a:r>
              <a:rPr lang="en-US" dirty="0"/>
              <a:t>Example:</a:t>
            </a:r>
            <a:br>
              <a:rPr lang="en-US" dirty="0"/>
            </a:br>
            <a:r>
              <a:rPr lang="en-US" dirty="0"/>
              <a:t>Spending patterns during festivals or economic downturns change dramatically.</a:t>
            </a:r>
          </a:p>
          <a:p>
            <a:r>
              <a:rPr lang="en-US" dirty="0"/>
              <a:t>AI models must be </a:t>
            </a:r>
            <a:r>
              <a:rPr lang="en-US" b="1" dirty="0"/>
              <a:t>monitored and retrained regularly</a:t>
            </a:r>
            <a:r>
              <a:rPr lang="en-US" dirty="0"/>
              <a:t>.</a:t>
            </a:r>
          </a:p>
          <a:p>
            <a:endParaRPr lang="en-IN" dirty="0"/>
          </a:p>
        </p:txBody>
      </p:sp>
    </p:spTree>
    <p:extLst>
      <p:ext uri="{BB962C8B-B14F-4D97-AF65-F5344CB8AC3E}">
        <p14:creationId xmlns:p14="http://schemas.microsoft.com/office/powerpoint/2010/main" val="354338415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9E5A8-E791-556F-72CD-02359DAB30C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EF02F0-EF27-9AF8-A0F7-F40F911464EA}"/>
              </a:ext>
            </a:extLst>
          </p:cNvPr>
          <p:cNvSpPr>
            <a:spLocks noGrp="1"/>
          </p:cNvSpPr>
          <p:nvPr>
            <p:ph idx="1"/>
          </p:nvPr>
        </p:nvSpPr>
        <p:spPr/>
        <p:txBody>
          <a:bodyPr/>
          <a:lstStyle/>
          <a:p>
            <a:r>
              <a:rPr lang="en-US" b="1" dirty="0"/>
              <a:t>AI decisions must be explainable in finance</a:t>
            </a:r>
            <a:endParaRPr lang="en-US" dirty="0"/>
          </a:p>
          <a:p>
            <a:r>
              <a:rPr lang="en-US" dirty="0"/>
              <a:t>Financial institutions must justify decisions.</a:t>
            </a:r>
          </a:p>
          <a:p>
            <a:r>
              <a:rPr lang="en-US" dirty="0"/>
              <a:t>Example:</a:t>
            </a:r>
            <a:br>
              <a:rPr lang="en-US" dirty="0"/>
            </a:br>
            <a:r>
              <a:rPr lang="en-US" dirty="0"/>
              <a:t>If a loan is rejected, the system must explain:</a:t>
            </a:r>
          </a:p>
          <a:p>
            <a:r>
              <a:rPr lang="en-US" dirty="0"/>
              <a:t>insufficient income</a:t>
            </a:r>
          </a:p>
          <a:p>
            <a:r>
              <a:rPr lang="en-US" dirty="0"/>
              <a:t>high credit utilization</a:t>
            </a:r>
          </a:p>
          <a:p>
            <a:r>
              <a:rPr lang="en-US" dirty="0"/>
              <a:t>past late payments</a:t>
            </a:r>
          </a:p>
          <a:p>
            <a:r>
              <a:rPr lang="en-US" dirty="0"/>
              <a:t>PMs must ensure the product supports </a:t>
            </a:r>
            <a:r>
              <a:rPr lang="en-US" b="1" dirty="0"/>
              <a:t>explainable AI</a:t>
            </a:r>
            <a:r>
              <a:rPr lang="en-US" dirty="0"/>
              <a:t>.</a:t>
            </a:r>
          </a:p>
          <a:p>
            <a:endParaRPr lang="en-IN" dirty="0"/>
          </a:p>
        </p:txBody>
      </p:sp>
    </p:spTree>
    <p:extLst>
      <p:ext uri="{BB962C8B-B14F-4D97-AF65-F5344CB8AC3E}">
        <p14:creationId xmlns:p14="http://schemas.microsoft.com/office/powerpoint/2010/main" val="135157466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70D10-2419-781A-EACE-0294196EEC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F2C992-9F8F-DE54-955E-9B709F53CC2C}"/>
              </a:ext>
            </a:extLst>
          </p:cNvPr>
          <p:cNvSpPr>
            <a:spLocks noGrp="1"/>
          </p:cNvSpPr>
          <p:nvPr>
            <p:ph type="title"/>
          </p:nvPr>
        </p:nvSpPr>
        <p:spPr/>
        <p:txBody>
          <a:bodyPr>
            <a:normAutofit/>
          </a:bodyPr>
          <a:lstStyle/>
          <a:p>
            <a:pPr algn="ctr"/>
            <a:r>
              <a:rPr lang="en-US" sz="3600" b="1" dirty="0"/>
              <a:t>How AI Improves Understanding of Customers and Decisions</a:t>
            </a:r>
            <a:endParaRPr lang="en-IN" sz="3600" b="1" dirty="0"/>
          </a:p>
        </p:txBody>
      </p:sp>
      <p:sp>
        <p:nvSpPr>
          <p:cNvPr id="3" name="Content Placeholder 2">
            <a:extLst>
              <a:ext uri="{FF2B5EF4-FFF2-40B4-BE49-F238E27FC236}">
                <a16:creationId xmlns:a16="http://schemas.microsoft.com/office/drawing/2014/main" id="{7F941C67-FAF9-CF87-3DBD-B2F9245ED8B5}"/>
              </a:ext>
            </a:extLst>
          </p:cNvPr>
          <p:cNvSpPr>
            <a:spLocks noGrp="1"/>
          </p:cNvSpPr>
          <p:nvPr>
            <p:ph idx="1"/>
          </p:nvPr>
        </p:nvSpPr>
        <p:spPr/>
        <p:txBody>
          <a:bodyPr>
            <a:normAutofit lnSpcReduction="10000"/>
          </a:bodyPr>
          <a:lstStyle/>
          <a:p>
            <a:r>
              <a:rPr lang="en-IN" dirty="0"/>
              <a:t>AI enables financial institutions to analyze customer behavior at scale.</a:t>
            </a:r>
          </a:p>
          <a:p>
            <a:r>
              <a:rPr lang="en-IN" dirty="0"/>
              <a:t>Instead of relying on limited information, AI </a:t>
            </a:r>
            <a:r>
              <a:rPr lang="en-IN" dirty="0" err="1"/>
              <a:t>analyzes</a:t>
            </a:r>
            <a:r>
              <a:rPr lang="en-IN" dirty="0"/>
              <a:t>:</a:t>
            </a:r>
          </a:p>
          <a:p>
            <a:r>
              <a:rPr lang="en-IN" dirty="0"/>
              <a:t>transaction data</a:t>
            </a:r>
          </a:p>
          <a:p>
            <a:r>
              <a:rPr lang="en-IN" dirty="0"/>
              <a:t>spending patterns</a:t>
            </a:r>
          </a:p>
          <a:p>
            <a:r>
              <a:rPr lang="en-IN" dirty="0"/>
              <a:t>payment history</a:t>
            </a:r>
          </a:p>
          <a:p>
            <a:r>
              <a:rPr lang="en-IN" dirty="0"/>
              <a:t>digital interactions</a:t>
            </a:r>
          </a:p>
          <a:p>
            <a:r>
              <a:rPr lang="en-IN" dirty="0"/>
              <a:t>financial habits</a:t>
            </a:r>
          </a:p>
          <a:p>
            <a:r>
              <a:rPr lang="en-IN" dirty="0"/>
              <a:t>This helps organizations understand customers better and make smarter decisions.</a:t>
            </a:r>
          </a:p>
          <a:p>
            <a:endParaRPr lang="en-IN" dirty="0"/>
          </a:p>
        </p:txBody>
      </p:sp>
    </p:spTree>
    <p:extLst>
      <p:ext uri="{BB962C8B-B14F-4D97-AF65-F5344CB8AC3E}">
        <p14:creationId xmlns:p14="http://schemas.microsoft.com/office/powerpoint/2010/main" val="23527502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C8FA9-4922-0188-C5F0-2FE3409E1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8697CC-9959-BE0B-5D1C-69C9105DA8FB}"/>
              </a:ext>
            </a:extLst>
          </p:cNvPr>
          <p:cNvSpPr>
            <a:spLocks noGrp="1"/>
          </p:cNvSpPr>
          <p:nvPr>
            <p:ph type="title"/>
          </p:nvPr>
        </p:nvSpPr>
        <p:spPr/>
        <p:txBody>
          <a:bodyPr/>
          <a:lstStyle/>
          <a:p>
            <a:r>
              <a:rPr lang="en-US" b="1" dirty="0"/>
              <a:t>Example 1: Customer Behavior Analysis</a:t>
            </a:r>
            <a:br>
              <a:rPr lang="en-US" b="1" dirty="0"/>
            </a:br>
            <a:endParaRPr lang="en-IN" dirty="0"/>
          </a:p>
        </p:txBody>
      </p:sp>
      <p:sp>
        <p:nvSpPr>
          <p:cNvPr id="3" name="Content Placeholder 2">
            <a:extLst>
              <a:ext uri="{FF2B5EF4-FFF2-40B4-BE49-F238E27FC236}">
                <a16:creationId xmlns:a16="http://schemas.microsoft.com/office/drawing/2014/main" id="{66EB6B57-5A19-17B9-6D5D-2A5CC928F589}"/>
              </a:ext>
            </a:extLst>
          </p:cNvPr>
          <p:cNvSpPr>
            <a:spLocks noGrp="1"/>
          </p:cNvSpPr>
          <p:nvPr>
            <p:ph idx="1"/>
          </p:nvPr>
        </p:nvSpPr>
        <p:spPr/>
        <p:txBody>
          <a:bodyPr>
            <a:normAutofit/>
          </a:bodyPr>
          <a:lstStyle/>
          <a:p>
            <a:r>
              <a:rPr lang="en-US" dirty="0"/>
              <a:t>AI can analyze:</a:t>
            </a:r>
          </a:p>
          <a:p>
            <a:r>
              <a:rPr lang="en-US" dirty="0"/>
              <a:t>where customers spend</a:t>
            </a:r>
          </a:p>
          <a:p>
            <a:r>
              <a:rPr lang="en-US" dirty="0"/>
              <a:t>how frequently they transact</a:t>
            </a:r>
          </a:p>
          <a:p>
            <a:r>
              <a:rPr lang="en-US" dirty="0"/>
              <a:t>when they typically pay bills</a:t>
            </a:r>
          </a:p>
          <a:p>
            <a:r>
              <a:rPr lang="en-US" dirty="0"/>
              <a:t>Insights may include:</a:t>
            </a:r>
          </a:p>
          <a:p>
            <a:r>
              <a:rPr lang="en-US" dirty="0"/>
              <a:t>high-value customers</a:t>
            </a:r>
          </a:p>
          <a:p>
            <a:r>
              <a:rPr lang="en-US" dirty="0"/>
              <a:t>customers likely to churn</a:t>
            </a:r>
          </a:p>
          <a:p>
            <a:r>
              <a:rPr lang="en-US" dirty="0"/>
              <a:t>customers likely to upgrade products</a:t>
            </a:r>
          </a:p>
          <a:p>
            <a:endParaRPr lang="en-IN" dirty="0"/>
          </a:p>
        </p:txBody>
      </p:sp>
    </p:spTree>
    <p:extLst>
      <p:ext uri="{BB962C8B-B14F-4D97-AF65-F5344CB8AC3E}">
        <p14:creationId xmlns:p14="http://schemas.microsoft.com/office/powerpoint/2010/main" val="141327704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355EB-4BB1-FDD2-F3C5-A8DFF8FC0C7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8C505D-9E06-4AB3-D445-B96FB186A912}"/>
              </a:ext>
            </a:extLst>
          </p:cNvPr>
          <p:cNvSpPr>
            <a:spLocks noGrp="1"/>
          </p:cNvSpPr>
          <p:nvPr>
            <p:ph idx="1"/>
          </p:nvPr>
        </p:nvSpPr>
        <p:spPr/>
        <p:txBody>
          <a:bodyPr>
            <a:normAutofit lnSpcReduction="10000"/>
          </a:bodyPr>
          <a:lstStyle/>
          <a:p>
            <a:r>
              <a:rPr lang="en-US" dirty="0"/>
              <a:t>Example:</a:t>
            </a:r>
          </a:p>
          <a:p>
            <a:r>
              <a:rPr lang="en-US" dirty="0"/>
              <a:t>A bank identifies that a customer:</a:t>
            </a:r>
          </a:p>
          <a:p>
            <a:r>
              <a:rPr lang="en-US" dirty="0"/>
              <a:t>frequently books flights</a:t>
            </a:r>
          </a:p>
          <a:p>
            <a:r>
              <a:rPr lang="en-US" dirty="0"/>
              <a:t>spends on hotels</a:t>
            </a:r>
          </a:p>
          <a:p>
            <a:r>
              <a:rPr lang="en-US" dirty="0"/>
              <a:t>travels internationally</a:t>
            </a:r>
          </a:p>
          <a:p>
            <a:r>
              <a:rPr lang="en-US" dirty="0"/>
              <a:t>AI may suggest:</a:t>
            </a:r>
          </a:p>
          <a:p>
            <a:r>
              <a:rPr lang="en-US" dirty="0"/>
              <a:t>premium travel credit cards</a:t>
            </a:r>
          </a:p>
          <a:p>
            <a:r>
              <a:rPr lang="en-US" dirty="0"/>
              <a:t>forex cards</a:t>
            </a:r>
          </a:p>
          <a:p>
            <a:r>
              <a:rPr lang="en-US" dirty="0"/>
              <a:t>travel insurance</a:t>
            </a:r>
          </a:p>
          <a:p>
            <a:endParaRPr lang="en-IN" dirty="0"/>
          </a:p>
        </p:txBody>
      </p:sp>
    </p:spTree>
    <p:extLst>
      <p:ext uri="{BB962C8B-B14F-4D97-AF65-F5344CB8AC3E}">
        <p14:creationId xmlns:p14="http://schemas.microsoft.com/office/powerpoint/2010/main" val="424503016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2AAB6-5731-3177-7918-307AFF3343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D3729B-A1E8-F71F-6DE2-579F694BF613}"/>
              </a:ext>
            </a:extLst>
          </p:cNvPr>
          <p:cNvSpPr>
            <a:spLocks noGrp="1"/>
          </p:cNvSpPr>
          <p:nvPr>
            <p:ph type="title"/>
          </p:nvPr>
        </p:nvSpPr>
        <p:spPr/>
        <p:txBody>
          <a:bodyPr/>
          <a:lstStyle/>
          <a:p>
            <a:pPr algn="ctr"/>
            <a:r>
              <a:rPr lang="en-US" b="1" dirty="0"/>
              <a:t>Example 2: Risk Understanding</a:t>
            </a:r>
            <a:br>
              <a:rPr lang="en-US" b="1" dirty="0"/>
            </a:br>
            <a:endParaRPr lang="en-IN" dirty="0"/>
          </a:p>
        </p:txBody>
      </p:sp>
      <p:sp>
        <p:nvSpPr>
          <p:cNvPr id="3" name="Content Placeholder 2">
            <a:extLst>
              <a:ext uri="{FF2B5EF4-FFF2-40B4-BE49-F238E27FC236}">
                <a16:creationId xmlns:a16="http://schemas.microsoft.com/office/drawing/2014/main" id="{B4E5EB95-C746-99C8-25AB-9E1AABD9C9C7}"/>
              </a:ext>
            </a:extLst>
          </p:cNvPr>
          <p:cNvSpPr>
            <a:spLocks noGrp="1"/>
          </p:cNvSpPr>
          <p:nvPr>
            <p:ph idx="1"/>
          </p:nvPr>
        </p:nvSpPr>
        <p:spPr/>
        <p:txBody>
          <a:bodyPr/>
          <a:lstStyle/>
          <a:p>
            <a:r>
              <a:rPr lang="en-US" dirty="0"/>
              <a:t>AI helps identify risk signals earlier.</a:t>
            </a:r>
          </a:p>
          <a:p>
            <a:r>
              <a:rPr lang="en-US" dirty="0"/>
              <a:t>Example:</a:t>
            </a:r>
          </a:p>
          <a:p>
            <a:r>
              <a:rPr lang="en-US" dirty="0"/>
              <a:t>A lending platform may notice:</a:t>
            </a:r>
          </a:p>
          <a:p>
            <a:r>
              <a:rPr lang="en-US" dirty="0"/>
              <a:t>declining account balance</a:t>
            </a:r>
          </a:p>
          <a:p>
            <a:r>
              <a:rPr lang="en-US" dirty="0"/>
              <a:t>increasing credit card usage</a:t>
            </a:r>
          </a:p>
          <a:p>
            <a:r>
              <a:rPr lang="en-US" dirty="0"/>
              <a:t>missed payments</a:t>
            </a:r>
          </a:p>
          <a:p>
            <a:r>
              <a:rPr lang="en-US" dirty="0"/>
              <a:t>AI predicts that this customer may default in the next 3 months.</a:t>
            </a:r>
          </a:p>
          <a:p>
            <a:endParaRPr lang="en-IN" dirty="0"/>
          </a:p>
        </p:txBody>
      </p:sp>
    </p:spTree>
    <p:extLst>
      <p:ext uri="{BB962C8B-B14F-4D97-AF65-F5344CB8AC3E}">
        <p14:creationId xmlns:p14="http://schemas.microsoft.com/office/powerpoint/2010/main" val="291594742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50557-F4BD-FFFA-6A64-0312200479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C2FCDF-D8CD-4C14-E069-D0432143A5A2}"/>
              </a:ext>
            </a:extLst>
          </p:cNvPr>
          <p:cNvSpPr>
            <a:spLocks noGrp="1"/>
          </p:cNvSpPr>
          <p:nvPr>
            <p:ph idx="1"/>
          </p:nvPr>
        </p:nvSpPr>
        <p:spPr/>
        <p:txBody>
          <a:bodyPr/>
          <a:lstStyle/>
          <a:p>
            <a:r>
              <a:rPr lang="en-US" dirty="0"/>
              <a:t>The bank can:</a:t>
            </a:r>
          </a:p>
          <a:p>
            <a:r>
              <a:rPr lang="en-US" dirty="0"/>
              <a:t>reduce credit exposure</a:t>
            </a:r>
          </a:p>
          <a:p>
            <a:r>
              <a:rPr lang="en-US" dirty="0"/>
              <a:t>offer restructuring</a:t>
            </a:r>
          </a:p>
          <a:p>
            <a:r>
              <a:rPr lang="en-US" dirty="0"/>
              <a:t>notify risk teams</a:t>
            </a:r>
          </a:p>
          <a:p>
            <a:endParaRPr lang="en-IN" dirty="0"/>
          </a:p>
        </p:txBody>
      </p:sp>
    </p:spTree>
    <p:extLst>
      <p:ext uri="{BB962C8B-B14F-4D97-AF65-F5344CB8AC3E}">
        <p14:creationId xmlns:p14="http://schemas.microsoft.com/office/powerpoint/2010/main" val="304391743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EE0CD-4BAB-FECF-E064-523453A541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7711EF-C62D-D426-0919-3428F47D2E19}"/>
              </a:ext>
            </a:extLst>
          </p:cNvPr>
          <p:cNvSpPr>
            <a:spLocks noGrp="1"/>
          </p:cNvSpPr>
          <p:nvPr>
            <p:ph type="title"/>
          </p:nvPr>
        </p:nvSpPr>
        <p:spPr/>
        <p:txBody>
          <a:bodyPr/>
          <a:lstStyle/>
          <a:p>
            <a:pPr algn="ctr"/>
            <a:r>
              <a:rPr lang="en-US" b="1" dirty="0"/>
              <a:t>Example 3: Operational Decision Support</a:t>
            </a:r>
            <a:br>
              <a:rPr lang="en-US" b="1" dirty="0"/>
            </a:br>
            <a:endParaRPr lang="en-IN" dirty="0"/>
          </a:p>
        </p:txBody>
      </p:sp>
      <p:sp>
        <p:nvSpPr>
          <p:cNvPr id="3" name="Content Placeholder 2">
            <a:extLst>
              <a:ext uri="{FF2B5EF4-FFF2-40B4-BE49-F238E27FC236}">
                <a16:creationId xmlns:a16="http://schemas.microsoft.com/office/drawing/2014/main" id="{5B58A9B2-A971-AC53-FDB7-B812CB2F2B27}"/>
              </a:ext>
            </a:extLst>
          </p:cNvPr>
          <p:cNvSpPr>
            <a:spLocks noGrp="1"/>
          </p:cNvSpPr>
          <p:nvPr>
            <p:ph idx="1"/>
          </p:nvPr>
        </p:nvSpPr>
        <p:spPr/>
        <p:txBody>
          <a:bodyPr>
            <a:normAutofit fontScale="92500" lnSpcReduction="20000"/>
          </a:bodyPr>
          <a:lstStyle/>
          <a:p>
            <a:r>
              <a:rPr lang="en-US" dirty="0"/>
              <a:t>AI supports internal decision-making.</a:t>
            </a:r>
          </a:p>
          <a:p>
            <a:r>
              <a:rPr lang="en-US" dirty="0"/>
              <a:t>Example:</a:t>
            </a:r>
          </a:p>
          <a:p>
            <a:r>
              <a:rPr lang="en-US" dirty="0"/>
              <a:t>Finance operations may use AI to:</a:t>
            </a:r>
          </a:p>
          <a:p>
            <a:r>
              <a:rPr lang="en-US" dirty="0"/>
              <a:t>prioritize invoices</a:t>
            </a:r>
          </a:p>
          <a:p>
            <a:r>
              <a:rPr lang="en-US" dirty="0"/>
              <a:t>detect duplicate payments</a:t>
            </a:r>
          </a:p>
          <a:p>
            <a:r>
              <a:rPr lang="en-US" dirty="0"/>
              <a:t>identify suspicious vendor activity</a:t>
            </a:r>
          </a:p>
          <a:p>
            <a:r>
              <a:rPr lang="en-US" dirty="0"/>
              <a:t>This improves:</a:t>
            </a:r>
          </a:p>
          <a:p>
            <a:r>
              <a:rPr lang="en-US" dirty="0"/>
              <a:t>efficiency</a:t>
            </a:r>
          </a:p>
          <a:p>
            <a:r>
              <a:rPr lang="en-US" dirty="0"/>
              <a:t>cost control</a:t>
            </a:r>
          </a:p>
          <a:p>
            <a:r>
              <a:rPr lang="en-US" dirty="0"/>
              <a:t>operational accuracy</a:t>
            </a:r>
          </a:p>
          <a:p>
            <a:endParaRPr lang="en-IN" dirty="0"/>
          </a:p>
        </p:txBody>
      </p:sp>
    </p:spTree>
    <p:extLst>
      <p:ext uri="{BB962C8B-B14F-4D97-AF65-F5344CB8AC3E}">
        <p14:creationId xmlns:p14="http://schemas.microsoft.com/office/powerpoint/2010/main" val="8312319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7F7E-8FD1-87D7-820A-A6AA5A4F3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34967-0202-ABC4-5D63-CC69D27D9B46}"/>
              </a:ext>
            </a:extLst>
          </p:cNvPr>
          <p:cNvSpPr>
            <a:spLocks noGrp="1"/>
          </p:cNvSpPr>
          <p:nvPr>
            <p:ph type="title"/>
          </p:nvPr>
        </p:nvSpPr>
        <p:spPr/>
        <p:txBody>
          <a:bodyPr/>
          <a:lstStyle/>
          <a:p>
            <a:pPr algn="ctr"/>
            <a:r>
              <a:rPr lang="en-US" b="1" dirty="0"/>
              <a:t>Evaluating Which Financial Problems </a:t>
            </a:r>
            <a:br>
              <a:rPr lang="en-US" b="1" dirty="0"/>
            </a:br>
            <a:r>
              <a:rPr lang="en-US" b="1" dirty="0"/>
              <a:t>Require AI</a:t>
            </a:r>
            <a:endParaRPr lang="en-IN" b="1" dirty="0"/>
          </a:p>
        </p:txBody>
      </p:sp>
      <p:sp>
        <p:nvSpPr>
          <p:cNvPr id="3" name="Content Placeholder 2">
            <a:extLst>
              <a:ext uri="{FF2B5EF4-FFF2-40B4-BE49-F238E27FC236}">
                <a16:creationId xmlns:a16="http://schemas.microsoft.com/office/drawing/2014/main" id="{53A9E2BE-1CBC-2CA3-C6A7-DFA4FC8A258C}"/>
              </a:ext>
            </a:extLst>
          </p:cNvPr>
          <p:cNvSpPr>
            <a:spLocks noGrp="1"/>
          </p:cNvSpPr>
          <p:nvPr>
            <p:ph idx="1"/>
          </p:nvPr>
        </p:nvSpPr>
        <p:spPr/>
        <p:txBody>
          <a:bodyPr/>
          <a:lstStyle/>
          <a:p>
            <a:r>
              <a:rPr lang="en-US" dirty="0"/>
              <a:t>One of the most important responsibilities of an AI Product Manager is deciding when AI is actually needed.</a:t>
            </a:r>
          </a:p>
          <a:p>
            <a:r>
              <a:rPr lang="en-US" dirty="0"/>
              <a:t>Not every financial problem requires AI.</a:t>
            </a:r>
          </a:p>
          <a:p>
            <a:r>
              <a:rPr lang="en-US" dirty="0"/>
              <a:t>Sometimes simple rules are better.</a:t>
            </a:r>
          </a:p>
          <a:p>
            <a:endParaRPr lang="en-IN" dirty="0"/>
          </a:p>
        </p:txBody>
      </p:sp>
    </p:spTree>
    <p:extLst>
      <p:ext uri="{BB962C8B-B14F-4D97-AF65-F5344CB8AC3E}">
        <p14:creationId xmlns:p14="http://schemas.microsoft.com/office/powerpoint/2010/main" val="181798663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8E9A3-1F8C-F777-2901-CBDDDDF37D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A1F3D7-081F-710C-21DB-1399030313CF}"/>
              </a:ext>
            </a:extLst>
          </p:cNvPr>
          <p:cNvSpPr>
            <a:spLocks noGrp="1"/>
          </p:cNvSpPr>
          <p:nvPr>
            <p:ph type="title"/>
          </p:nvPr>
        </p:nvSpPr>
        <p:spPr/>
        <p:txBody>
          <a:bodyPr/>
          <a:lstStyle/>
          <a:p>
            <a:r>
              <a:rPr lang="en-US" b="1" dirty="0"/>
              <a:t>Step 1: Check If the Problem Involves Patterns</a:t>
            </a:r>
            <a:br>
              <a:rPr lang="en-US" b="1" dirty="0"/>
            </a:br>
            <a:endParaRPr lang="en-IN" dirty="0"/>
          </a:p>
        </p:txBody>
      </p:sp>
      <p:sp>
        <p:nvSpPr>
          <p:cNvPr id="3" name="Content Placeholder 2">
            <a:extLst>
              <a:ext uri="{FF2B5EF4-FFF2-40B4-BE49-F238E27FC236}">
                <a16:creationId xmlns:a16="http://schemas.microsoft.com/office/drawing/2014/main" id="{33BAFD97-2113-5937-0532-FA2B080DC84C}"/>
              </a:ext>
            </a:extLst>
          </p:cNvPr>
          <p:cNvSpPr>
            <a:spLocks noGrp="1"/>
          </p:cNvSpPr>
          <p:nvPr>
            <p:ph idx="1"/>
          </p:nvPr>
        </p:nvSpPr>
        <p:spPr/>
        <p:txBody>
          <a:bodyPr/>
          <a:lstStyle/>
          <a:p>
            <a:r>
              <a:rPr lang="en-US" dirty="0"/>
              <a:t>AI is useful when there are </a:t>
            </a:r>
            <a:r>
              <a:rPr lang="en-US" b="1" dirty="0"/>
              <a:t>complex patterns in data</a:t>
            </a:r>
            <a:r>
              <a:rPr lang="en-US" dirty="0"/>
              <a:t>.</a:t>
            </a:r>
          </a:p>
          <a:p>
            <a:r>
              <a:rPr lang="en-US" dirty="0"/>
              <a:t>Examples:</a:t>
            </a:r>
          </a:p>
          <a:p>
            <a:r>
              <a:rPr lang="en-US" dirty="0"/>
              <a:t>Good AI use cases:</a:t>
            </a:r>
          </a:p>
          <a:p>
            <a:r>
              <a:rPr lang="en-US" dirty="0"/>
              <a:t>fraud detection</a:t>
            </a:r>
          </a:p>
          <a:p>
            <a:r>
              <a:rPr lang="en-US" dirty="0"/>
              <a:t>credit risk prediction</a:t>
            </a:r>
          </a:p>
          <a:p>
            <a:r>
              <a:rPr lang="en-US" dirty="0"/>
              <a:t>transaction anomaly detection</a:t>
            </a:r>
          </a:p>
          <a:p>
            <a:r>
              <a:rPr lang="en-US" dirty="0"/>
              <a:t>customer segmentation</a:t>
            </a:r>
          </a:p>
          <a:p>
            <a:endParaRPr lang="en-IN" dirty="0"/>
          </a:p>
        </p:txBody>
      </p:sp>
    </p:spTree>
    <p:extLst>
      <p:ext uri="{BB962C8B-B14F-4D97-AF65-F5344CB8AC3E}">
        <p14:creationId xmlns:p14="http://schemas.microsoft.com/office/powerpoint/2010/main" val="86636071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ACAB8-9B29-214D-77C4-CBF5FD91A1E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50CAD2-5C04-6B6B-0707-8367150C3EEA}"/>
              </a:ext>
            </a:extLst>
          </p:cNvPr>
          <p:cNvSpPr>
            <a:spLocks noGrp="1"/>
          </p:cNvSpPr>
          <p:nvPr>
            <p:ph idx="1"/>
          </p:nvPr>
        </p:nvSpPr>
        <p:spPr/>
        <p:txBody>
          <a:bodyPr/>
          <a:lstStyle/>
          <a:p>
            <a:r>
              <a:rPr lang="en-US" dirty="0"/>
              <a:t>Poor AI use cases:</a:t>
            </a:r>
          </a:p>
          <a:p>
            <a:r>
              <a:rPr lang="en-US" dirty="0"/>
              <a:t>applying fixed tax rules</a:t>
            </a:r>
          </a:p>
          <a:p>
            <a:r>
              <a:rPr lang="en-US" dirty="0"/>
              <a:t>validating invoice format</a:t>
            </a:r>
          </a:p>
          <a:p>
            <a:r>
              <a:rPr lang="en-US" dirty="0"/>
              <a:t>applying regulatory limits</a:t>
            </a:r>
          </a:p>
          <a:p>
            <a:r>
              <a:rPr lang="en-US" dirty="0"/>
              <a:t>These tasks work better with </a:t>
            </a:r>
            <a:r>
              <a:rPr lang="en-US" b="1" dirty="0"/>
              <a:t>simple rules</a:t>
            </a:r>
            <a:r>
              <a:rPr lang="en-US" dirty="0"/>
              <a:t>.</a:t>
            </a:r>
          </a:p>
          <a:p>
            <a:endParaRPr lang="en-IN" dirty="0"/>
          </a:p>
        </p:txBody>
      </p:sp>
    </p:spTree>
    <p:extLst>
      <p:ext uri="{BB962C8B-B14F-4D97-AF65-F5344CB8AC3E}">
        <p14:creationId xmlns:p14="http://schemas.microsoft.com/office/powerpoint/2010/main" val="62640955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8A78B-8749-991A-C244-DA51160BDD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43B7B-DB02-426E-43D5-7F79962F3EB4}"/>
              </a:ext>
            </a:extLst>
          </p:cNvPr>
          <p:cNvSpPr>
            <a:spLocks noGrp="1"/>
          </p:cNvSpPr>
          <p:nvPr>
            <p:ph type="title"/>
          </p:nvPr>
        </p:nvSpPr>
        <p:spPr/>
        <p:txBody>
          <a:bodyPr/>
          <a:lstStyle/>
          <a:p>
            <a:r>
              <a:rPr lang="en-US" b="1" dirty="0"/>
              <a:t>Step 2: Check If Historical Data Exists</a:t>
            </a:r>
            <a:br>
              <a:rPr lang="en-US" b="1" dirty="0"/>
            </a:br>
            <a:endParaRPr lang="en-IN" dirty="0"/>
          </a:p>
        </p:txBody>
      </p:sp>
      <p:sp>
        <p:nvSpPr>
          <p:cNvPr id="3" name="Content Placeholder 2">
            <a:extLst>
              <a:ext uri="{FF2B5EF4-FFF2-40B4-BE49-F238E27FC236}">
                <a16:creationId xmlns:a16="http://schemas.microsoft.com/office/drawing/2014/main" id="{9215BCEE-8A35-6945-C939-3DE3E6DEDC6F}"/>
              </a:ext>
            </a:extLst>
          </p:cNvPr>
          <p:cNvSpPr>
            <a:spLocks noGrp="1"/>
          </p:cNvSpPr>
          <p:nvPr>
            <p:ph idx="1"/>
          </p:nvPr>
        </p:nvSpPr>
        <p:spPr/>
        <p:txBody>
          <a:bodyPr/>
          <a:lstStyle/>
          <a:p>
            <a:r>
              <a:rPr lang="en-US" dirty="0"/>
              <a:t>AI learns from past data.</a:t>
            </a:r>
          </a:p>
          <a:p>
            <a:r>
              <a:rPr lang="en-US" dirty="0"/>
              <a:t>If there is no historical data, AI cannot learn patterns.</a:t>
            </a:r>
          </a:p>
          <a:p>
            <a:r>
              <a:rPr lang="en-US" dirty="0"/>
              <a:t>Example:</a:t>
            </a:r>
          </a:p>
          <a:p>
            <a:r>
              <a:rPr lang="en-US" dirty="0"/>
              <a:t>AI can predict loan default because banks have decades of repayment data.</a:t>
            </a:r>
          </a:p>
          <a:p>
            <a:r>
              <a:rPr lang="en-US" dirty="0"/>
              <a:t>But AI cannot predict something with no historical data available.</a:t>
            </a:r>
          </a:p>
          <a:p>
            <a:endParaRPr lang="en-IN" dirty="0"/>
          </a:p>
        </p:txBody>
      </p:sp>
    </p:spTree>
    <p:extLst>
      <p:ext uri="{BB962C8B-B14F-4D97-AF65-F5344CB8AC3E}">
        <p14:creationId xmlns:p14="http://schemas.microsoft.com/office/powerpoint/2010/main" val="37921290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5BA75-41C2-F871-7A47-72C45CBAF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E2232F-0C83-450D-EA73-3A250DE3F1C5}"/>
              </a:ext>
            </a:extLst>
          </p:cNvPr>
          <p:cNvSpPr>
            <a:spLocks noGrp="1"/>
          </p:cNvSpPr>
          <p:nvPr>
            <p:ph type="title"/>
          </p:nvPr>
        </p:nvSpPr>
        <p:spPr/>
        <p:txBody>
          <a:bodyPr>
            <a:normAutofit fontScale="90000"/>
          </a:bodyPr>
          <a:lstStyle/>
          <a:p>
            <a:pPr algn="ctr"/>
            <a:r>
              <a:rPr lang="en-US" b="1" dirty="0"/>
              <a:t>Step 3: Check If the Problem Requires Prediction</a:t>
            </a:r>
            <a:br>
              <a:rPr lang="en-US" b="1" dirty="0"/>
            </a:br>
            <a:endParaRPr lang="en-IN" dirty="0"/>
          </a:p>
        </p:txBody>
      </p:sp>
      <p:sp>
        <p:nvSpPr>
          <p:cNvPr id="3" name="Content Placeholder 2">
            <a:extLst>
              <a:ext uri="{FF2B5EF4-FFF2-40B4-BE49-F238E27FC236}">
                <a16:creationId xmlns:a16="http://schemas.microsoft.com/office/drawing/2014/main" id="{956DAD95-AEA9-DF60-E574-927252AF9600}"/>
              </a:ext>
            </a:extLst>
          </p:cNvPr>
          <p:cNvSpPr>
            <a:spLocks noGrp="1"/>
          </p:cNvSpPr>
          <p:nvPr>
            <p:ph idx="1"/>
          </p:nvPr>
        </p:nvSpPr>
        <p:spPr/>
        <p:txBody>
          <a:bodyPr/>
          <a:lstStyle/>
          <a:p>
            <a:r>
              <a:rPr lang="en-US" dirty="0"/>
              <a:t>AI works well when the goal is to predict something.</a:t>
            </a:r>
          </a:p>
          <a:p>
            <a:r>
              <a:rPr lang="en-US" dirty="0"/>
              <a:t>Examples:</a:t>
            </a:r>
          </a:p>
          <a:p>
            <a:r>
              <a:rPr lang="en-US" dirty="0"/>
              <a:t>Which customer may default?</a:t>
            </a:r>
          </a:p>
          <a:p>
            <a:r>
              <a:rPr lang="en-US" dirty="0"/>
              <a:t>Which transaction may be fraud?</a:t>
            </a:r>
          </a:p>
          <a:p>
            <a:r>
              <a:rPr lang="en-US" dirty="0"/>
              <a:t>Which customers may respond to an offer?</a:t>
            </a:r>
          </a:p>
          <a:p>
            <a:r>
              <a:rPr lang="en-US" dirty="0"/>
              <a:t>Prediction-based problems are ideal for AI.</a:t>
            </a:r>
          </a:p>
          <a:p>
            <a:endParaRPr lang="en-IN" dirty="0"/>
          </a:p>
        </p:txBody>
      </p:sp>
    </p:spTree>
    <p:extLst>
      <p:ext uri="{BB962C8B-B14F-4D97-AF65-F5344CB8AC3E}">
        <p14:creationId xmlns:p14="http://schemas.microsoft.com/office/powerpoint/2010/main" val="113122576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43777-CFE0-63EE-4B81-5788A937D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C893C-A8A7-29C2-DC15-A26D338679E0}"/>
              </a:ext>
            </a:extLst>
          </p:cNvPr>
          <p:cNvSpPr>
            <a:spLocks noGrp="1"/>
          </p:cNvSpPr>
          <p:nvPr>
            <p:ph type="title"/>
          </p:nvPr>
        </p:nvSpPr>
        <p:spPr/>
        <p:txBody>
          <a:bodyPr>
            <a:normAutofit fontScale="90000"/>
          </a:bodyPr>
          <a:lstStyle/>
          <a:p>
            <a:r>
              <a:rPr lang="en-US" b="1" dirty="0"/>
              <a:t>Step 4: Check If the Problem Involves Large Data</a:t>
            </a:r>
            <a:br>
              <a:rPr lang="en-US" b="1" dirty="0"/>
            </a:br>
            <a:endParaRPr lang="en-IN" dirty="0"/>
          </a:p>
        </p:txBody>
      </p:sp>
      <p:sp>
        <p:nvSpPr>
          <p:cNvPr id="3" name="Content Placeholder 2">
            <a:extLst>
              <a:ext uri="{FF2B5EF4-FFF2-40B4-BE49-F238E27FC236}">
                <a16:creationId xmlns:a16="http://schemas.microsoft.com/office/drawing/2014/main" id="{9F85ADBC-6898-7564-4B0E-70674435BA4D}"/>
              </a:ext>
            </a:extLst>
          </p:cNvPr>
          <p:cNvSpPr>
            <a:spLocks noGrp="1"/>
          </p:cNvSpPr>
          <p:nvPr>
            <p:ph idx="1"/>
          </p:nvPr>
        </p:nvSpPr>
        <p:spPr/>
        <p:txBody>
          <a:bodyPr/>
          <a:lstStyle/>
          <a:p>
            <a:pPr>
              <a:lnSpc>
                <a:spcPct val="150000"/>
              </a:lnSpc>
            </a:pPr>
            <a:r>
              <a:rPr lang="en-US" dirty="0"/>
              <a:t>AI is useful when there are </a:t>
            </a:r>
            <a:r>
              <a:rPr lang="en-US" b="1" dirty="0"/>
              <a:t>large volumes of data</a:t>
            </a:r>
            <a:r>
              <a:rPr lang="en-US" dirty="0"/>
              <a:t>.</a:t>
            </a:r>
          </a:p>
          <a:p>
            <a:pPr>
              <a:lnSpc>
                <a:spcPct val="150000"/>
              </a:lnSpc>
            </a:pPr>
            <a:r>
              <a:rPr lang="en-US" dirty="0"/>
              <a:t>Example:</a:t>
            </a:r>
          </a:p>
          <a:p>
            <a:pPr>
              <a:lnSpc>
                <a:spcPct val="150000"/>
              </a:lnSpc>
            </a:pPr>
            <a:r>
              <a:rPr lang="en-US" dirty="0"/>
              <a:t>A bank processes </a:t>
            </a:r>
            <a:r>
              <a:rPr lang="en-US" b="1" dirty="0"/>
              <a:t>millions of transactions daily</a:t>
            </a:r>
            <a:r>
              <a:rPr lang="en-US" dirty="0"/>
              <a:t>.</a:t>
            </a:r>
          </a:p>
          <a:p>
            <a:pPr>
              <a:lnSpc>
                <a:spcPct val="150000"/>
              </a:lnSpc>
            </a:pPr>
            <a:r>
              <a:rPr lang="en-US" dirty="0"/>
              <a:t>Manual analysis is impossible.</a:t>
            </a:r>
          </a:p>
          <a:p>
            <a:pPr>
              <a:lnSpc>
                <a:spcPct val="150000"/>
              </a:lnSpc>
            </a:pPr>
            <a:r>
              <a:rPr lang="en-US" dirty="0"/>
              <a:t>AI can analyze patterns instantly.</a:t>
            </a:r>
          </a:p>
          <a:p>
            <a:pPr>
              <a:lnSpc>
                <a:spcPct val="150000"/>
              </a:lnSpc>
            </a:pPr>
            <a:endParaRPr lang="en-IN" dirty="0"/>
          </a:p>
        </p:txBody>
      </p:sp>
    </p:spTree>
    <p:extLst>
      <p:ext uri="{BB962C8B-B14F-4D97-AF65-F5344CB8AC3E}">
        <p14:creationId xmlns:p14="http://schemas.microsoft.com/office/powerpoint/2010/main" val="126500695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4AF1D-A9A3-E517-5D37-EFB3137DD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BE1A0-B75D-EF2A-EC7E-CA2E9DAAEA72}"/>
              </a:ext>
            </a:extLst>
          </p:cNvPr>
          <p:cNvSpPr>
            <a:spLocks noGrp="1"/>
          </p:cNvSpPr>
          <p:nvPr>
            <p:ph type="title"/>
          </p:nvPr>
        </p:nvSpPr>
        <p:spPr/>
        <p:txBody>
          <a:bodyPr>
            <a:normAutofit fontScale="90000"/>
          </a:bodyPr>
          <a:lstStyle/>
          <a:p>
            <a:pPr algn="ctr"/>
            <a:br>
              <a:rPr lang="en-US" b="1" dirty="0"/>
            </a:br>
            <a:r>
              <a:rPr lang="en-US" b="1" dirty="0"/>
              <a:t>Simple Decision Framework for PMs</a:t>
            </a:r>
            <a:br>
              <a:rPr lang="en-US" b="1" dirty="0"/>
            </a:br>
            <a:endParaRPr lang="en-IN" dirty="0"/>
          </a:p>
        </p:txBody>
      </p:sp>
      <p:sp>
        <p:nvSpPr>
          <p:cNvPr id="3" name="Content Placeholder 2">
            <a:extLst>
              <a:ext uri="{FF2B5EF4-FFF2-40B4-BE49-F238E27FC236}">
                <a16:creationId xmlns:a16="http://schemas.microsoft.com/office/drawing/2014/main" id="{DDCA67F6-15D1-D68F-7E77-94F21C1BAC2D}"/>
              </a:ext>
            </a:extLst>
          </p:cNvPr>
          <p:cNvSpPr>
            <a:spLocks noGrp="1"/>
          </p:cNvSpPr>
          <p:nvPr>
            <p:ph idx="1"/>
          </p:nvPr>
        </p:nvSpPr>
        <p:spPr/>
        <p:txBody>
          <a:bodyPr/>
          <a:lstStyle/>
          <a:p>
            <a:r>
              <a:rPr lang="en-US" dirty="0"/>
              <a:t>Before choosing AI, a Product Manager should ask:</a:t>
            </a:r>
          </a:p>
          <a:p>
            <a:r>
              <a:rPr lang="en-US" dirty="0"/>
              <a:t>Is the problem pattern-based?</a:t>
            </a:r>
          </a:p>
          <a:p>
            <a:r>
              <a:rPr lang="en-US" dirty="0"/>
              <a:t>Do we have enough historical data?</a:t>
            </a:r>
          </a:p>
          <a:p>
            <a:r>
              <a:rPr lang="en-US" dirty="0"/>
              <a:t>Does the problem require prediction?</a:t>
            </a:r>
          </a:p>
          <a:p>
            <a:r>
              <a:rPr lang="en-US" dirty="0"/>
              <a:t>Is the data volume large?</a:t>
            </a:r>
          </a:p>
          <a:p>
            <a:r>
              <a:rPr lang="en-US" dirty="0"/>
              <a:t>If the answer is </a:t>
            </a:r>
            <a:r>
              <a:rPr lang="en-US" b="1" dirty="0"/>
              <a:t>yes to most of these</a:t>
            </a:r>
            <a:r>
              <a:rPr lang="en-US" dirty="0"/>
              <a:t>, AI is likely useful.</a:t>
            </a:r>
          </a:p>
          <a:p>
            <a:endParaRPr lang="en-IN" dirty="0"/>
          </a:p>
        </p:txBody>
      </p:sp>
    </p:spTree>
    <p:extLst>
      <p:ext uri="{BB962C8B-B14F-4D97-AF65-F5344CB8AC3E}">
        <p14:creationId xmlns:p14="http://schemas.microsoft.com/office/powerpoint/2010/main" val="84438749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63F58-CE08-B5EA-CD58-C7018BB5099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7FA942-3B0A-609A-5B7A-C8B0362CCA71}"/>
              </a:ext>
            </a:extLst>
          </p:cNvPr>
          <p:cNvSpPr>
            <a:spLocks noGrp="1"/>
          </p:cNvSpPr>
          <p:nvPr>
            <p:ph idx="1"/>
          </p:nvPr>
        </p:nvSpPr>
        <p:spPr/>
        <p:txBody>
          <a:bodyPr/>
          <a:lstStyle/>
          <a:p>
            <a:r>
              <a:rPr lang="en-US" dirty="0"/>
              <a:t>AI Product Management is about </a:t>
            </a:r>
            <a:r>
              <a:rPr lang="en-US" b="1" dirty="0"/>
              <a:t>making the right decisions about where and how to use AI</a:t>
            </a:r>
            <a:r>
              <a:rPr lang="en-US" dirty="0"/>
              <a:t>.</a:t>
            </a:r>
          </a:p>
          <a:p>
            <a:r>
              <a:rPr lang="en-US" dirty="0"/>
              <a:t>Product Managers must:</a:t>
            </a:r>
          </a:p>
          <a:p>
            <a:r>
              <a:rPr lang="en-US" dirty="0"/>
              <a:t>✔ Understand how AI behaves</a:t>
            </a:r>
            <a:br>
              <a:rPr lang="en-US" dirty="0"/>
            </a:br>
            <a:r>
              <a:rPr lang="en-US" dirty="0"/>
              <a:t>✔ Use AI to better understand customers and risks</a:t>
            </a:r>
            <a:br>
              <a:rPr lang="en-US" dirty="0"/>
            </a:br>
            <a:r>
              <a:rPr lang="en-US" dirty="0"/>
              <a:t>✔ Identify financial problems where AI adds real value</a:t>
            </a:r>
            <a:br>
              <a:rPr lang="en-US" dirty="0"/>
            </a:br>
            <a:r>
              <a:rPr lang="en-US" dirty="0"/>
              <a:t>✔ Avoid using AI when simple rules are sufficient</a:t>
            </a:r>
          </a:p>
          <a:p>
            <a:endParaRPr lang="en-IN" dirty="0"/>
          </a:p>
        </p:txBody>
      </p:sp>
    </p:spTree>
    <p:extLst>
      <p:ext uri="{BB962C8B-B14F-4D97-AF65-F5344CB8AC3E}">
        <p14:creationId xmlns:p14="http://schemas.microsoft.com/office/powerpoint/2010/main" val="268598826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EB537-790C-75C2-E44E-45D8BBC4B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80982-E8F1-C9D7-AE0D-938D94A56CF9}"/>
              </a:ext>
            </a:extLst>
          </p:cNvPr>
          <p:cNvSpPr>
            <a:spLocks noGrp="1"/>
          </p:cNvSpPr>
          <p:nvPr>
            <p:ph type="title"/>
          </p:nvPr>
        </p:nvSpPr>
        <p:spPr/>
        <p:txBody>
          <a:bodyPr/>
          <a:lstStyle/>
          <a:p>
            <a:pPr algn="ctr"/>
            <a:r>
              <a:rPr lang="en-US" b="1" dirty="0"/>
              <a:t>Machine Learning Thinking for Finance (Business Perspective)</a:t>
            </a:r>
            <a:endParaRPr lang="en-IN" b="1" dirty="0"/>
          </a:p>
        </p:txBody>
      </p:sp>
      <p:sp>
        <p:nvSpPr>
          <p:cNvPr id="3" name="Content Placeholder 2">
            <a:extLst>
              <a:ext uri="{FF2B5EF4-FFF2-40B4-BE49-F238E27FC236}">
                <a16:creationId xmlns:a16="http://schemas.microsoft.com/office/drawing/2014/main" id="{D1C29409-59CC-CA32-D5CF-07A8B1C51340}"/>
              </a:ext>
            </a:extLst>
          </p:cNvPr>
          <p:cNvSpPr>
            <a:spLocks noGrp="1"/>
          </p:cNvSpPr>
          <p:nvPr>
            <p:ph idx="1"/>
          </p:nvPr>
        </p:nvSpPr>
        <p:spPr>
          <a:xfrm>
            <a:off x="993912" y="2236303"/>
            <a:ext cx="10359887" cy="3940659"/>
          </a:xfrm>
        </p:spPr>
        <p:txBody>
          <a:bodyPr>
            <a:normAutofit/>
          </a:bodyPr>
          <a:lstStyle/>
          <a:p>
            <a:pPr>
              <a:lnSpc>
                <a:spcPct val="200000"/>
              </a:lnSpc>
            </a:pPr>
            <a:r>
              <a:rPr lang="en-US" dirty="0"/>
              <a:t>Machine Learning (ML) is a branch of Artificial Intelligence that </a:t>
            </a:r>
            <a:r>
              <a:rPr lang="en-US" b="1" dirty="0"/>
              <a:t>learns patterns from historical data and uses them to make predictions or decisions</a:t>
            </a:r>
            <a:r>
              <a:rPr lang="en-US" dirty="0"/>
              <a:t>.</a:t>
            </a:r>
          </a:p>
          <a:p>
            <a:pPr>
              <a:lnSpc>
                <a:spcPct val="200000"/>
              </a:lnSpc>
            </a:pPr>
            <a:endParaRPr lang="en-IN" dirty="0"/>
          </a:p>
        </p:txBody>
      </p:sp>
    </p:spTree>
    <p:extLst>
      <p:ext uri="{BB962C8B-B14F-4D97-AF65-F5344CB8AC3E}">
        <p14:creationId xmlns:p14="http://schemas.microsoft.com/office/powerpoint/2010/main" val="99520867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0E10E-3895-737F-0DDB-71071D98AA8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D505B6-F6C3-D7C1-EEAF-D8D8699DAAE4}"/>
              </a:ext>
            </a:extLst>
          </p:cNvPr>
          <p:cNvSpPr>
            <a:spLocks noGrp="1"/>
          </p:cNvSpPr>
          <p:nvPr>
            <p:ph idx="1"/>
          </p:nvPr>
        </p:nvSpPr>
        <p:spPr/>
        <p:txBody>
          <a:bodyPr/>
          <a:lstStyle/>
          <a:p>
            <a:r>
              <a:rPr lang="en-US" dirty="0"/>
              <a:t>Instead of writing thousands of rules manually, ML systems </a:t>
            </a:r>
            <a:r>
              <a:rPr lang="en-US" b="1" dirty="0"/>
              <a:t>learn from past financial data</a:t>
            </a:r>
            <a:r>
              <a:rPr lang="en-US" dirty="0"/>
              <a:t> such as:</a:t>
            </a:r>
          </a:p>
          <a:p>
            <a:r>
              <a:rPr lang="en-US" dirty="0"/>
              <a:t>transaction history</a:t>
            </a:r>
          </a:p>
          <a:p>
            <a:r>
              <a:rPr lang="en-US" dirty="0"/>
              <a:t>loan repayments</a:t>
            </a:r>
          </a:p>
          <a:p>
            <a:r>
              <a:rPr lang="en-US" dirty="0"/>
              <a:t>payment behavior</a:t>
            </a:r>
          </a:p>
          <a:p>
            <a:r>
              <a:rPr lang="en-US" dirty="0"/>
              <a:t>spending patterns</a:t>
            </a:r>
          </a:p>
          <a:p>
            <a:r>
              <a:rPr lang="en-US" dirty="0"/>
              <a:t>customer interactions</a:t>
            </a:r>
          </a:p>
          <a:p>
            <a:r>
              <a:rPr lang="en-US" dirty="0"/>
              <a:t>Using this data, ML can </a:t>
            </a:r>
            <a:r>
              <a:rPr lang="en-US" b="1" dirty="0"/>
              <a:t>identify patterns, predict outcomes, and classify customers or transactions</a:t>
            </a:r>
            <a:r>
              <a:rPr lang="en-US" dirty="0"/>
              <a:t>.</a:t>
            </a:r>
          </a:p>
          <a:p>
            <a:endParaRPr lang="en-IN" dirty="0"/>
          </a:p>
        </p:txBody>
      </p:sp>
    </p:spTree>
    <p:extLst>
      <p:ext uri="{BB962C8B-B14F-4D97-AF65-F5344CB8AC3E}">
        <p14:creationId xmlns:p14="http://schemas.microsoft.com/office/powerpoint/2010/main" val="151895089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1C340-EF39-DDF7-D492-6344B860E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460EC3-D6E4-D2BB-1D3B-6A9F517DF9C6}"/>
              </a:ext>
            </a:extLst>
          </p:cNvPr>
          <p:cNvSpPr>
            <a:spLocks noGrp="1"/>
          </p:cNvSpPr>
          <p:nvPr>
            <p:ph type="title"/>
          </p:nvPr>
        </p:nvSpPr>
        <p:spPr/>
        <p:txBody>
          <a:bodyPr/>
          <a:lstStyle/>
          <a:p>
            <a:pPr algn="ctr"/>
            <a:r>
              <a:rPr lang="en-US" b="1" dirty="0"/>
              <a:t>How AI Identifies Patterns (Fraud, Defaults)</a:t>
            </a:r>
            <a:br>
              <a:rPr lang="en-US" b="1" dirty="0"/>
            </a:br>
            <a:endParaRPr lang="en-IN" dirty="0"/>
          </a:p>
        </p:txBody>
      </p:sp>
      <p:sp>
        <p:nvSpPr>
          <p:cNvPr id="3" name="Content Placeholder 2">
            <a:extLst>
              <a:ext uri="{FF2B5EF4-FFF2-40B4-BE49-F238E27FC236}">
                <a16:creationId xmlns:a16="http://schemas.microsoft.com/office/drawing/2014/main" id="{CEFAB1FB-29A7-F2B8-806F-FFA36B1E887F}"/>
              </a:ext>
            </a:extLst>
          </p:cNvPr>
          <p:cNvSpPr>
            <a:spLocks noGrp="1"/>
          </p:cNvSpPr>
          <p:nvPr>
            <p:ph idx="1"/>
          </p:nvPr>
        </p:nvSpPr>
        <p:spPr/>
        <p:txBody>
          <a:bodyPr/>
          <a:lstStyle/>
          <a:p>
            <a:r>
              <a:rPr lang="en-US" dirty="0"/>
              <a:t>One of the most powerful capabilities of AI is detecting patterns that humans cannot easily see.</a:t>
            </a:r>
          </a:p>
          <a:p>
            <a:r>
              <a:rPr lang="en-US" dirty="0"/>
              <a:t>Financial systems generate massive amounts of data:</a:t>
            </a:r>
          </a:p>
          <a:p>
            <a:r>
              <a:rPr lang="en-US" dirty="0"/>
              <a:t>millions of transactions</a:t>
            </a:r>
          </a:p>
          <a:p>
            <a:r>
              <a:rPr lang="en-US" dirty="0"/>
              <a:t>thousands of customers</a:t>
            </a:r>
          </a:p>
          <a:p>
            <a:r>
              <a:rPr lang="en-US" dirty="0"/>
              <a:t>complex payment behaviors</a:t>
            </a:r>
          </a:p>
          <a:p>
            <a:r>
              <a:rPr lang="en-US" dirty="0"/>
              <a:t>AI analyzes this data and identifies unusual or risky patterns.</a:t>
            </a:r>
          </a:p>
          <a:p>
            <a:endParaRPr lang="en-IN" dirty="0"/>
          </a:p>
        </p:txBody>
      </p:sp>
    </p:spTree>
    <p:extLst>
      <p:ext uri="{BB962C8B-B14F-4D97-AF65-F5344CB8AC3E}">
        <p14:creationId xmlns:p14="http://schemas.microsoft.com/office/powerpoint/2010/main" val="336287945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1050B-3781-68F3-8CCF-EF496AEB11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21E0B0-71F1-4CF5-7E1A-FA39517A4686}"/>
              </a:ext>
            </a:extLst>
          </p:cNvPr>
          <p:cNvSpPr>
            <a:spLocks noGrp="1"/>
          </p:cNvSpPr>
          <p:nvPr>
            <p:ph type="title"/>
          </p:nvPr>
        </p:nvSpPr>
        <p:spPr/>
        <p:txBody>
          <a:bodyPr>
            <a:normAutofit fontScale="90000"/>
          </a:bodyPr>
          <a:lstStyle/>
          <a:p>
            <a:pPr algn="ctr"/>
            <a:br>
              <a:rPr lang="en-US" b="1" dirty="0"/>
            </a:br>
            <a:r>
              <a:rPr lang="en-US" b="1" dirty="0"/>
              <a:t>Example: Fraud Detection</a:t>
            </a:r>
            <a:br>
              <a:rPr lang="en-US" b="1" dirty="0"/>
            </a:br>
            <a:endParaRPr lang="en-IN" dirty="0"/>
          </a:p>
        </p:txBody>
      </p:sp>
      <p:sp>
        <p:nvSpPr>
          <p:cNvPr id="3" name="Content Placeholder 2">
            <a:extLst>
              <a:ext uri="{FF2B5EF4-FFF2-40B4-BE49-F238E27FC236}">
                <a16:creationId xmlns:a16="http://schemas.microsoft.com/office/drawing/2014/main" id="{5A8C5D75-A0E0-3B82-E4A2-A2421A6FDB73}"/>
              </a:ext>
            </a:extLst>
          </p:cNvPr>
          <p:cNvSpPr>
            <a:spLocks noGrp="1"/>
          </p:cNvSpPr>
          <p:nvPr>
            <p:ph idx="1"/>
          </p:nvPr>
        </p:nvSpPr>
        <p:spPr/>
        <p:txBody>
          <a:bodyPr/>
          <a:lstStyle/>
          <a:p>
            <a:r>
              <a:rPr lang="en-US" dirty="0"/>
              <a:t>Fraudulent transactions often follow hidden patterns.</a:t>
            </a:r>
          </a:p>
          <a:p>
            <a:r>
              <a:rPr lang="en-US" dirty="0"/>
              <a:t>Example signals AI may detect:</a:t>
            </a:r>
          </a:p>
          <a:p>
            <a:r>
              <a:rPr lang="en-US" dirty="0"/>
              <a:t>sudden large purchases in another country</a:t>
            </a:r>
          </a:p>
          <a:p>
            <a:r>
              <a:rPr lang="en-US" dirty="0"/>
              <a:t>many transactions within seconds</a:t>
            </a:r>
          </a:p>
          <a:p>
            <a:r>
              <a:rPr lang="en-US" dirty="0"/>
              <a:t>unusual merchant categories</a:t>
            </a:r>
          </a:p>
          <a:p>
            <a:r>
              <a:rPr lang="en-US" dirty="0"/>
              <a:t>transactions at unusual times</a:t>
            </a:r>
          </a:p>
          <a:p>
            <a:endParaRPr lang="en-IN" dirty="0"/>
          </a:p>
        </p:txBody>
      </p:sp>
    </p:spTree>
    <p:extLst>
      <p:ext uri="{BB962C8B-B14F-4D97-AF65-F5344CB8AC3E}">
        <p14:creationId xmlns:p14="http://schemas.microsoft.com/office/powerpoint/2010/main" val="96342800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34149-2305-026B-51EB-170BCEC2A3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C1076-A684-09A4-44AC-F1FD843E8929}"/>
              </a:ext>
            </a:extLst>
          </p:cNvPr>
          <p:cNvSpPr>
            <a:spLocks noGrp="1"/>
          </p:cNvSpPr>
          <p:nvPr>
            <p:ph type="title"/>
          </p:nvPr>
        </p:nvSpPr>
        <p:spPr/>
        <p:txBody>
          <a:bodyPr/>
          <a:lstStyle/>
          <a:p>
            <a:pPr algn="ctr"/>
            <a:r>
              <a:rPr lang="en-IN" b="1" dirty="0"/>
              <a:t>Example pattern</a:t>
            </a:r>
          </a:p>
        </p:txBody>
      </p:sp>
      <p:sp>
        <p:nvSpPr>
          <p:cNvPr id="3" name="Content Placeholder 2">
            <a:extLst>
              <a:ext uri="{FF2B5EF4-FFF2-40B4-BE49-F238E27FC236}">
                <a16:creationId xmlns:a16="http://schemas.microsoft.com/office/drawing/2014/main" id="{71298D35-E9A3-3E64-5732-D04330339BEF}"/>
              </a:ext>
            </a:extLst>
          </p:cNvPr>
          <p:cNvSpPr>
            <a:spLocks noGrp="1"/>
          </p:cNvSpPr>
          <p:nvPr>
            <p:ph idx="1"/>
          </p:nvPr>
        </p:nvSpPr>
        <p:spPr/>
        <p:txBody>
          <a:bodyPr/>
          <a:lstStyle/>
          <a:p>
            <a:r>
              <a:rPr lang="en-US" dirty="0"/>
              <a:t>Normal behaviour:</a:t>
            </a:r>
          </a:p>
          <a:p>
            <a:r>
              <a:rPr lang="en-US" dirty="0"/>
              <a:t>Customer spends ₹2000–₹5000 in local stores.</a:t>
            </a:r>
          </a:p>
          <a:p>
            <a:endParaRPr lang="en-US" dirty="0"/>
          </a:p>
          <a:p>
            <a:r>
              <a:rPr lang="en-US" dirty="0"/>
              <a:t>Suspicious behaviour:</a:t>
            </a:r>
          </a:p>
          <a:p>
            <a:r>
              <a:rPr lang="en-US" dirty="0"/>
              <a:t>₹85,000 transaction in another country at midnight.</a:t>
            </a:r>
            <a:endParaRPr lang="en-IN" dirty="0"/>
          </a:p>
        </p:txBody>
      </p:sp>
    </p:spTree>
    <p:extLst>
      <p:ext uri="{BB962C8B-B14F-4D97-AF65-F5344CB8AC3E}">
        <p14:creationId xmlns:p14="http://schemas.microsoft.com/office/powerpoint/2010/main" val="136559778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1EA8D-9376-5E56-7BC7-310589B059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E54B9C-C63D-9BB3-A7C5-11B6DC7B988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9B153B3-7223-622F-04B1-BFF5C5A9324C}"/>
              </a:ext>
            </a:extLst>
          </p:cNvPr>
          <p:cNvSpPr>
            <a:spLocks noGrp="1"/>
          </p:cNvSpPr>
          <p:nvPr>
            <p:ph idx="1"/>
          </p:nvPr>
        </p:nvSpPr>
        <p:spPr/>
        <p:txBody>
          <a:bodyPr/>
          <a:lstStyle/>
          <a:p>
            <a:r>
              <a:rPr lang="en-US" dirty="0"/>
              <a:t>AI learns these patterns from past fraud cases and flags suspicious transactions instantly.</a:t>
            </a:r>
          </a:p>
          <a:p>
            <a:r>
              <a:rPr lang="en-US" dirty="0"/>
              <a:t>This allows banks to:</a:t>
            </a:r>
          </a:p>
          <a:p>
            <a:r>
              <a:rPr lang="en-US" dirty="0"/>
              <a:t>block suspicious transactions</a:t>
            </a:r>
          </a:p>
          <a:p>
            <a:r>
              <a:rPr lang="en-US" dirty="0"/>
              <a:t>send alerts to customers</a:t>
            </a:r>
          </a:p>
          <a:p>
            <a:r>
              <a:rPr lang="en-US" dirty="0"/>
              <a:t>prevent financial losses</a:t>
            </a:r>
          </a:p>
          <a:p>
            <a:endParaRPr lang="en-IN" dirty="0"/>
          </a:p>
        </p:txBody>
      </p:sp>
    </p:spTree>
    <p:extLst>
      <p:ext uri="{BB962C8B-B14F-4D97-AF65-F5344CB8AC3E}">
        <p14:creationId xmlns:p14="http://schemas.microsoft.com/office/powerpoint/2010/main" val="176073420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74C4C-D9BD-0478-8595-D9B9F1F66F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ADA5A-5C1D-8450-F199-38AFD9732C06}"/>
              </a:ext>
            </a:extLst>
          </p:cNvPr>
          <p:cNvSpPr>
            <a:spLocks noGrp="1"/>
          </p:cNvSpPr>
          <p:nvPr>
            <p:ph type="title"/>
          </p:nvPr>
        </p:nvSpPr>
        <p:spPr/>
        <p:txBody>
          <a:bodyPr>
            <a:normAutofit fontScale="90000"/>
          </a:bodyPr>
          <a:lstStyle/>
          <a:p>
            <a:pPr algn="ctr"/>
            <a:br>
              <a:rPr lang="en-US" b="1" dirty="0"/>
            </a:br>
            <a:r>
              <a:rPr lang="en-US" b="1" dirty="0"/>
              <a:t>Example: Loan Default Pattern</a:t>
            </a:r>
            <a:br>
              <a:rPr lang="en-US" b="1" dirty="0"/>
            </a:br>
            <a:endParaRPr lang="en-IN" dirty="0"/>
          </a:p>
        </p:txBody>
      </p:sp>
      <p:sp>
        <p:nvSpPr>
          <p:cNvPr id="3" name="Content Placeholder 2">
            <a:extLst>
              <a:ext uri="{FF2B5EF4-FFF2-40B4-BE49-F238E27FC236}">
                <a16:creationId xmlns:a16="http://schemas.microsoft.com/office/drawing/2014/main" id="{20F694F5-A49C-C1FE-9185-C9F4FC278D6A}"/>
              </a:ext>
            </a:extLst>
          </p:cNvPr>
          <p:cNvSpPr>
            <a:spLocks noGrp="1"/>
          </p:cNvSpPr>
          <p:nvPr>
            <p:ph idx="1"/>
          </p:nvPr>
        </p:nvSpPr>
        <p:spPr/>
        <p:txBody>
          <a:bodyPr/>
          <a:lstStyle/>
          <a:p>
            <a:r>
              <a:rPr lang="en-US" dirty="0"/>
              <a:t>AI can analyze past loan data and identify patterns such as:</a:t>
            </a:r>
          </a:p>
          <a:p>
            <a:r>
              <a:rPr lang="en-US" dirty="0"/>
              <a:t>Customers who:</a:t>
            </a:r>
          </a:p>
          <a:p>
            <a:r>
              <a:rPr lang="en-US" dirty="0"/>
              <a:t>frequently miss credit card payments</a:t>
            </a:r>
          </a:p>
          <a:p>
            <a:r>
              <a:rPr lang="en-US" dirty="0"/>
              <a:t>have unstable income</a:t>
            </a:r>
          </a:p>
          <a:p>
            <a:r>
              <a:rPr lang="en-US" dirty="0"/>
              <a:t>have high credit utilization</a:t>
            </a:r>
          </a:p>
          <a:p>
            <a:r>
              <a:rPr lang="en-US" dirty="0"/>
              <a:t>may have higher probability of defaulting on loans.</a:t>
            </a:r>
          </a:p>
          <a:p>
            <a:r>
              <a:rPr lang="en-US" dirty="0"/>
              <a:t>These patterns help financial institutions manage lending risk better.</a:t>
            </a:r>
          </a:p>
          <a:p>
            <a:endParaRPr lang="en-IN" dirty="0"/>
          </a:p>
        </p:txBody>
      </p:sp>
    </p:spTree>
    <p:extLst>
      <p:ext uri="{BB962C8B-B14F-4D97-AF65-F5344CB8AC3E}">
        <p14:creationId xmlns:p14="http://schemas.microsoft.com/office/powerpoint/2010/main" val="308396279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77204-71B9-22F4-493E-01B240164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273A1-F6EF-892F-6F26-2D515805B558}"/>
              </a:ext>
            </a:extLst>
          </p:cNvPr>
          <p:cNvSpPr>
            <a:spLocks noGrp="1"/>
          </p:cNvSpPr>
          <p:nvPr>
            <p:ph type="title"/>
          </p:nvPr>
        </p:nvSpPr>
        <p:spPr/>
        <p:txBody>
          <a:bodyPr/>
          <a:lstStyle/>
          <a:p>
            <a:pPr algn="ctr"/>
            <a:r>
              <a:rPr lang="en-US" b="1" dirty="0"/>
              <a:t>How AI Predicts Outcomes (Risk, Cash Flow)</a:t>
            </a:r>
            <a:endParaRPr lang="en-IN" b="1" dirty="0"/>
          </a:p>
        </p:txBody>
      </p:sp>
      <p:sp>
        <p:nvSpPr>
          <p:cNvPr id="3" name="Content Placeholder 2">
            <a:extLst>
              <a:ext uri="{FF2B5EF4-FFF2-40B4-BE49-F238E27FC236}">
                <a16:creationId xmlns:a16="http://schemas.microsoft.com/office/drawing/2014/main" id="{2058064C-0DBE-9F9C-C55E-39FF3E9B4069}"/>
              </a:ext>
            </a:extLst>
          </p:cNvPr>
          <p:cNvSpPr>
            <a:spLocks noGrp="1"/>
          </p:cNvSpPr>
          <p:nvPr>
            <p:ph idx="1"/>
          </p:nvPr>
        </p:nvSpPr>
        <p:spPr/>
        <p:txBody>
          <a:bodyPr/>
          <a:lstStyle/>
          <a:p>
            <a:r>
              <a:rPr lang="en-US" dirty="0"/>
              <a:t>Another important capability of AI is prediction.</a:t>
            </a:r>
          </a:p>
          <a:p>
            <a:r>
              <a:rPr lang="en-US" dirty="0"/>
              <a:t>Prediction means estimating what is likely to happen in the future based on past data.</a:t>
            </a:r>
          </a:p>
          <a:p>
            <a:r>
              <a:rPr lang="en-US" dirty="0"/>
              <a:t>This is extremely valuable in finance because organizations constantly need to predict:</a:t>
            </a:r>
          </a:p>
          <a:p>
            <a:r>
              <a:rPr lang="en-US" dirty="0"/>
              <a:t>risk</a:t>
            </a:r>
          </a:p>
          <a:p>
            <a:r>
              <a:rPr lang="en-US" dirty="0"/>
              <a:t>revenue</a:t>
            </a:r>
          </a:p>
          <a:p>
            <a:r>
              <a:rPr lang="en-US" dirty="0"/>
              <a:t>cash flow</a:t>
            </a:r>
          </a:p>
          <a:p>
            <a:r>
              <a:rPr lang="en-US" dirty="0"/>
              <a:t>repayment behavior</a:t>
            </a:r>
          </a:p>
          <a:p>
            <a:endParaRPr lang="en-IN" dirty="0"/>
          </a:p>
        </p:txBody>
      </p:sp>
    </p:spTree>
    <p:extLst>
      <p:ext uri="{BB962C8B-B14F-4D97-AF65-F5344CB8AC3E}">
        <p14:creationId xmlns:p14="http://schemas.microsoft.com/office/powerpoint/2010/main" val="281153977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05351-7703-BF17-56D4-F49CB1341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D05CFA-CB4C-2C98-E98C-9777DED29C0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710CF7F-3968-3FFF-0AD0-59D975948425}"/>
              </a:ext>
            </a:extLst>
          </p:cNvPr>
          <p:cNvSpPr>
            <a:spLocks noGrp="1"/>
          </p:cNvSpPr>
          <p:nvPr>
            <p:ph idx="1"/>
          </p:nvPr>
        </p:nvSpPr>
        <p:spPr/>
        <p:txBody>
          <a:bodyPr/>
          <a:lstStyle/>
          <a:p>
            <a:r>
              <a:rPr lang="en-US" b="1" dirty="0"/>
              <a:t>Example: Credit Risk Prediction</a:t>
            </a:r>
          </a:p>
          <a:p>
            <a:r>
              <a:rPr lang="en-US" dirty="0"/>
              <a:t>AI analyzes historical loan data including:</a:t>
            </a:r>
          </a:p>
          <a:p>
            <a:r>
              <a:rPr lang="en-US" dirty="0"/>
              <a:t>income levels</a:t>
            </a:r>
          </a:p>
          <a:p>
            <a:r>
              <a:rPr lang="en-US" dirty="0"/>
              <a:t>repayment history</a:t>
            </a:r>
          </a:p>
          <a:p>
            <a:r>
              <a:rPr lang="en-US" dirty="0"/>
              <a:t>outstanding debts</a:t>
            </a:r>
          </a:p>
          <a:p>
            <a:r>
              <a:rPr lang="en-US" dirty="0"/>
              <a:t>employment stability</a:t>
            </a:r>
          </a:p>
          <a:p>
            <a:r>
              <a:rPr lang="en-US" dirty="0"/>
              <a:t>Using this information, AI predicts:</a:t>
            </a:r>
          </a:p>
          <a:p>
            <a:r>
              <a:rPr lang="en-US" b="1" dirty="0"/>
              <a:t>“What is the probability that this borrower may default?”</a:t>
            </a:r>
            <a:endParaRPr lang="en-US" dirty="0"/>
          </a:p>
          <a:p>
            <a:endParaRPr lang="en-IN" dirty="0"/>
          </a:p>
        </p:txBody>
      </p:sp>
    </p:spTree>
    <p:extLst>
      <p:ext uri="{BB962C8B-B14F-4D97-AF65-F5344CB8AC3E}">
        <p14:creationId xmlns:p14="http://schemas.microsoft.com/office/powerpoint/2010/main" val="186746761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C481A-5143-75F9-1D2B-E547312C28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640ACD-E194-9012-4173-D020F614BB28}"/>
              </a:ext>
            </a:extLst>
          </p:cNvPr>
          <p:cNvSpPr>
            <a:spLocks noGrp="1"/>
          </p:cNvSpPr>
          <p:nvPr>
            <p:ph idx="1"/>
          </p:nvPr>
        </p:nvSpPr>
        <p:spPr/>
        <p:txBody>
          <a:bodyPr/>
          <a:lstStyle/>
          <a:p>
            <a:r>
              <a:rPr lang="en-US" dirty="0"/>
              <a:t>Banks can use this prediction to:</a:t>
            </a:r>
          </a:p>
          <a:p>
            <a:r>
              <a:rPr lang="en-US" dirty="0"/>
              <a:t>approve or reject loans</a:t>
            </a:r>
          </a:p>
          <a:p>
            <a:r>
              <a:rPr lang="en-US" dirty="0"/>
              <a:t>adjust interest rates</a:t>
            </a:r>
          </a:p>
          <a:p>
            <a:r>
              <a:rPr lang="en-US" dirty="0"/>
              <a:t>reduce exposure to risky borrowers</a:t>
            </a:r>
          </a:p>
          <a:p>
            <a:endParaRPr lang="en-IN" dirty="0"/>
          </a:p>
        </p:txBody>
      </p:sp>
    </p:spTree>
    <p:extLst>
      <p:ext uri="{BB962C8B-B14F-4D97-AF65-F5344CB8AC3E}">
        <p14:creationId xmlns:p14="http://schemas.microsoft.com/office/powerpoint/2010/main" val="213994564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AF516-47D7-E187-4BD4-B9827501E9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015D7-81FD-5B7C-9259-E145A06D7372}"/>
              </a:ext>
            </a:extLst>
          </p:cNvPr>
          <p:cNvSpPr>
            <a:spLocks noGrp="1"/>
          </p:cNvSpPr>
          <p:nvPr>
            <p:ph type="title"/>
          </p:nvPr>
        </p:nvSpPr>
        <p:spPr/>
        <p:txBody>
          <a:bodyPr>
            <a:normAutofit fontScale="90000"/>
          </a:bodyPr>
          <a:lstStyle/>
          <a:p>
            <a:pPr algn="ctr"/>
            <a:br>
              <a:rPr lang="en-US" b="1" dirty="0"/>
            </a:br>
            <a:r>
              <a:rPr lang="en-US" b="1" dirty="0"/>
              <a:t>Example: Cash Flow Forecasting</a:t>
            </a:r>
            <a:br>
              <a:rPr lang="en-US" b="1" dirty="0"/>
            </a:br>
            <a:endParaRPr lang="en-IN" dirty="0"/>
          </a:p>
        </p:txBody>
      </p:sp>
      <p:sp>
        <p:nvSpPr>
          <p:cNvPr id="3" name="Content Placeholder 2">
            <a:extLst>
              <a:ext uri="{FF2B5EF4-FFF2-40B4-BE49-F238E27FC236}">
                <a16:creationId xmlns:a16="http://schemas.microsoft.com/office/drawing/2014/main" id="{10FDC8B0-0495-9DA5-6989-998B0BBB592E}"/>
              </a:ext>
            </a:extLst>
          </p:cNvPr>
          <p:cNvSpPr>
            <a:spLocks noGrp="1"/>
          </p:cNvSpPr>
          <p:nvPr>
            <p:ph idx="1"/>
          </p:nvPr>
        </p:nvSpPr>
        <p:spPr/>
        <p:txBody>
          <a:bodyPr/>
          <a:lstStyle/>
          <a:p>
            <a:r>
              <a:rPr lang="en-US" dirty="0"/>
              <a:t>Finance teams need to estimate future cash inflows and outflows.</a:t>
            </a:r>
          </a:p>
          <a:p>
            <a:r>
              <a:rPr lang="en-US" dirty="0"/>
              <a:t>AI can analyze:</a:t>
            </a:r>
          </a:p>
          <a:p>
            <a:r>
              <a:rPr lang="en-US" dirty="0"/>
              <a:t>historical revenue</a:t>
            </a:r>
          </a:p>
          <a:p>
            <a:r>
              <a:rPr lang="en-US" dirty="0"/>
              <a:t>seasonal patterns</a:t>
            </a:r>
          </a:p>
          <a:p>
            <a:r>
              <a:rPr lang="en-US" dirty="0"/>
              <a:t>supplier payments</a:t>
            </a:r>
          </a:p>
          <a:p>
            <a:r>
              <a:rPr lang="en-US" dirty="0"/>
              <a:t>customer payment delays</a:t>
            </a:r>
          </a:p>
          <a:p>
            <a:endParaRPr lang="en-IN" dirty="0"/>
          </a:p>
        </p:txBody>
      </p:sp>
    </p:spTree>
    <p:extLst>
      <p:ext uri="{BB962C8B-B14F-4D97-AF65-F5344CB8AC3E}">
        <p14:creationId xmlns:p14="http://schemas.microsoft.com/office/powerpoint/2010/main" val="346762501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4F0AF-EECE-2BA8-A8E7-EEEEAFEB1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954EA3-0649-072D-81ED-1FE8278EDEB4}"/>
              </a:ext>
            </a:extLst>
          </p:cNvPr>
          <p:cNvSpPr>
            <a:spLocks noGrp="1"/>
          </p:cNvSpPr>
          <p:nvPr>
            <p:ph type="title"/>
          </p:nvPr>
        </p:nvSpPr>
        <p:spPr/>
        <p:txBody>
          <a:bodyPr/>
          <a:lstStyle/>
          <a:p>
            <a:pPr algn="ctr"/>
            <a:r>
              <a:rPr lang="en-IN" b="1" dirty="0"/>
              <a:t>Example insight</a:t>
            </a:r>
          </a:p>
        </p:txBody>
      </p:sp>
      <p:sp>
        <p:nvSpPr>
          <p:cNvPr id="3" name="Content Placeholder 2">
            <a:extLst>
              <a:ext uri="{FF2B5EF4-FFF2-40B4-BE49-F238E27FC236}">
                <a16:creationId xmlns:a16="http://schemas.microsoft.com/office/drawing/2014/main" id="{2A82860C-0239-7C5A-DD06-513CD2E7B961}"/>
              </a:ext>
            </a:extLst>
          </p:cNvPr>
          <p:cNvSpPr>
            <a:spLocks noGrp="1"/>
          </p:cNvSpPr>
          <p:nvPr>
            <p:ph idx="1"/>
          </p:nvPr>
        </p:nvSpPr>
        <p:spPr/>
        <p:txBody>
          <a:bodyPr/>
          <a:lstStyle/>
          <a:p>
            <a:r>
              <a:rPr lang="en-US" dirty="0"/>
              <a:t>AI prediction:</a:t>
            </a:r>
          </a:p>
          <a:p>
            <a:r>
              <a:rPr lang="en-US" dirty="0"/>
              <a:t>Cash inflow next month may drop by 18%</a:t>
            </a:r>
          </a:p>
          <a:p>
            <a:r>
              <a:rPr lang="en-US" dirty="0"/>
              <a:t>due to delayed customer payments.</a:t>
            </a:r>
          </a:p>
          <a:p>
            <a:endParaRPr lang="en-US" dirty="0"/>
          </a:p>
          <a:p>
            <a:r>
              <a:rPr lang="en-US" dirty="0"/>
              <a:t>This allows companies to </a:t>
            </a:r>
            <a:r>
              <a:rPr lang="en-US" b="1" dirty="0"/>
              <a:t>plan working capital more effectively</a:t>
            </a:r>
            <a:r>
              <a:rPr lang="en-US" dirty="0"/>
              <a:t>.</a:t>
            </a:r>
            <a:endParaRPr lang="en-IN" dirty="0"/>
          </a:p>
        </p:txBody>
      </p:sp>
    </p:spTree>
    <p:extLst>
      <p:ext uri="{BB962C8B-B14F-4D97-AF65-F5344CB8AC3E}">
        <p14:creationId xmlns:p14="http://schemas.microsoft.com/office/powerpoint/2010/main" val="345779468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185F1-80F9-AA37-AD9E-AB3C7A4093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5218E-B838-7C51-CEAD-1857F8284131}"/>
              </a:ext>
            </a:extLst>
          </p:cNvPr>
          <p:cNvSpPr>
            <a:spLocks noGrp="1"/>
          </p:cNvSpPr>
          <p:nvPr>
            <p:ph type="title"/>
          </p:nvPr>
        </p:nvSpPr>
        <p:spPr/>
        <p:txBody>
          <a:bodyPr/>
          <a:lstStyle/>
          <a:p>
            <a:pPr algn="ctr"/>
            <a:r>
              <a:rPr lang="en-US" b="1" dirty="0"/>
              <a:t>How AI Classifies Customers </a:t>
            </a:r>
            <a:br>
              <a:rPr lang="en-US" b="1" dirty="0"/>
            </a:br>
            <a:r>
              <a:rPr lang="en-US" b="1" dirty="0"/>
              <a:t>(Priority, Risk Levels)</a:t>
            </a:r>
            <a:endParaRPr lang="en-IN" b="1" dirty="0"/>
          </a:p>
        </p:txBody>
      </p:sp>
      <p:sp>
        <p:nvSpPr>
          <p:cNvPr id="3" name="Content Placeholder 2">
            <a:extLst>
              <a:ext uri="{FF2B5EF4-FFF2-40B4-BE49-F238E27FC236}">
                <a16:creationId xmlns:a16="http://schemas.microsoft.com/office/drawing/2014/main" id="{70E3ACEC-860E-381E-7518-DADD62207905}"/>
              </a:ext>
            </a:extLst>
          </p:cNvPr>
          <p:cNvSpPr>
            <a:spLocks noGrp="1"/>
          </p:cNvSpPr>
          <p:nvPr>
            <p:ph idx="1"/>
          </p:nvPr>
        </p:nvSpPr>
        <p:spPr/>
        <p:txBody>
          <a:bodyPr/>
          <a:lstStyle/>
          <a:p>
            <a:r>
              <a:rPr lang="en-US" dirty="0"/>
              <a:t>Classification means </a:t>
            </a:r>
            <a:r>
              <a:rPr lang="en-US" b="1" dirty="0"/>
              <a:t>grouping items into categories</a:t>
            </a:r>
            <a:r>
              <a:rPr lang="en-US" dirty="0"/>
              <a:t>.</a:t>
            </a:r>
          </a:p>
          <a:p>
            <a:r>
              <a:rPr lang="en-US" dirty="0"/>
              <a:t>In finance, AI can classify:</a:t>
            </a:r>
          </a:p>
          <a:p>
            <a:r>
              <a:rPr lang="en-US" dirty="0"/>
              <a:t>customers</a:t>
            </a:r>
          </a:p>
          <a:p>
            <a:r>
              <a:rPr lang="en-US" dirty="0"/>
              <a:t>transactions</a:t>
            </a:r>
          </a:p>
          <a:p>
            <a:r>
              <a:rPr lang="en-US" dirty="0"/>
              <a:t>loans</a:t>
            </a:r>
          </a:p>
          <a:p>
            <a:r>
              <a:rPr lang="en-US" dirty="0"/>
              <a:t>vendors</a:t>
            </a:r>
          </a:p>
          <a:p>
            <a:r>
              <a:rPr lang="en-US" dirty="0"/>
              <a:t>based on risk, value, or behavior.</a:t>
            </a:r>
          </a:p>
          <a:p>
            <a:endParaRPr lang="en-IN" dirty="0"/>
          </a:p>
        </p:txBody>
      </p:sp>
    </p:spTree>
    <p:extLst>
      <p:ext uri="{BB962C8B-B14F-4D97-AF65-F5344CB8AC3E}">
        <p14:creationId xmlns:p14="http://schemas.microsoft.com/office/powerpoint/2010/main" val="240231885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3F2F6-F5BB-6E9A-4667-CEC040FD1E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8ABA10-1F44-45AE-71E3-165EE19BF6ED}"/>
              </a:ext>
            </a:extLst>
          </p:cNvPr>
          <p:cNvSpPr>
            <a:spLocks noGrp="1"/>
          </p:cNvSpPr>
          <p:nvPr>
            <p:ph idx="1"/>
          </p:nvPr>
        </p:nvSpPr>
        <p:spPr/>
        <p:txBody>
          <a:bodyPr/>
          <a:lstStyle/>
          <a:p>
            <a:r>
              <a:rPr lang="en-US" dirty="0"/>
              <a:t>Banks can use this classification to:</a:t>
            </a:r>
          </a:p>
          <a:p>
            <a:r>
              <a:rPr lang="en-US" dirty="0"/>
              <a:t>monitor high-risk customers</a:t>
            </a:r>
          </a:p>
          <a:p>
            <a:r>
              <a:rPr lang="en-US" dirty="0"/>
              <a:t>limit credit exposure</a:t>
            </a:r>
          </a:p>
          <a:p>
            <a:r>
              <a:rPr lang="en-US" dirty="0"/>
              <a:t>trigger additional verification</a:t>
            </a:r>
          </a:p>
          <a:p>
            <a:endParaRPr lang="en-IN" dirty="0"/>
          </a:p>
        </p:txBody>
      </p:sp>
    </p:spTree>
    <p:extLst>
      <p:ext uri="{BB962C8B-B14F-4D97-AF65-F5344CB8AC3E}">
        <p14:creationId xmlns:p14="http://schemas.microsoft.com/office/powerpoint/2010/main" val="362866109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1009F-A474-43CE-B80E-DDC2D7873871}"/>
              </a:ext>
            </a:extLst>
          </p:cNvPr>
          <p:cNvSpPr>
            <a:spLocks noGrp="1"/>
          </p:cNvSpPr>
          <p:nvPr>
            <p:ph type="title"/>
          </p:nvPr>
        </p:nvSpPr>
        <p:spPr/>
        <p:txBody>
          <a:bodyPr/>
          <a:lstStyle/>
          <a:p>
            <a:r>
              <a:rPr lang="en-US" b="1" dirty="0"/>
              <a:t>Example: Customer Priority Segmentation</a:t>
            </a:r>
            <a:br>
              <a:rPr lang="en-US" b="1" dirty="0"/>
            </a:br>
            <a:endParaRPr lang="en-IN" dirty="0"/>
          </a:p>
        </p:txBody>
      </p:sp>
      <p:sp>
        <p:nvSpPr>
          <p:cNvPr id="3" name="Content Placeholder 2">
            <a:extLst>
              <a:ext uri="{FF2B5EF4-FFF2-40B4-BE49-F238E27FC236}">
                <a16:creationId xmlns:a16="http://schemas.microsoft.com/office/drawing/2014/main" id="{80E2FB57-BE0A-299B-0BB5-6B552D045D80}"/>
              </a:ext>
            </a:extLst>
          </p:cNvPr>
          <p:cNvSpPr>
            <a:spLocks noGrp="1"/>
          </p:cNvSpPr>
          <p:nvPr>
            <p:ph idx="1"/>
          </p:nvPr>
        </p:nvSpPr>
        <p:spPr/>
        <p:txBody>
          <a:bodyPr/>
          <a:lstStyle/>
          <a:p>
            <a:r>
              <a:rPr lang="en-US" dirty="0"/>
              <a:t>Financial institutions often classify customers into segments:</a:t>
            </a:r>
          </a:p>
          <a:p>
            <a:r>
              <a:rPr lang="en-US" dirty="0"/>
              <a:t>Premium customers</a:t>
            </a:r>
          </a:p>
          <a:p>
            <a:r>
              <a:rPr lang="en-US" dirty="0"/>
              <a:t>High-value customers</a:t>
            </a:r>
          </a:p>
          <a:p>
            <a:r>
              <a:rPr lang="en-US" dirty="0"/>
              <a:t>Standard customers</a:t>
            </a:r>
          </a:p>
          <a:p>
            <a:r>
              <a:rPr lang="en-US" dirty="0"/>
              <a:t>Low engagement customers</a:t>
            </a:r>
          </a:p>
          <a:p>
            <a:endParaRPr lang="en-IN" dirty="0"/>
          </a:p>
        </p:txBody>
      </p:sp>
    </p:spTree>
    <p:extLst>
      <p:ext uri="{BB962C8B-B14F-4D97-AF65-F5344CB8AC3E}">
        <p14:creationId xmlns:p14="http://schemas.microsoft.com/office/powerpoint/2010/main" val="283293480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8FBC9-0540-F61D-5D52-2F0216A6EF0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83E416-DA62-5E05-355E-826FCA17C198}"/>
              </a:ext>
            </a:extLst>
          </p:cNvPr>
          <p:cNvSpPr>
            <a:spLocks noGrp="1"/>
          </p:cNvSpPr>
          <p:nvPr>
            <p:ph idx="1"/>
          </p:nvPr>
        </p:nvSpPr>
        <p:spPr/>
        <p:txBody>
          <a:bodyPr/>
          <a:lstStyle/>
          <a:p>
            <a:r>
              <a:rPr lang="en-US" dirty="0"/>
              <a:t>AI analyzes:</a:t>
            </a:r>
          </a:p>
          <a:p>
            <a:r>
              <a:rPr lang="en-US" dirty="0"/>
              <a:t>account balance</a:t>
            </a:r>
          </a:p>
          <a:p>
            <a:r>
              <a:rPr lang="en-US" dirty="0"/>
              <a:t>transaction frequency</a:t>
            </a:r>
          </a:p>
          <a:p>
            <a:r>
              <a:rPr lang="en-US" dirty="0"/>
              <a:t>product usage</a:t>
            </a:r>
          </a:p>
          <a:p>
            <a:r>
              <a:rPr lang="en-US" dirty="0"/>
              <a:t>spending behavior</a:t>
            </a:r>
          </a:p>
          <a:p>
            <a:r>
              <a:rPr lang="en-US" dirty="0"/>
              <a:t>Example result:</a:t>
            </a:r>
          </a:p>
          <a:p>
            <a:r>
              <a:rPr lang="en-US" dirty="0"/>
              <a:t>Customer Segment:</a:t>
            </a:r>
            <a:br>
              <a:rPr lang="en-US" dirty="0"/>
            </a:br>
            <a:r>
              <a:rPr lang="en-US" dirty="0"/>
              <a:t>High-value frequent traveler</a:t>
            </a:r>
          </a:p>
          <a:p>
            <a:endParaRPr lang="en-IN" dirty="0"/>
          </a:p>
        </p:txBody>
      </p:sp>
    </p:spTree>
    <p:extLst>
      <p:ext uri="{BB962C8B-B14F-4D97-AF65-F5344CB8AC3E}">
        <p14:creationId xmlns:p14="http://schemas.microsoft.com/office/powerpoint/2010/main" val="81871809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3271F-F648-C9B0-2CFA-3E95A89FD9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78784B-3C4D-B526-94DB-08EF01E8F36C}"/>
              </a:ext>
            </a:extLst>
          </p:cNvPr>
          <p:cNvSpPr>
            <a:spLocks noGrp="1"/>
          </p:cNvSpPr>
          <p:nvPr>
            <p:ph idx="1"/>
          </p:nvPr>
        </p:nvSpPr>
        <p:spPr/>
        <p:txBody>
          <a:bodyPr/>
          <a:lstStyle/>
          <a:p>
            <a:r>
              <a:rPr lang="en-US" dirty="0"/>
              <a:t>The bank may offer:</a:t>
            </a:r>
          </a:p>
          <a:p>
            <a:r>
              <a:rPr lang="en-US" dirty="0"/>
              <a:t>premium travel cards</a:t>
            </a:r>
          </a:p>
          <a:p>
            <a:r>
              <a:rPr lang="en-US" dirty="0"/>
              <a:t>airport lounge benefits</a:t>
            </a:r>
          </a:p>
          <a:p>
            <a:r>
              <a:rPr lang="en-US" dirty="0"/>
              <a:t>higher credit limits</a:t>
            </a:r>
          </a:p>
          <a:p>
            <a:endParaRPr lang="en-IN" dirty="0"/>
          </a:p>
        </p:txBody>
      </p:sp>
    </p:spTree>
    <p:extLst>
      <p:ext uri="{BB962C8B-B14F-4D97-AF65-F5344CB8AC3E}">
        <p14:creationId xmlns:p14="http://schemas.microsoft.com/office/powerpoint/2010/main" val="77578383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E382B-1713-CD8B-DFCE-988593F49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572EF5-F2CD-3CC7-23F2-E653A56BA21E}"/>
              </a:ext>
            </a:extLst>
          </p:cNvPr>
          <p:cNvSpPr>
            <a:spLocks noGrp="1"/>
          </p:cNvSpPr>
          <p:nvPr>
            <p:ph type="title"/>
          </p:nvPr>
        </p:nvSpPr>
        <p:spPr/>
        <p:txBody>
          <a:bodyPr/>
          <a:lstStyle/>
          <a:p>
            <a:pPr algn="ctr"/>
            <a:r>
              <a:rPr lang="en-US" b="1" dirty="0"/>
              <a:t>Examples from Finance Functions</a:t>
            </a:r>
            <a:br>
              <a:rPr lang="en-US" b="1" dirty="0"/>
            </a:br>
            <a:endParaRPr lang="en-IN" dirty="0"/>
          </a:p>
        </p:txBody>
      </p:sp>
      <p:sp>
        <p:nvSpPr>
          <p:cNvPr id="3" name="Content Placeholder 2">
            <a:extLst>
              <a:ext uri="{FF2B5EF4-FFF2-40B4-BE49-F238E27FC236}">
                <a16:creationId xmlns:a16="http://schemas.microsoft.com/office/drawing/2014/main" id="{BE5E6264-5579-5F0A-4A30-A532473DB3AA}"/>
              </a:ext>
            </a:extLst>
          </p:cNvPr>
          <p:cNvSpPr>
            <a:spLocks noGrp="1"/>
          </p:cNvSpPr>
          <p:nvPr>
            <p:ph idx="1"/>
          </p:nvPr>
        </p:nvSpPr>
        <p:spPr/>
        <p:txBody>
          <a:bodyPr/>
          <a:lstStyle/>
          <a:p>
            <a:r>
              <a:rPr lang="en-US" b="1" dirty="0"/>
              <a:t>Lending</a:t>
            </a:r>
          </a:p>
          <a:p>
            <a:r>
              <a:rPr lang="en-US" dirty="0"/>
              <a:t>AI helps improve lending decisions.</a:t>
            </a:r>
          </a:p>
          <a:p>
            <a:r>
              <a:rPr lang="en-US" dirty="0"/>
              <a:t>Applications:</a:t>
            </a:r>
          </a:p>
          <a:p>
            <a:r>
              <a:rPr lang="en-US" dirty="0"/>
              <a:t>credit risk prediction</a:t>
            </a:r>
          </a:p>
          <a:p>
            <a:r>
              <a:rPr lang="en-US" dirty="0"/>
              <a:t>loan approval scoring</a:t>
            </a:r>
          </a:p>
          <a:p>
            <a:r>
              <a:rPr lang="en-US" dirty="0"/>
              <a:t>default probability estimation</a:t>
            </a:r>
          </a:p>
          <a:p>
            <a:r>
              <a:rPr lang="en-US" dirty="0"/>
              <a:t>Example:</a:t>
            </a:r>
          </a:p>
          <a:p>
            <a:r>
              <a:rPr lang="en-US" dirty="0"/>
              <a:t>AI predicts </a:t>
            </a:r>
            <a:r>
              <a:rPr lang="en-US" b="1" dirty="0"/>
              <a:t>which borrowers are most likely to repay loans</a:t>
            </a:r>
            <a:r>
              <a:rPr lang="en-US" dirty="0"/>
              <a:t>.</a:t>
            </a:r>
          </a:p>
          <a:p>
            <a:endParaRPr lang="en-IN" dirty="0"/>
          </a:p>
        </p:txBody>
      </p:sp>
    </p:spTree>
    <p:extLst>
      <p:ext uri="{BB962C8B-B14F-4D97-AF65-F5344CB8AC3E}">
        <p14:creationId xmlns:p14="http://schemas.microsoft.com/office/powerpoint/2010/main" val="242200837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75E57-8FE6-9C0D-F538-863BC5CB8EE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33F251-00ED-0B22-C330-BD66EB026131}"/>
              </a:ext>
            </a:extLst>
          </p:cNvPr>
          <p:cNvSpPr>
            <a:spLocks noGrp="1"/>
          </p:cNvSpPr>
          <p:nvPr>
            <p:ph idx="1"/>
          </p:nvPr>
        </p:nvSpPr>
        <p:spPr/>
        <p:txBody>
          <a:bodyPr/>
          <a:lstStyle/>
          <a:p>
            <a:r>
              <a:rPr lang="en-US" dirty="0"/>
              <a:t>Benefits:</a:t>
            </a:r>
          </a:p>
          <a:p>
            <a:r>
              <a:rPr lang="en-US" dirty="0"/>
              <a:t>fewer bad loans</a:t>
            </a:r>
          </a:p>
          <a:p>
            <a:r>
              <a:rPr lang="en-US" dirty="0"/>
              <a:t>faster loan approvals</a:t>
            </a:r>
          </a:p>
          <a:p>
            <a:r>
              <a:rPr lang="en-US" dirty="0"/>
              <a:t>better risk management</a:t>
            </a:r>
          </a:p>
          <a:p>
            <a:endParaRPr lang="en-IN" dirty="0"/>
          </a:p>
        </p:txBody>
      </p:sp>
    </p:spTree>
    <p:extLst>
      <p:ext uri="{BB962C8B-B14F-4D97-AF65-F5344CB8AC3E}">
        <p14:creationId xmlns:p14="http://schemas.microsoft.com/office/powerpoint/2010/main" val="127573991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4B171-8630-3CC6-B134-299945CAA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C2DCF8-90FF-B845-5985-19607937426E}"/>
              </a:ext>
            </a:extLst>
          </p:cNvPr>
          <p:cNvSpPr>
            <a:spLocks noGrp="1"/>
          </p:cNvSpPr>
          <p:nvPr>
            <p:ph type="title"/>
          </p:nvPr>
        </p:nvSpPr>
        <p:spPr/>
        <p:txBody>
          <a:bodyPr/>
          <a:lstStyle/>
          <a:p>
            <a:pPr algn="ctr"/>
            <a:r>
              <a:rPr lang="en-US" b="1" dirty="0"/>
              <a:t>Payments</a:t>
            </a:r>
            <a:br>
              <a:rPr lang="en-US" b="1" dirty="0"/>
            </a:br>
            <a:endParaRPr lang="en-IN" dirty="0"/>
          </a:p>
        </p:txBody>
      </p:sp>
      <p:sp>
        <p:nvSpPr>
          <p:cNvPr id="3" name="Content Placeholder 2">
            <a:extLst>
              <a:ext uri="{FF2B5EF4-FFF2-40B4-BE49-F238E27FC236}">
                <a16:creationId xmlns:a16="http://schemas.microsoft.com/office/drawing/2014/main" id="{CE41CDFE-EF25-75DA-7936-97ED730FEB30}"/>
              </a:ext>
            </a:extLst>
          </p:cNvPr>
          <p:cNvSpPr>
            <a:spLocks noGrp="1"/>
          </p:cNvSpPr>
          <p:nvPr>
            <p:ph idx="1"/>
          </p:nvPr>
        </p:nvSpPr>
        <p:spPr/>
        <p:txBody>
          <a:bodyPr>
            <a:normAutofit/>
          </a:bodyPr>
          <a:lstStyle/>
          <a:p>
            <a:r>
              <a:rPr lang="en-US" dirty="0"/>
              <a:t>Payment systems process millions of transactions daily.</a:t>
            </a:r>
          </a:p>
          <a:p>
            <a:r>
              <a:rPr lang="en-US" dirty="0"/>
              <a:t>AI helps in:</a:t>
            </a:r>
          </a:p>
          <a:p>
            <a:r>
              <a:rPr lang="en-US" dirty="0"/>
              <a:t>fraud detection</a:t>
            </a:r>
          </a:p>
          <a:p>
            <a:r>
              <a:rPr lang="en-US" dirty="0"/>
              <a:t>transaction anomaly detection</a:t>
            </a:r>
          </a:p>
          <a:p>
            <a:r>
              <a:rPr lang="en-US" dirty="0"/>
              <a:t>payment risk scoring</a:t>
            </a:r>
          </a:p>
          <a:p>
            <a:r>
              <a:rPr lang="en-US" dirty="0"/>
              <a:t>Example:</a:t>
            </a:r>
          </a:p>
          <a:p>
            <a:r>
              <a:rPr lang="en-US" dirty="0"/>
              <a:t>AI identifies unusual spending patterns and flags fraudulent transactions in real time</a:t>
            </a:r>
          </a:p>
          <a:p>
            <a:endParaRPr lang="en-IN" dirty="0"/>
          </a:p>
        </p:txBody>
      </p:sp>
    </p:spTree>
    <p:extLst>
      <p:ext uri="{BB962C8B-B14F-4D97-AF65-F5344CB8AC3E}">
        <p14:creationId xmlns:p14="http://schemas.microsoft.com/office/powerpoint/2010/main" val="182591562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2BE6B-4809-CC88-9CF0-677D7FAD2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68E60-4239-108C-B7A9-C0B12B97790C}"/>
              </a:ext>
            </a:extLst>
          </p:cNvPr>
          <p:cNvSpPr>
            <a:spLocks noGrp="1"/>
          </p:cNvSpPr>
          <p:nvPr>
            <p:ph type="title"/>
          </p:nvPr>
        </p:nvSpPr>
        <p:spPr/>
        <p:txBody>
          <a:bodyPr/>
          <a:lstStyle/>
          <a:p>
            <a:pPr algn="ctr"/>
            <a:r>
              <a:rPr lang="en-US" b="1" dirty="0"/>
              <a:t>Reconciliation</a:t>
            </a:r>
            <a:br>
              <a:rPr lang="en-US" b="1" dirty="0"/>
            </a:br>
            <a:endParaRPr lang="en-IN" dirty="0"/>
          </a:p>
        </p:txBody>
      </p:sp>
      <p:sp>
        <p:nvSpPr>
          <p:cNvPr id="3" name="Content Placeholder 2">
            <a:extLst>
              <a:ext uri="{FF2B5EF4-FFF2-40B4-BE49-F238E27FC236}">
                <a16:creationId xmlns:a16="http://schemas.microsoft.com/office/drawing/2014/main" id="{380CF737-1F8A-1A32-F178-8F62E6CAB8CA}"/>
              </a:ext>
            </a:extLst>
          </p:cNvPr>
          <p:cNvSpPr>
            <a:spLocks noGrp="1"/>
          </p:cNvSpPr>
          <p:nvPr>
            <p:ph idx="1"/>
          </p:nvPr>
        </p:nvSpPr>
        <p:spPr>
          <a:xfrm>
            <a:off x="619539" y="1875321"/>
            <a:ext cx="10515600" cy="4351338"/>
          </a:xfrm>
        </p:spPr>
        <p:txBody>
          <a:bodyPr>
            <a:normAutofit/>
          </a:bodyPr>
          <a:lstStyle/>
          <a:p>
            <a:r>
              <a:rPr lang="en-US" dirty="0"/>
              <a:t>Finance teams spend significant time reconciling:</a:t>
            </a:r>
          </a:p>
          <a:p>
            <a:r>
              <a:rPr lang="en-US" dirty="0"/>
              <a:t>bank statements</a:t>
            </a:r>
          </a:p>
          <a:p>
            <a:r>
              <a:rPr lang="en-US" dirty="0"/>
              <a:t>invoices</a:t>
            </a:r>
          </a:p>
          <a:p>
            <a:r>
              <a:rPr lang="en-US" dirty="0"/>
              <a:t>payments</a:t>
            </a:r>
          </a:p>
          <a:p>
            <a:r>
              <a:rPr lang="en-US" dirty="0"/>
              <a:t>AI can automatically match transactions using pattern recognition.</a:t>
            </a:r>
          </a:p>
          <a:p>
            <a:endParaRPr lang="en-IN" dirty="0"/>
          </a:p>
        </p:txBody>
      </p:sp>
    </p:spTree>
    <p:extLst>
      <p:ext uri="{BB962C8B-B14F-4D97-AF65-F5344CB8AC3E}">
        <p14:creationId xmlns:p14="http://schemas.microsoft.com/office/powerpoint/2010/main" val="322132031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8A3B8-0EE3-DBDA-880E-45CF08AA1F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02A118-7FE7-1FB0-5097-E2684430F387}"/>
              </a:ext>
            </a:extLst>
          </p:cNvPr>
          <p:cNvSpPr>
            <a:spLocks noGrp="1"/>
          </p:cNvSpPr>
          <p:nvPr>
            <p:ph idx="1"/>
          </p:nvPr>
        </p:nvSpPr>
        <p:spPr/>
        <p:txBody>
          <a:bodyPr/>
          <a:lstStyle/>
          <a:p>
            <a:r>
              <a:rPr lang="en-US" dirty="0"/>
              <a:t>Example:</a:t>
            </a:r>
          </a:p>
          <a:p>
            <a:r>
              <a:rPr lang="en-US" dirty="0"/>
              <a:t>AI matches:</a:t>
            </a:r>
          </a:p>
          <a:p>
            <a:r>
              <a:rPr lang="en-US" dirty="0"/>
              <a:t>Invoice amount: ₹48,950</a:t>
            </a:r>
            <a:br>
              <a:rPr lang="en-US" dirty="0"/>
            </a:br>
            <a:r>
              <a:rPr lang="en-US" dirty="0"/>
              <a:t>Bank transfer: ₹48,948</a:t>
            </a:r>
          </a:p>
          <a:p>
            <a:r>
              <a:rPr lang="en-US" dirty="0"/>
              <a:t>Even if amounts are slightly different, AI identifies likely matches.</a:t>
            </a:r>
          </a:p>
          <a:p>
            <a:r>
              <a:rPr lang="en-US" dirty="0"/>
              <a:t>This reduces manual reconciliation work.</a:t>
            </a:r>
          </a:p>
          <a:p>
            <a:endParaRPr lang="en-IN" dirty="0"/>
          </a:p>
        </p:txBody>
      </p:sp>
    </p:spTree>
    <p:extLst>
      <p:ext uri="{BB962C8B-B14F-4D97-AF65-F5344CB8AC3E}">
        <p14:creationId xmlns:p14="http://schemas.microsoft.com/office/powerpoint/2010/main" val="237386256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A9AAE-7EA7-C765-3D43-D7D81AEB5E75}"/>
              </a:ext>
            </a:extLst>
          </p:cNvPr>
          <p:cNvSpPr>
            <a:spLocks noGrp="1"/>
          </p:cNvSpPr>
          <p:nvPr>
            <p:ph type="title"/>
          </p:nvPr>
        </p:nvSpPr>
        <p:spPr/>
        <p:txBody>
          <a:bodyPr/>
          <a:lstStyle/>
          <a:p>
            <a:pPr algn="ctr"/>
            <a:r>
              <a:rPr lang="en-IN" b="1" dirty="0"/>
              <a:t>Risk Management</a:t>
            </a:r>
            <a:br>
              <a:rPr lang="en-IN" b="1" dirty="0"/>
            </a:br>
            <a:endParaRPr lang="en-IN" dirty="0"/>
          </a:p>
        </p:txBody>
      </p:sp>
      <p:sp>
        <p:nvSpPr>
          <p:cNvPr id="3" name="Content Placeholder 2">
            <a:extLst>
              <a:ext uri="{FF2B5EF4-FFF2-40B4-BE49-F238E27FC236}">
                <a16:creationId xmlns:a16="http://schemas.microsoft.com/office/drawing/2014/main" id="{B2F1E7CB-BB91-64F5-AF4F-3A2E1FF64C99}"/>
              </a:ext>
            </a:extLst>
          </p:cNvPr>
          <p:cNvSpPr>
            <a:spLocks noGrp="1"/>
          </p:cNvSpPr>
          <p:nvPr>
            <p:ph idx="1"/>
          </p:nvPr>
        </p:nvSpPr>
        <p:spPr/>
        <p:txBody>
          <a:bodyPr>
            <a:normAutofit/>
          </a:bodyPr>
          <a:lstStyle/>
          <a:p>
            <a:r>
              <a:rPr lang="en-IN" dirty="0"/>
              <a:t>AI helps organizations monitor financial risks continuously.</a:t>
            </a:r>
          </a:p>
          <a:p>
            <a:r>
              <a:rPr lang="en-IN" dirty="0"/>
              <a:t>Applications:</a:t>
            </a:r>
          </a:p>
          <a:p>
            <a:r>
              <a:rPr lang="en-IN" dirty="0"/>
              <a:t>portfolio risk analysis</a:t>
            </a:r>
          </a:p>
          <a:p>
            <a:r>
              <a:rPr lang="en-IN" dirty="0"/>
              <a:t>liquidity risk prediction</a:t>
            </a:r>
          </a:p>
          <a:p>
            <a:r>
              <a:rPr lang="en-IN" dirty="0"/>
              <a:t>market volatility detection</a:t>
            </a:r>
          </a:p>
          <a:p>
            <a:r>
              <a:rPr lang="en-IN" dirty="0"/>
              <a:t>Example:</a:t>
            </a:r>
          </a:p>
          <a:p>
            <a:r>
              <a:rPr lang="en-IN" dirty="0"/>
              <a:t>AI predicts that </a:t>
            </a:r>
            <a:r>
              <a:rPr lang="en-IN" b="1" dirty="0"/>
              <a:t>certain loans in a portfolio have rising risk levels</a:t>
            </a:r>
            <a:r>
              <a:rPr lang="en-IN" dirty="0"/>
              <a:t>, allowing risk teams to intervene early.</a:t>
            </a:r>
          </a:p>
          <a:p>
            <a:endParaRPr lang="en-IN" dirty="0"/>
          </a:p>
        </p:txBody>
      </p:sp>
    </p:spTree>
    <p:extLst>
      <p:ext uri="{BB962C8B-B14F-4D97-AF65-F5344CB8AC3E}">
        <p14:creationId xmlns:p14="http://schemas.microsoft.com/office/powerpoint/2010/main" val="29609398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BAEA7-3713-D2A7-CF58-E83F61A5F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424BEA-4E24-9CD1-6F79-13D4A61A195D}"/>
              </a:ext>
            </a:extLst>
          </p:cNvPr>
          <p:cNvSpPr>
            <a:spLocks noGrp="1"/>
          </p:cNvSpPr>
          <p:nvPr>
            <p:ph type="title"/>
          </p:nvPr>
        </p:nvSpPr>
        <p:spPr/>
        <p:txBody>
          <a:bodyPr/>
          <a:lstStyle/>
          <a:p>
            <a:pPr algn="ctr"/>
            <a:r>
              <a:rPr lang="en-IN" b="1" dirty="0"/>
              <a:t>As an AIPM</a:t>
            </a:r>
          </a:p>
        </p:txBody>
      </p:sp>
      <p:sp>
        <p:nvSpPr>
          <p:cNvPr id="3" name="Content Placeholder 2">
            <a:extLst>
              <a:ext uri="{FF2B5EF4-FFF2-40B4-BE49-F238E27FC236}">
                <a16:creationId xmlns:a16="http://schemas.microsoft.com/office/drawing/2014/main" id="{879BAF4C-FD75-ABA7-45E2-57FF9FDE3EE2}"/>
              </a:ext>
            </a:extLst>
          </p:cNvPr>
          <p:cNvSpPr>
            <a:spLocks noGrp="1"/>
          </p:cNvSpPr>
          <p:nvPr>
            <p:ph idx="1"/>
          </p:nvPr>
        </p:nvSpPr>
        <p:spPr/>
        <p:txBody>
          <a:bodyPr/>
          <a:lstStyle/>
          <a:p>
            <a:r>
              <a:rPr lang="en-US" dirty="0"/>
              <a:t>For finance professionals, the key is not learning algorithms, but understanding:</a:t>
            </a:r>
          </a:p>
          <a:p>
            <a:r>
              <a:rPr lang="en-US" dirty="0"/>
              <a:t>✔ What problem AI is solving</a:t>
            </a:r>
            <a:br>
              <a:rPr lang="en-US" dirty="0"/>
            </a:br>
            <a:r>
              <a:rPr lang="en-US" dirty="0"/>
              <a:t>✔ What data is required</a:t>
            </a:r>
            <a:br>
              <a:rPr lang="en-US" dirty="0"/>
            </a:br>
            <a:r>
              <a:rPr lang="en-US" dirty="0"/>
              <a:t>✔ What decision the prediction supports</a:t>
            </a:r>
          </a:p>
          <a:p>
            <a:endParaRPr lang="en-IN" dirty="0"/>
          </a:p>
        </p:txBody>
      </p:sp>
    </p:spTree>
    <p:extLst>
      <p:ext uri="{BB962C8B-B14F-4D97-AF65-F5344CB8AC3E}">
        <p14:creationId xmlns:p14="http://schemas.microsoft.com/office/powerpoint/2010/main" val="358922481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B5727-F3E4-88D3-F989-369FAF91C4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09009-0146-8CE2-9E67-7993FCDCF699}"/>
              </a:ext>
            </a:extLst>
          </p:cNvPr>
          <p:cNvSpPr>
            <a:spLocks noGrp="1"/>
          </p:cNvSpPr>
          <p:nvPr>
            <p:ph type="title"/>
          </p:nvPr>
        </p:nvSpPr>
        <p:spPr/>
        <p:txBody>
          <a:bodyPr/>
          <a:lstStyle/>
          <a:p>
            <a:pPr algn="ctr"/>
            <a:r>
              <a:rPr lang="en-US" b="1" dirty="0"/>
              <a:t>Working with Data as a Product Manager</a:t>
            </a:r>
            <a:endParaRPr lang="en-IN" b="1" dirty="0"/>
          </a:p>
        </p:txBody>
      </p:sp>
      <p:sp>
        <p:nvSpPr>
          <p:cNvPr id="3" name="Content Placeholder 2">
            <a:extLst>
              <a:ext uri="{FF2B5EF4-FFF2-40B4-BE49-F238E27FC236}">
                <a16:creationId xmlns:a16="http://schemas.microsoft.com/office/drawing/2014/main" id="{1DB5566F-F8B5-7150-098E-7D6ECBAD76D0}"/>
              </a:ext>
            </a:extLst>
          </p:cNvPr>
          <p:cNvSpPr>
            <a:spLocks noGrp="1"/>
          </p:cNvSpPr>
          <p:nvPr>
            <p:ph idx="1"/>
          </p:nvPr>
        </p:nvSpPr>
        <p:spPr/>
        <p:txBody>
          <a:bodyPr>
            <a:normAutofit fontScale="92500" lnSpcReduction="20000"/>
          </a:bodyPr>
          <a:lstStyle/>
          <a:p>
            <a:pPr>
              <a:lnSpc>
                <a:spcPct val="150000"/>
              </a:lnSpc>
            </a:pPr>
            <a:r>
              <a:rPr lang="en-US" dirty="0"/>
              <a:t>AI systems are only as good as the data they learn from.</a:t>
            </a:r>
            <a:br>
              <a:rPr lang="en-US" dirty="0"/>
            </a:br>
            <a:r>
              <a:rPr lang="en-US" dirty="0"/>
              <a:t>For Product Managers, understanding whether the available data is useful and reliable is extremely important before building AI-powered financial features.</a:t>
            </a:r>
          </a:p>
          <a:p>
            <a:pPr>
              <a:lnSpc>
                <a:spcPct val="150000"/>
              </a:lnSpc>
            </a:pPr>
            <a:r>
              <a:rPr lang="en-US" dirty="0"/>
              <a:t>A common mistake in AI projects is:</a:t>
            </a:r>
          </a:p>
          <a:p>
            <a:pPr>
              <a:lnSpc>
                <a:spcPct val="150000"/>
              </a:lnSpc>
            </a:pPr>
            <a:r>
              <a:rPr lang="en-US" dirty="0"/>
              <a:t>Building models first and checking data later.</a:t>
            </a:r>
          </a:p>
          <a:p>
            <a:pPr>
              <a:lnSpc>
                <a:spcPct val="150000"/>
              </a:lnSpc>
            </a:pPr>
            <a:r>
              <a:rPr lang="en-US" dirty="0"/>
              <a:t>Successful AI products start with good data evaluation.</a:t>
            </a:r>
          </a:p>
          <a:p>
            <a:pPr>
              <a:lnSpc>
                <a:spcPct val="150000"/>
              </a:lnSpc>
            </a:pPr>
            <a:endParaRPr lang="en-IN" dirty="0"/>
          </a:p>
        </p:txBody>
      </p:sp>
    </p:spTree>
    <p:extLst>
      <p:ext uri="{BB962C8B-B14F-4D97-AF65-F5344CB8AC3E}">
        <p14:creationId xmlns:p14="http://schemas.microsoft.com/office/powerpoint/2010/main" val="330079374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EF638-3CF0-5DA3-A46B-A73BEAB4A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588D2-1D6F-1072-E9FE-56F58CFC145C}"/>
              </a:ext>
            </a:extLst>
          </p:cNvPr>
          <p:cNvSpPr>
            <a:spLocks noGrp="1"/>
          </p:cNvSpPr>
          <p:nvPr>
            <p:ph type="title"/>
          </p:nvPr>
        </p:nvSpPr>
        <p:spPr/>
        <p:txBody>
          <a:bodyPr/>
          <a:lstStyle/>
          <a:p>
            <a:pPr algn="ctr"/>
            <a:r>
              <a:rPr lang="en-US" b="1" dirty="0"/>
              <a:t>What “Useful Data” Means in Finance</a:t>
            </a:r>
            <a:endParaRPr lang="en-IN" b="1" dirty="0"/>
          </a:p>
        </p:txBody>
      </p:sp>
      <p:sp>
        <p:nvSpPr>
          <p:cNvPr id="3" name="Content Placeholder 2">
            <a:extLst>
              <a:ext uri="{FF2B5EF4-FFF2-40B4-BE49-F238E27FC236}">
                <a16:creationId xmlns:a16="http://schemas.microsoft.com/office/drawing/2014/main" id="{0695ACF5-4FFD-2C4F-B8D4-323EBEF72D41}"/>
              </a:ext>
            </a:extLst>
          </p:cNvPr>
          <p:cNvSpPr>
            <a:spLocks noGrp="1"/>
          </p:cNvSpPr>
          <p:nvPr>
            <p:ph idx="1"/>
          </p:nvPr>
        </p:nvSpPr>
        <p:spPr/>
        <p:txBody>
          <a:bodyPr/>
          <a:lstStyle/>
          <a:p>
            <a:r>
              <a:rPr lang="en-US" dirty="0"/>
              <a:t>Not all financial data is useful for AI.</a:t>
            </a:r>
          </a:p>
          <a:p>
            <a:r>
              <a:rPr lang="en-US" dirty="0"/>
              <a:t>Useful data has three important characteristics:</a:t>
            </a:r>
          </a:p>
          <a:p>
            <a:r>
              <a:rPr lang="en-US" dirty="0"/>
              <a:t>Relevant</a:t>
            </a:r>
          </a:p>
          <a:p>
            <a:r>
              <a:rPr lang="en-US" dirty="0"/>
              <a:t>Accurate</a:t>
            </a:r>
          </a:p>
          <a:p>
            <a:r>
              <a:rPr lang="en-US" dirty="0"/>
              <a:t>Sufficient in quantity</a:t>
            </a:r>
          </a:p>
          <a:p>
            <a:r>
              <a:rPr lang="en-US" dirty="0"/>
              <a:t>Let’s understand each one.</a:t>
            </a:r>
          </a:p>
          <a:p>
            <a:endParaRPr lang="en-IN" dirty="0"/>
          </a:p>
        </p:txBody>
      </p:sp>
    </p:spTree>
    <p:extLst>
      <p:ext uri="{BB962C8B-B14F-4D97-AF65-F5344CB8AC3E}">
        <p14:creationId xmlns:p14="http://schemas.microsoft.com/office/powerpoint/2010/main" val="66313046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E686A-9D47-386D-7D54-945054DD5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023B47-ABAF-FE65-D7B7-69B33510F23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324119A-54DE-ECA6-FDAB-0B4AD6481DAF}"/>
              </a:ext>
            </a:extLst>
          </p:cNvPr>
          <p:cNvSpPr>
            <a:spLocks noGrp="1"/>
          </p:cNvSpPr>
          <p:nvPr>
            <p:ph idx="1"/>
          </p:nvPr>
        </p:nvSpPr>
        <p:spPr/>
        <p:txBody>
          <a:bodyPr>
            <a:normAutofit fontScale="92500" lnSpcReduction="10000"/>
          </a:bodyPr>
          <a:lstStyle/>
          <a:p>
            <a:r>
              <a:rPr lang="en-US" b="1" dirty="0"/>
              <a:t>Relevant Data</a:t>
            </a:r>
          </a:p>
          <a:p>
            <a:r>
              <a:rPr lang="en-US" dirty="0"/>
              <a:t>Relevant data means the data </a:t>
            </a:r>
            <a:r>
              <a:rPr lang="en-US" b="1" dirty="0"/>
              <a:t>actually helps answer the business problem</a:t>
            </a:r>
            <a:r>
              <a:rPr lang="en-US" dirty="0"/>
              <a:t>.</a:t>
            </a:r>
          </a:p>
          <a:p>
            <a:r>
              <a:rPr lang="en-US" dirty="0"/>
              <a:t>Example:</a:t>
            </a:r>
          </a:p>
          <a:p>
            <a:r>
              <a:rPr lang="en-US" dirty="0"/>
              <a:t>If the goal is </a:t>
            </a:r>
            <a:r>
              <a:rPr lang="en-US" b="1" dirty="0"/>
              <a:t>predicting loan default</a:t>
            </a:r>
            <a:r>
              <a:rPr lang="en-US" dirty="0"/>
              <a:t>, useful data may include:</a:t>
            </a:r>
          </a:p>
          <a:p>
            <a:r>
              <a:rPr lang="en-US" dirty="0"/>
              <a:t>repayment history</a:t>
            </a:r>
          </a:p>
          <a:p>
            <a:r>
              <a:rPr lang="en-US" dirty="0"/>
              <a:t>credit utilization</a:t>
            </a:r>
          </a:p>
          <a:p>
            <a:r>
              <a:rPr lang="en-US" dirty="0"/>
              <a:t>income stability</a:t>
            </a:r>
          </a:p>
          <a:p>
            <a:r>
              <a:rPr lang="en-US" dirty="0"/>
              <a:t>outstanding debts</a:t>
            </a:r>
          </a:p>
          <a:p>
            <a:r>
              <a:rPr lang="en-US" dirty="0"/>
              <a:t>previous defaults</a:t>
            </a:r>
          </a:p>
          <a:p>
            <a:endParaRPr lang="en-IN" dirty="0"/>
          </a:p>
        </p:txBody>
      </p:sp>
    </p:spTree>
    <p:extLst>
      <p:ext uri="{BB962C8B-B14F-4D97-AF65-F5344CB8AC3E}">
        <p14:creationId xmlns:p14="http://schemas.microsoft.com/office/powerpoint/2010/main" val="1128262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BF476-6AA3-1CE4-7E76-A9F3EE157D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042889-5FC2-CF76-43B2-62C5397C711E}"/>
              </a:ext>
            </a:extLst>
          </p:cNvPr>
          <p:cNvSpPr>
            <a:spLocks noGrp="1"/>
          </p:cNvSpPr>
          <p:nvPr>
            <p:ph type="title"/>
          </p:nvPr>
        </p:nvSpPr>
        <p:spPr/>
        <p:txBody>
          <a:bodyPr/>
          <a:lstStyle/>
          <a:p>
            <a:pPr algn="ctr"/>
            <a:r>
              <a:rPr lang="en-IN" b="1" dirty="0"/>
              <a:t>Relevant Data</a:t>
            </a:r>
          </a:p>
        </p:txBody>
      </p:sp>
      <p:sp>
        <p:nvSpPr>
          <p:cNvPr id="3" name="Content Placeholder 2">
            <a:extLst>
              <a:ext uri="{FF2B5EF4-FFF2-40B4-BE49-F238E27FC236}">
                <a16:creationId xmlns:a16="http://schemas.microsoft.com/office/drawing/2014/main" id="{54AC3F36-318E-CEDA-9B74-1402639E1C02}"/>
              </a:ext>
            </a:extLst>
          </p:cNvPr>
          <p:cNvSpPr>
            <a:spLocks noGrp="1"/>
          </p:cNvSpPr>
          <p:nvPr>
            <p:ph idx="1"/>
          </p:nvPr>
        </p:nvSpPr>
        <p:spPr/>
        <p:txBody>
          <a:bodyPr/>
          <a:lstStyle/>
          <a:p>
            <a:r>
              <a:rPr lang="en-US" dirty="0"/>
              <a:t>But data like:</a:t>
            </a:r>
          </a:p>
          <a:p>
            <a:r>
              <a:rPr lang="en-US" dirty="0"/>
              <a:t>customer favorite shopping category</a:t>
            </a:r>
          </a:p>
          <a:p>
            <a:r>
              <a:rPr lang="en-US" dirty="0"/>
              <a:t>preferred language</a:t>
            </a:r>
          </a:p>
          <a:p>
            <a:r>
              <a:rPr lang="en-US" dirty="0"/>
              <a:t>may not be useful for loan risk prediction.</a:t>
            </a:r>
          </a:p>
          <a:p>
            <a:r>
              <a:rPr lang="en-US" dirty="0"/>
              <a:t>So a Product Manager must ask:</a:t>
            </a:r>
          </a:p>
          <a:p>
            <a:r>
              <a:rPr lang="en-US" dirty="0"/>
              <a:t>Does this data help the model understand the financial behaviour related to the problem?</a:t>
            </a:r>
          </a:p>
          <a:p>
            <a:endParaRPr lang="en-IN" dirty="0"/>
          </a:p>
        </p:txBody>
      </p:sp>
    </p:spTree>
    <p:extLst>
      <p:ext uri="{BB962C8B-B14F-4D97-AF65-F5344CB8AC3E}">
        <p14:creationId xmlns:p14="http://schemas.microsoft.com/office/powerpoint/2010/main" val="269919107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4F6A7-7CC2-9F49-F0BC-6DFC0A5E1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E85DF-F25F-8996-90D1-E24C6CF3A569}"/>
              </a:ext>
            </a:extLst>
          </p:cNvPr>
          <p:cNvSpPr>
            <a:spLocks noGrp="1"/>
          </p:cNvSpPr>
          <p:nvPr>
            <p:ph type="title"/>
          </p:nvPr>
        </p:nvSpPr>
        <p:spPr/>
        <p:txBody>
          <a:bodyPr>
            <a:normAutofit fontScale="90000"/>
          </a:bodyPr>
          <a:lstStyle/>
          <a:p>
            <a:r>
              <a:rPr lang="en-US" b="1" dirty="0"/>
              <a:t>                         </a:t>
            </a:r>
            <a:br>
              <a:rPr lang="en-US" b="1" dirty="0"/>
            </a:br>
            <a:r>
              <a:rPr lang="en-US" b="1" dirty="0"/>
              <a:t>Accurate Data</a:t>
            </a:r>
            <a:br>
              <a:rPr lang="en-US" b="1" dirty="0"/>
            </a:br>
            <a:endParaRPr lang="en-IN" dirty="0"/>
          </a:p>
        </p:txBody>
      </p:sp>
      <p:sp>
        <p:nvSpPr>
          <p:cNvPr id="3" name="Content Placeholder 2">
            <a:extLst>
              <a:ext uri="{FF2B5EF4-FFF2-40B4-BE49-F238E27FC236}">
                <a16:creationId xmlns:a16="http://schemas.microsoft.com/office/drawing/2014/main" id="{3A0A379A-56F2-E083-A9B0-9ABB801D10CE}"/>
              </a:ext>
            </a:extLst>
          </p:cNvPr>
          <p:cNvSpPr>
            <a:spLocks noGrp="1"/>
          </p:cNvSpPr>
          <p:nvPr>
            <p:ph idx="1"/>
          </p:nvPr>
        </p:nvSpPr>
        <p:spPr/>
        <p:txBody>
          <a:bodyPr/>
          <a:lstStyle/>
          <a:p>
            <a:r>
              <a:rPr lang="en-US" dirty="0"/>
              <a:t>Financial AI systems require high-quality and accurate data.</a:t>
            </a:r>
          </a:p>
          <a:p>
            <a:r>
              <a:rPr lang="en-US" dirty="0"/>
              <a:t>Examples of bad data:</a:t>
            </a:r>
          </a:p>
          <a:p>
            <a:r>
              <a:rPr lang="en-US" dirty="0"/>
              <a:t>missing repayment records</a:t>
            </a:r>
          </a:p>
          <a:p>
            <a:r>
              <a:rPr lang="en-US" dirty="0"/>
              <a:t>incorrect transaction amounts</a:t>
            </a:r>
          </a:p>
          <a:p>
            <a:r>
              <a:rPr lang="en-US" dirty="0"/>
              <a:t>duplicate customer profiles</a:t>
            </a:r>
          </a:p>
          <a:p>
            <a:r>
              <a:rPr lang="en-US" dirty="0"/>
              <a:t>If the data is incorrect, AI will learn incorrect patterns.</a:t>
            </a:r>
          </a:p>
          <a:p>
            <a:endParaRPr lang="en-IN" dirty="0"/>
          </a:p>
        </p:txBody>
      </p:sp>
    </p:spTree>
    <p:extLst>
      <p:ext uri="{BB962C8B-B14F-4D97-AF65-F5344CB8AC3E}">
        <p14:creationId xmlns:p14="http://schemas.microsoft.com/office/powerpoint/2010/main" val="110700507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52098-B307-8F7D-2B27-C9CC9DD578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5F9277-7ADC-4A9F-0651-DA196C04B1F0}"/>
              </a:ext>
            </a:extLst>
          </p:cNvPr>
          <p:cNvSpPr>
            <a:spLocks noGrp="1"/>
          </p:cNvSpPr>
          <p:nvPr>
            <p:ph idx="1"/>
          </p:nvPr>
        </p:nvSpPr>
        <p:spPr/>
        <p:txBody>
          <a:bodyPr/>
          <a:lstStyle/>
          <a:p>
            <a:r>
              <a:rPr lang="en-US" dirty="0"/>
              <a:t>Example:</a:t>
            </a:r>
          </a:p>
          <a:p>
            <a:r>
              <a:rPr lang="en-US" dirty="0"/>
              <a:t>If many borrowers are incorrectly marked as </a:t>
            </a:r>
            <a:r>
              <a:rPr lang="en-US" b="1" dirty="0"/>
              <a:t>“defaulted”</a:t>
            </a:r>
            <a:r>
              <a:rPr lang="en-US" dirty="0"/>
              <a:t>, the model may start rejecting good customers.</a:t>
            </a:r>
          </a:p>
          <a:p>
            <a:r>
              <a:rPr lang="en-US" dirty="0"/>
              <a:t>This leads to:</a:t>
            </a:r>
          </a:p>
          <a:p>
            <a:r>
              <a:rPr lang="en-US" dirty="0"/>
              <a:t>lost revenue</a:t>
            </a:r>
          </a:p>
          <a:p>
            <a:r>
              <a:rPr lang="en-US" dirty="0"/>
              <a:t>poor customer experience</a:t>
            </a:r>
          </a:p>
          <a:p>
            <a:r>
              <a:rPr lang="en-US" dirty="0"/>
              <a:t>unfair decisions</a:t>
            </a:r>
          </a:p>
          <a:p>
            <a:endParaRPr lang="en-IN" dirty="0"/>
          </a:p>
        </p:txBody>
      </p:sp>
    </p:spTree>
    <p:extLst>
      <p:ext uri="{BB962C8B-B14F-4D97-AF65-F5344CB8AC3E}">
        <p14:creationId xmlns:p14="http://schemas.microsoft.com/office/powerpoint/2010/main" val="126007438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BFF16-436A-AE3D-3B25-097D4395A35C}"/>
              </a:ext>
            </a:extLst>
          </p:cNvPr>
          <p:cNvSpPr>
            <a:spLocks noGrp="1"/>
          </p:cNvSpPr>
          <p:nvPr>
            <p:ph type="title"/>
          </p:nvPr>
        </p:nvSpPr>
        <p:spPr/>
        <p:txBody>
          <a:bodyPr>
            <a:normAutofit fontScale="90000"/>
          </a:bodyPr>
          <a:lstStyle/>
          <a:p>
            <a:pPr algn="ctr"/>
            <a:br>
              <a:rPr lang="en-US" b="1" dirty="0"/>
            </a:br>
            <a:r>
              <a:rPr lang="en-US" b="1" dirty="0"/>
              <a:t>Sufficient Data</a:t>
            </a:r>
            <a:br>
              <a:rPr lang="en-US" b="1" dirty="0"/>
            </a:br>
            <a:endParaRPr lang="en-IN" dirty="0"/>
          </a:p>
        </p:txBody>
      </p:sp>
      <p:sp>
        <p:nvSpPr>
          <p:cNvPr id="3" name="Content Placeholder 2">
            <a:extLst>
              <a:ext uri="{FF2B5EF4-FFF2-40B4-BE49-F238E27FC236}">
                <a16:creationId xmlns:a16="http://schemas.microsoft.com/office/drawing/2014/main" id="{FA06BA4A-D06B-7DE4-A1E6-235538B87633}"/>
              </a:ext>
            </a:extLst>
          </p:cNvPr>
          <p:cNvSpPr>
            <a:spLocks noGrp="1"/>
          </p:cNvSpPr>
          <p:nvPr>
            <p:ph idx="1"/>
          </p:nvPr>
        </p:nvSpPr>
        <p:spPr/>
        <p:txBody>
          <a:bodyPr>
            <a:normAutofit/>
          </a:bodyPr>
          <a:lstStyle/>
          <a:p>
            <a:r>
              <a:rPr lang="en-US" dirty="0"/>
              <a:t>AI systems learn patterns from </a:t>
            </a:r>
            <a:r>
              <a:rPr lang="en-US" b="1" dirty="0"/>
              <a:t>large datasets</a:t>
            </a:r>
            <a:r>
              <a:rPr lang="en-US" dirty="0"/>
              <a:t>.</a:t>
            </a:r>
          </a:p>
          <a:p>
            <a:r>
              <a:rPr lang="en-US" dirty="0"/>
              <a:t>Example:</a:t>
            </a:r>
          </a:p>
          <a:p>
            <a:r>
              <a:rPr lang="en-US" dirty="0"/>
              <a:t>If a bank has only </a:t>
            </a:r>
            <a:r>
              <a:rPr lang="en-US" b="1" dirty="0"/>
              <a:t>50 fraud cases</a:t>
            </a:r>
            <a:r>
              <a:rPr lang="en-US" dirty="0"/>
              <a:t>, it is difficult for AI to learn fraud patterns.</a:t>
            </a:r>
          </a:p>
          <a:p>
            <a:r>
              <a:rPr lang="en-US" dirty="0"/>
              <a:t>But if there are </a:t>
            </a:r>
            <a:r>
              <a:rPr lang="en-US" b="1" dirty="0"/>
              <a:t>50,000 fraud cases</a:t>
            </a:r>
            <a:r>
              <a:rPr lang="en-US" dirty="0"/>
              <a:t>, the model can detect patterns more accurately.</a:t>
            </a:r>
          </a:p>
          <a:p>
            <a:r>
              <a:rPr lang="en-US" dirty="0"/>
              <a:t>Product Managers must evaluate:</a:t>
            </a:r>
          </a:p>
          <a:p>
            <a:r>
              <a:rPr lang="en-US" dirty="0"/>
              <a:t>how many records exist</a:t>
            </a:r>
          </a:p>
          <a:p>
            <a:r>
              <a:rPr lang="en-US" dirty="0"/>
              <a:t>how many examples of the target outcome exist</a:t>
            </a:r>
          </a:p>
          <a:p>
            <a:endParaRPr lang="en-IN" dirty="0"/>
          </a:p>
        </p:txBody>
      </p:sp>
    </p:spTree>
    <p:extLst>
      <p:ext uri="{BB962C8B-B14F-4D97-AF65-F5344CB8AC3E}">
        <p14:creationId xmlns:p14="http://schemas.microsoft.com/office/powerpoint/2010/main" val="428576636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87ABC-348B-72C0-7FD2-D949103C0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ECAA0-4448-164F-D8FA-2263AF750339}"/>
              </a:ext>
            </a:extLst>
          </p:cNvPr>
          <p:cNvSpPr>
            <a:spLocks noGrp="1"/>
          </p:cNvSpPr>
          <p:nvPr>
            <p:ph type="title"/>
          </p:nvPr>
        </p:nvSpPr>
        <p:spPr/>
        <p:txBody>
          <a:bodyPr>
            <a:normAutofit/>
          </a:bodyPr>
          <a:lstStyle/>
          <a:p>
            <a:pPr algn="ctr"/>
            <a:r>
              <a:rPr lang="en-US" sz="3200" b="1" dirty="0"/>
              <a:t>Evaluating if Data is Good Enough for an AI Feature</a:t>
            </a:r>
            <a:endParaRPr lang="en-IN" sz="3200" b="1" dirty="0"/>
          </a:p>
        </p:txBody>
      </p:sp>
      <p:sp>
        <p:nvSpPr>
          <p:cNvPr id="3" name="Content Placeholder 2">
            <a:extLst>
              <a:ext uri="{FF2B5EF4-FFF2-40B4-BE49-F238E27FC236}">
                <a16:creationId xmlns:a16="http://schemas.microsoft.com/office/drawing/2014/main" id="{DA8A8C3B-DD33-7B8D-6BCF-E8727826E2D0}"/>
              </a:ext>
            </a:extLst>
          </p:cNvPr>
          <p:cNvSpPr>
            <a:spLocks noGrp="1"/>
          </p:cNvSpPr>
          <p:nvPr>
            <p:ph idx="1"/>
          </p:nvPr>
        </p:nvSpPr>
        <p:spPr/>
        <p:txBody>
          <a:bodyPr/>
          <a:lstStyle/>
          <a:p>
            <a:r>
              <a:rPr lang="en-US" dirty="0"/>
              <a:t>Is Historical Data Available?</a:t>
            </a:r>
          </a:p>
          <a:p>
            <a:r>
              <a:rPr lang="en-US" dirty="0"/>
              <a:t>AI learns from past patterns.</a:t>
            </a:r>
          </a:p>
          <a:p>
            <a:r>
              <a:rPr lang="en-US" dirty="0"/>
              <a:t>Example:</a:t>
            </a:r>
          </a:p>
          <a:p>
            <a:r>
              <a:rPr lang="en-US" dirty="0"/>
              <a:t>To predict loan default, the system must know:</a:t>
            </a:r>
          </a:p>
          <a:p>
            <a:r>
              <a:rPr lang="en-US" dirty="0"/>
              <a:t>which loans were repaid</a:t>
            </a:r>
          </a:p>
          <a:p>
            <a:r>
              <a:rPr lang="en-US" dirty="0"/>
              <a:t>which loans defaulted</a:t>
            </a:r>
          </a:p>
          <a:p>
            <a:r>
              <a:rPr lang="en-US" dirty="0"/>
              <a:t>Without historical outcomes, the model cannot learn.</a:t>
            </a:r>
          </a:p>
          <a:p>
            <a:endParaRPr lang="en-IN" dirty="0"/>
          </a:p>
        </p:txBody>
      </p:sp>
    </p:spTree>
    <p:extLst>
      <p:ext uri="{BB962C8B-B14F-4D97-AF65-F5344CB8AC3E}">
        <p14:creationId xmlns:p14="http://schemas.microsoft.com/office/powerpoint/2010/main" val="350496992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5E632-F5AD-7257-9EA4-C32620B854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6BD68B-AFA6-1909-C30B-1A13A2FBEBBE}"/>
              </a:ext>
            </a:extLst>
          </p:cNvPr>
          <p:cNvSpPr>
            <a:spLocks noGrp="1"/>
          </p:cNvSpPr>
          <p:nvPr>
            <p:ph type="title"/>
          </p:nvPr>
        </p:nvSpPr>
        <p:spPr/>
        <p:txBody>
          <a:bodyPr/>
          <a:lstStyle/>
          <a:p>
            <a:r>
              <a:rPr lang="en-US" b="1" dirty="0"/>
              <a:t>Is the Data Structured or Unstructured?</a:t>
            </a:r>
            <a:br>
              <a:rPr lang="en-US" b="1" dirty="0"/>
            </a:br>
            <a:endParaRPr lang="en-IN" dirty="0"/>
          </a:p>
        </p:txBody>
      </p:sp>
      <p:sp>
        <p:nvSpPr>
          <p:cNvPr id="3" name="Content Placeholder 2">
            <a:extLst>
              <a:ext uri="{FF2B5EF4-FFF2-40B4-BE49-F238E27FC236}">
                <a16:creationId xmlns:a16="http://schemas.microsoft.com/office/drawing/2014/main" id="{3FED1E95-470C-BA90-CE6A-D17F5A6018F3}"/>
              </a:ext>
            </a:extLst>
          </p:cNvPr>
          <p:cNvSpPr>
            <a:spLocks noGrp="1"/>
          </p:cNvSpPr>
          <p:nvPr>
            <p:ph idx="1"/>
          </p:nvPr>
        </p:nvSpPr>
        <p:spPr/>
        <p:txBody>
          <a:bodyPr>
            <a:normAutofit lnSpcReduction="10000"/>
          </a:bodyPr>
          <a:lstStyle/>
          <a:p>
            <a:r>
              <a:rPr lang="en-US" dirty="0"/>
              <a:t>Finance data may exist in multiple formats.</a:t>
            </a:r>
          </a:p>
          <a:p>
            <a:r>
              <a:rPr lang="en-US" b="1" dirty="0"/>
              <a:t>Structured Data</a:t>
            </a:r>
          </a:p>
          <a:p>
            <a:r>
              <a:rPr lang="en-US" dirty="0"/>
              <a:t>Highly organized data stored in tables.</a:t>
            </a:r>
          </a:p>
          <a:p>
            <a:r>
              <a:rPr lang="en-US" dirty="0"/>
              <a:t>Examples:</a:t>
            </a:r>
          </a:p>
          <a:p>
            <a:r>
              <a:rPr lang="en-US" dirty="0"/>
              <a:t>transaction records</a:t>
            </a:r>
          </a:p>
          <a:p>
            <a:r>
              <a:rPr lang="en-US" dirty="0"/>
              <a:t>loan applications</a:t>
            </a:r>
          </a:p>
          <a:p>
            <a:r>
              <a:rPr lang="en-US" dirty="0"/>
              <a:t>customer profiles</a:t>
            </a:r>
          </a:p>
          <a:p>
            <a:r>
              <a:rPr lang="en-US" dirty="0"/>
              <a:t>payment history</a:t>
            </a:r>
          </a:p>
          <a:p>
            <a:r>
              <a:rPr lang="en-US" dirty="0"/>
              <a:t>Structured data is easier to use for AI.</a:t>
            </a:r>
          </a:p>
          <a:p>
            <a:endParaRPr lang="en-IN" dirty="0"/>
          </a:p>
        </p:txBody>
      </p:sp>
    </p:spTree>
    <p:extLst>
      <p:ext uri="{BB962C8B-B14F-4D97-AF65-F5344CB8AC3E}">
        <p14:creationId xmlns:p14="http://schemas.microsoft.com/office/powerpoint/2010/main" val="228530456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390E2-6A77-97E6-D5F2-A20648083D5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024E73-2DF1-806A-7362-DB5AD748945A}"/>
              </a:ext>
            </a:extLst>
          </p:cNvPr>
          <p:cNvSpPr>
            <a:spLocks noGrp="1"/>
          </p:cNvSpPr>
          <p:nvPr>
            <p:ph idx="1"/>
          </p:nvPr>
        </p:nvSpPr>
        <p:spPr/>
        <p:txBody>
          <a:bodyPr>
            <a:normAutofit lnSpcReduction="10000"/>
          </a:bodyPr>
          <a:lstStyle/>
          <a:p>
            <a:r>
              <a:rPr lang="en-US" b="1" dirty="0"/>
              <a:t>Unstructured Data</a:t>
            </a:r>
          </a:p>
          <a:p>
            <a:r>
              <a:rPr lang="en-US" dirty="0"/>
              <a:t>Data that is not organized in tables.</a:t>
            </a:r>
          </a:p>
          <a:p>
            <a:r>
              <a:rPr lang="en-US" dirty="0"/>
              <a:t>Examples:</a:t>
            </a:r>
          </a:p>
          <a:p>
            <a:r>
              <a:rPr lang="en-US" dirty="0"/>
              <a:t>invoices</a:t>
            </a:r>
          </a:p>
          <a:p>
            <a:r>
              <a:rPr lang="en-US" dirty="0"/>
              <a:t>contracts</a:t>
            </a:r>
          </a:p>
          <a:p>
            <a:r>
              <a:rPr lang="en-US" dirty="0"/>
              <a:t>emails</a:t>
            </a:r>
          </a:p>
          <a:p>
            <a:r>
              <a:rPr lang="en-US" dirty="0"/>
              <a:t>customer complaints</a:t>
            </a:r>
          </a:p>
          <a:p>
            <a:r>
              <a:rPr lang="en-US" dirty="0"/>
              <a:t>AI techniques like </a:t>
            </a:r>
            <a:r>
              <a:rPr lang="en-US" b="1" dirty="0"/>
              <a:t>document processing or NLP</a:t>
            </a:r>
            <a:r>
              <a:rPr lang="en-US" dirty="0"/>
              <a:t> may be required to extract information.</a:t>
            </a:r>
          </a:p>
          <a:p>
            <a:endParaRPr lang="en-IN" dirty="0"/>
          </a:p>
        </p:txBody>
      </p:sp>
    </p:spTree>
    <p:extLst>
      <p:ext uri="{BB962C8B-B14F-4D97-AF65-F5344CB8AC3E}">
        <p14:creationId xmlns:p14="http://schemas.microsoft.com/office/powerpoint/2010/main" val="178255789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C3338-C5BF-CED6-B897-C525C146D4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9C9CB5-A104-AC47-7E05-DE271942774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F09F1FA-B1E4-0AE6-3780-5232AFDA398C}"/>
              </a:ext>
            </a:extLst>
          </p:cNvPr>
          <p:cNvSpPr>
            <a:spLocks noGrp="1"/>
          </p:cNvSpPr>
          <p:nvPr>
            <p:ph idx="1"/>
          </p:nvPr>
        </p:nvSpPr>
        <p:spPr/>
        <p:txBody>
          <a:bodyPr>
            <a:normAutofit/>
          </a:bodyPr>
          <a:lstStyle/>
          <a:p>
            <a:r>
              <a:rPr lang="en-US" b="1" dirty="0"/>
              <a:t>Is the Data Complete?</a:t>
            </a:r>
          </a:p>
          <a:p>
            <a:r>
              <a:rPr lang="en-US" dirty="0"/>
              <a:t>Missing data creates unreliable models.</a:t>
            </a:r>
          </a:p>
          <a:p>
            <a:r>
              <a:rPr lang="en-US" dirty="0"/>
              <a:t>Example:</a:t>
            </a:r>
          </a:p>
          <a:p>
            <a:r>
              <a:rPr lang="en-US" dirty="0"/>
              <a:t>Loan dataset missing:</a:t>
            </a:r>
          </a:p>
          <a:p>
            <a:r>
              <a:rPr lang="en-US" dirty="0"/>
              <a:t>income information</a:t>
            </a:r>
          </a:p>
          <a:p>
            <a:r>
              <a:rPr lang="en-US" dirty="0"/>
              <a:t>repayment history</a:t>
            </a:r>
          </a:p>
          <a:p>
            <a:r>
              <a:rPr lang="en-US" dirty="0"/>
              <a:t>employment data</a:t>
            </a:r>
          </a:p>
          <a:p>
            <a:endParaRPr lang="en-IN" dirty="0"/>
          </a:p>
        </p:txBody>
      </p:sp>
    </p:spTree>
    <p:extLst>
      <p:ext uri="{BB962C8B-B14F-4D97-AF65-F5344CB8AC3E}">
        <p14:creationId xmlns:p14="http://schemas.microsoft.com/office/powerpoint/2010/main" val="149401950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089D9-F12D-FD76-2513-DC91D6CC195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775E96-C2FC-5C9E-6778-0ADD64BDE069}"/>
              </a:ext>
            </a:extLst>
          </p:cNvPr>
          <p:cNvSpPr>
            <a:spLocks noGrp="1"/>
          </p:cNvSpPr>
          <p:nvPr>
            <p:ph idx="1"/>
          </p:nvPr>
        </p:nvSpPr>
        <p:spPr/>
        <p:txBody>
          <a:bodyPr/>
          <a:lstStyle/>
          <a:p>
            <a:r>
              <a:rPr lang="en-US" dirty="0"/>
              <a:t>Such incomplete data may reduce prediction accuracy.</a:t>
            </a:r>
          </a:p>
          <a:p>
            <a:r>
              <a:rPr lang="en-US" dirty="0"/>
              <a:t>PMs must check:</a:t>
            </a:r>
          </a:p>
          <a:p>
            <a:r>
              <a:rPr lang="en-US" dirty="0"/>
              <a:t>missing values</a:t>
            </a:r>
          </a:p>
          <a:p>
            <a:r>
              <a:rPr lang="en-US" dirty="0"/>
              <a:t>incomplete records</a:t>
            </a:r>
          </a:p>
          <a:p>
            <a:r>
              <a:rPr lang="en-US" dirty="0"/>
              <a:t>inconsistent fields</a:t>
            </a:r>
          </a:p>
          <a:p>
            <a:endParaRPr lang="en-IN" dirty="0"/>
          </a:p>
        </p:txBody>
      </p:sp>
    </p:spTree>
    <p:extLst>
      <p:ext uri="{BB962C8B-B14F-4D97-AF65-F5344CB8AC3E}">
        <p14:creationId xmlns:p14="http://schemas.microsoft.com/office/powerpoint/2010/main" val="94125114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82F49-D871-26A5-C850-FDAF19F050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E56789-55BA-F5B2-7B24-C9EBB76BD69C}"/>
              </a:ext>
            </a:extLst>
          </p:cNvPr>
          <p:cNvSpPr>
            <a:spLocks noGrp="1"/>
          </p:cNvSpPr>
          <p:nvPr>
            <p:ph type="title"/>
          </p:nvPr>
        </p:nvSpPr>
        <p:spPr/>
        <p:txBody>
          <a:bodyPr/>
          <a:lstStyle/>
          <a:p>
            <a:pPr algn="ctr"/>
            <a:r>
              <a:rPr lang="en-IN" b="1" dirty="0"/>
              <a:t>Is the Data Biased?</a:t>
            </a:r>
          </a:p>
        </p:txBody>
      </p:sp>
      <p:sp>
        <p:nvSpPr>
          <p:cNvPr id="3" name="Content Placeholder 2">
            <a:extLst>
              <a:ext uri="{FF2B5EF4-FFF2-40B4-BE49-F238E27FC236}">
                <a16:creationId xmlns:a16="http://schemas.microsoft.com/office/drawing/2014/main" id="{1C72BD0B-A84E-3DD7-4B89-690FB7D2D529}"/>
              </a:ext>
            </a:extLst>
          </p:cNvPr>
          <p:cNvSpPr>
            <a:spLocks noGrp="1"/>
          </p:cNvSpPr>
          <p:nvPr>
            <p:ph idx="1"/>
          </p:nvPr>
        </p:nvSpPr>
        <p:spPr/>
        <p:txBody>
          <a:bodyPr/>
          <a:lstStyle/>
          <a:p>
            <a:r>
              <a:rPr lang="en-US" dirty="0"/>
              <a:t>Bias occurs when the data does not represent all customer groups fairly.</a:t>
            </a:r>
          </a:p>
          <a:p>
            <a:r>
              <a:rPr lang="en-US" dirty="0"/>
              <a:t>Example:</a:t>
            </a:r>
          </a:p>
          <a:p>
            <a:r>
              <a:rPr lang="en-US" dirty="0"/>
              <a:t>If past loan approvals favored only certain income groups, the AI model may learn the same bias.</a:t>
            </a:r>
          </a:p>
          <a:p>
            <a:r>
              <a:rPr lang="en-US" dirty="0"/>
              <a:t>This creates:</a:t>
            </a:r>
          </a:p>
          <a:p>
            <a:r>
              <a:rPr lang="en-US" dirty="0"/>
              <a:t>unfair lending decisions</a:t>
            </a:r>
          </a:p>
          <a:p>
            <a:r>
              <a:rPr lang="en-US" dirty="0"/>
              <a:t>compliance risks</a:t>
            </a:r>
          </a:p>
          <a:p>
            <a:r>
              <a:rPr lang="en-US" dirty="0"/>
              <a:t>Finance organizations must ensure </a:t>
            </a:r>
            <a:r>
              <a:rPr lang="en-US" b="1" dirty="0"/>
              <a:t>fair and responsible AI decisions</a:t>
            </a:r>
            <a:r>
              <a:rPr lang="en-US" dirty="0"/>
              <a:t>.</a:t>
            </a:r>
          </a:p>
          <a:p>
            <a:endParaRPr lang="en-IN" dirty="0"/>
          </a:p>
        </p:txBody>
      </p:sp>
    </p:spTree>
    <p:extLst>
      <p:ext uri="{BB962C8B-B14F-4D97-AF65-F5344CB8AC3E}">
        <p14:creationId xmlns:p14="http://schemas.microsoft.com/office/powerpoint/2010/main" val="247400621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D963B-25AE-A6D0-C2A4-EFB04AEAF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15EAF-15B9-4C85-CE83-50F29FCC147F}"/>
              </a:ext>
            </a:extLst>
          </p:cNvPr>
          <p:cNvSpPr>
            <a:spLocks noGrp="1"/>
          </p:cNvSpPr>
          <p:nvPr>
            <p:ph type="title"/>
          </p:nvPr>
        </p:nvSpPr>
        <p:spPr/>
        <p:txBody>
          <a:bodyPr/>
          <a:lstStyle/>
          <a:p>
            <a:pPr algn="ctr"/>
            <a:r>
              <a:rPr lang="en-US" b="1" dirty="0"/>
              <a:t>Aligning Business Outcomes with </a:t>
            </a:r>
            <a:br>
              <a:rPr lang="en-US" b="1" dirty="0"/>
            </a:br>
            <a:r>
              <a:rPr lang="en-US" b="1" dirty="0"/>
              <a:t>Prediction or Automation</a:t>
            </a:r>
            <a:endParaRPr lang="en-IN" b="1" dirty="0"/>
          </a:p>
        </p:txBody>
      </p:sp>
      <p:sp>
        <p:nvSpPr>
          <p:cNvPr id="3" name="Content Placeholder 2">
            <a:extLst>
              <a:ext uri="{FF2B5EF4-FFF2-40B4-BE49-F238E27FC236}">
                <a16:creationId xmlns:a16="http://schemas.microsoft.com/office/drawing/2014/main" id="{908B9A01-EC2A-94DE-3B85-F5E54797DFA7}"/>
              </a:ext>
            </a:extLst>
          </p:cNvPr>
          <p:cNvSpPr>
            <a:spLocks noGrp="1"/>
          </p:cNvSpPr>
          <p:nvPr>
            <p:ph idx="1"/>
          </p:nvPr>
        </p:nvSpPr>
        <p:spPr/>
        <p:txBody>
          <a:bodyPr/>
          <a:lstStyle/>
          <a:p>
            <a:pPr>
              <a:lnSpc>
                <a:spcPct val="150000"/>
              </a:lnSpc>
            </a:pPr>
            <a:r>
              <a:rPr lang="en-US" dirty="0"/>
              <a:t>AI features should always be designed to achieve clear business outcomes.</a:t>
            </a:r>
          </a:p>
          <a:p>
            <a:pPr>
              <a:lnSpc>
                <a:spcPct val="150000"/>
              </a:lnSpc>
            </a:pPr>
            <a:r>
              <a:rPr lang="en-US" dirty="0"/>
              <a:t>Product Managers must connect:</a:t>
            </a:r>
          </a:p>
          <a:p>
            <a:pPr>
              <a:lnSpc>
                <a:spcPct val="150000"/>
              </a:lnSpc>
            </a:pPr>
            <a:r>
              <a:rPr lang="en-US" dirty="0"/>
              <a:t>Business Goal → AI Capability → Product Feature</a:t>
            </a:r>
          </a:p>
          <a:p>
            <a:pPr>
              <a:lnSpc>
                <a:spcPct val="150000"/>
              </a:lnSpc>
            </a:pPr>
            <a:endParaRPr lang="en-IN" dirty="0"/>
          </a:p>
        </p:txBody>
      </p:sp>
    </p:spTree>
    <p:extLst>
      <p:ext uri="{BB962C8B-B14F-4D97-AF65-F5344CB8AC3E}">
        <p14:creationId xmlns:p14="http://schemas.microsoft.com/office/powerpoint/2010/main" val="19446673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DBBFC-D332-24CC-CD25-5E3419B0F0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E08A3-1FB8-BF5E-42DD-53D8E4C13D0A}"/>
              </a:ext>
            </a:extLst>
          </p:cNvPr>
          <p:cNvSpPr>
            <a:spLocks noGrp="1"/>
          </p:cNvSpPr>
          <p:nvPr>
            <p:ph type="title"/>
          </p:nvPr>
        </p:nvSpPr>
        <p:spPr/>
        <p:txBody>
          <a:bodyPr/>
          <a:lstStyle/>
          <a:p>
            <a:pPr algn="ctr"/>
            <a:r>
              <a:rPr lang="en-US" b="1" dirty="0"/>
              <a:t>Example 1: Lending</a:t>
            </a:r>
            <a:br>
              <a:rPr lang="en-US" b="1" dirty="0"/>
            </a:br>
            <a:endParaRPr lang="en-IN" dirty="0"/>
          </a:p>
        </p:txBody>
      </p:sp>
      <p:sp>
        <p:nvSpPr>
          <p:cNvPr id="3" name="Content Placeholder 2">
            <a:extLst>
              <a:ext uri="{FF2B5EF4-FFF2-40B4-BE49-F238E27FC236}">
                <a16:creationId xmlns:a16="http://schemas.microsoft.com/office/drawing/2014/main" id="{CE838391-874C-F1F2-45E0-1B9C7D3FD6A9}"/>
              </a:ext>
            </a:extLst>
          </p:cNvPr>
          <p:cNvSpPr>
            <a:spLocks noGrp="1"/>
          </p:cNvSpPr>
          <p:nvPr>
            <p:ph idx="1"/>
          </p:nvPr>
        </p:nvSpPr>
        <p:spPr/>
        <p:txBody>
          <a:bodyPr>
            <a:normAutofit/>
          </a:bodyPr>
          <a:lstStyle/>
          <a:p>
            <a:r>
              <a:rPr lang="en-US" dirty="0"/>
              <a:t>Business Goal:</a:t>
            </a:r>
            <a:br>
              <a:rPr lang="en-US" dirty="0"/>
            </a:br>
            <a:r>
              <a:rPr lang="en-US" dirty="0"/>
              <a:t>Reduce loan defaults.</a:t>
            </a:r>
          </a:p>
          <a:p>
            <a:r>
              <a:rPr lang="en-US" dirty="0"/>
              <a:t>AI Capability:</a:t>
            </a:r>
            <a:br>
              <a:rPr lang="en-US" dirty="0"/>
            </a:br>
            <a:r>
              <a:rPr lang="en-US" dirty="0"/>
              <a:t>Predict default probability.</a:t>
            </a:r>
          </a:p>
          <a:p>
            <a:r>
              <a:rPr lang="en-US" dirty="0"/>
              <a:t>Product Feature:</a:t>
            </a:r>
            <a:br>
              <a:rPr lang="en-US" dirty="0"/>
            </a:br>
            <a:r>
              <a:rPr lang="en-US" dirty="0"/>
              <a:t>Risk scoring system during loan approval.</a:t>
            </a:r>
          </a:p>
          <a:p>
            <a:r>
              <a:rPr lang="en-US" dirty="0"/>
              <a:t>Result:</a:t>
            </a:r>
          </a:p>
          <a:p>
            <a:r>
              <a:rPr lang="en-US" dirty="0"/>
              <a:t>better lending decisions</a:t>
            </a:r>
          </a:p>
          <a:p>
            <a:r>
              <a:rPr lang="en-US" dirty="0"/>
              <a:t>reduced financial losses</a:t>
            </a:r>
          </a:p>
          <a:p>
            <a:endParaRPr lang="en-IN" dirty="0"/>
          </a:p>
        </p:txBody>
      </p:sp>
    </p:spTree>
    <p:extLst>
      <p:ext uri="{BB962C8B-B14F-4D97-AF65-F5344CB8AC3E}">
        <p14:creationId xmlns:p14="http://schemas.microsoft.com/office/powerpoint/2010/main" val="240989112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90AAD-E711-626E-A30C-061B68C71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C4A2C-C281-BCF3-8F4F-AF9920435F99}"/>
              </a:ext>
            </a:extLst>
          </p:cNvPr>
          <p:cNvSpPr>
            <a:spLocks noGrp="1"/>
          </p:cNvSpPr>
          <p:nvPr>
            <p:ph type="title"/>
          </p:nvPr>
        </p:nvSpPr>
        <p:spPr/>
        <p:txBody>
          <a:bodyPr/>
          <a:lstStyle/>
          <a:p>
            <a:pPr algn="ctr"/>
            <a:r>
              <a:rPr lang="en-US" b="1" dirty="0"/>
              <a:t>Example 2: Payments</a:t>
            </a:r>
            <a:br>
              <a:rPr lang="en-US" b="1" dirty="0"/>
            </a:br>
            <a:endParaRPr lang="en-IN" dirty="0"/>
          </a:p>
        </p:txBody>
      </p:sp>
      <p:sp>
        <p:nvSpPr>
          <p:cNvPr id="3" name="Content Placeholder 2">
            <a:extLst>
              <a:ext uri="{FF2B5EF4-FFF2-40B4-BE49-F238E27FC236}">
                <a16:creationId xmlns:a16="http://schemas.microsoft.com/office/drawing/2014/main" id="{BE30D1D0-0792-9510-5BFA-0D24165D9A44}"/>
              </a:ext>
            </a:extLst>
          </p:cNvPr>
          <p:cNvSpPr>
            <a:spLocks noGrp="1"/>
          </p:cNvSpPr>
          <p:nvPr>
            <p:ph idx="1"/>
          </p:nvPr>
        </p:nvSpPr>
        <p:spPr/>
        <p:txBody>
          <a:bodyPr>
            <a:normAutofit/>
          </a:bodyPr>
          <a:lstStyle/>
          <a:p>
            <a:r>
              <a:rPr lang="en-US" dirty="0"/>
              <a:t>Business Goal:</a:t>
            </a:r>
            <a:br>
              <a:rPr lang="en-US" dirty="0"/>
            </a:br>
            <a:r>
              <a:rPr lang="en-US" dirty="0"/>
              <a:t>Reduce payment fraud.</a:t>
            </a:r>
          </a:p>
          <a:p>
            <a:r>
              <a:rPr lang="en-US" dirty="0"/>
              <a:t>AI Capability:</a:t>
            </a:r>
            <a:br>
              <a:rPr lang="en-US" dirty="0"/>
            </a:br>
            <a:r>
              <a:rPr lang="en-US" dirty="0"/>
              <a:t>Detect abnormal transaction patterns.</a:t>
            </a:r>
          </a:p>
          <a:p>
            <a:r>
              <a:rPr lang="en-US" dirty="0"/>
              <a:t>Product Feature:</a:t>
            </a:r>
            <a:br>
              <a:rPr lang="en-US" dirty="0"/>
            </a:br>
            <a:r>
              <a:rPr lang="en-US" dirty="0"/>
              <a:t>Real-time fraud detection system.</a:t>
            </a:r>
          </a:p>
          <a:p>
            <a:r>
              <a:rPr lang="en-US" dirty="0"/>
              <a:t>Result:</a:t>
            </a:r>
          </a:p>
          <a:p>
            <a:r>
              <a:rPr lang="en-US" dirty="0"/>
              <a:t>fewer fraudulent transactions</a:t>
            </a:r>
          </a:p>
          <a:p>
            <a:r>
              <a:rPr lang="en-US" dirty="0"/>
              <a:t>increased customer trust</a:t>
            </a:r>
          </a:p>
          <a:p>
            <a:endParaRPr lang="en-IN" dirty="0"/>
          </a:p>
        </p:txBody>
      </p:sp>
    </p:spTree>
    <p:extLst>
      <p:ext uri="{BB962C8B-B14F-4D97-AF65-F5344CB8AC3E}">
        <p14:creationId xmlns:p14="http://schemas.microsoft.com/office/powerpoint/2010/main" val="140574838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171FC-3BF0-158B-A258-FC69D0894F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A150B-A039-EECE-CBDD-B1BBB1FF82A5}"/>
              </a:ext>
            </a:extLst>
          </p:cNvPr>
          <p:cNvSpPr>
            <a:spLocks noGrp="1"/>
          </p:cNvSpPr>
          <p:nvPr>
            <p:ph type="title"/>
          </p:nvPr>
        </p:nvSpPr>
        <p:spPr/>
        <p:txBody>
          <a:bodyPr/>
          <a:lstStyle/>
          <a:p>
            <a:pPr algn="ctr"/>
            <a:r>
              <a:rPr lang="en-US" b="1" dirty="0"/>
              <a:t>Example 3: Finance Operations</a:t>
            </a:r>
            <a:br>
              <a:rPr lang="en-US" b="1" dirty="0"/>
            </a:br>
            <a:endParaRPr lang="en-IN" dirty="0"/>
          </a:p>
        </p:txBody>
      </p:sp>
      <p:sp>
        <p:nvSpPr>
          <p:cNvPr id="3" name="Content Placeholder 2">
            <a:extLst>
              <a:ext uri="{FF2B5EF4-FFF2-40B4-BE49-F238E27FC236}">
                <a16:creationId xmlns:a16="http://schemas.microsoft.com/office/drawing/2014/main" id="{FD08EA83-7541-7529-879D-B121A6D4E1F6}"/>
              </a:ext>
            </a:extLst>
          </p:cNvPr>
          <p:cNvSpPr>
            <a:spLocks noGrp="1"/>
          </p:cNvSpPr>
          <p:nvPr>
            <p:ph idx="1"/>
          </p:nvPr>
        </p:nvSpPr>
        <p:spPr/>
        <p:txBody>
          <a:bodyPr>
            <a:normAutofit/>
          </a:bodyPr>
          <a:lstStyle/>
          <a:p>
            <a:r>
              <a:rPr lang="en-US" dirty="0"/>
              <a:t>Business Goal:</a:t>
            </a:r>
            <a:br>
              <a:rPr lang="en-US" dirty="0"/>
            </a:br>
            <a:r>
              <a:rPr lang="en-US" dirty="0"/>
              <a:t>Reduce manual reconciliation effort.</a:t>
            </a:r>
          </a:p>
          <a:p>
            <a:r>
              <a:rPr lang="en-US" dirty="0"/>
              <a:t>AI Capability:</a:t>
            </a:r>
            <a:br>
              <a:rPr lang="en-US" dirty="0"/>
            </a:br>
            <a:r>
              <a:rPr lang="en-US" dirty="0"/>
              <a:t>Pattern matching in financial records.</a:t>
            </a:r>
          </a:p>
          <a:p>
            <a:r>
              <a:rPr lang="en-US" dirty="0"/>
              <a:t>Product Feature:</a:t>
            </a:r>
            <a:br>
              <a:rPr lang="en-US" dirty="0"/>
            </a:br>
            <a:r>
              <a:rPr lang="en-US" dirty="0"/>
              <a:t>Automated reconciliation engine.</a:t>
            </a:r>
          </a:p>
          <a:p>
            <a:r>
              <a:rPr lang="en-US" dirty="0"/>
              <a:t>Result:</a:t>
            </a:r>
          </a:p>
          <a:p>
            <a:r>
              <a:rPr lang="en-US" dirty="0"/>
              <a:t>faster financial closing</a:t>
            </a:r>
          </a:p>
          <a:p>
            <a:r>
              <a:rPr lang="en-US" dirty="0"/>
              <a:t>lower operational cost</a:t>
            </a:r>
          </a:p>
          <a:p>
            <a:endParaRPr lang="en-IN" dirty="0"/>
          </a:p>
        </p:txBody>
      </p:sp>
    </p:spTree>
    <p:extLst>
      <p:ext uri="{BB962C8B-B14F-4D97-AF65-F5344CB8AC3E}">
        <p14:creationId xmlns:p14="http://schemas.microsoft.com/office/powerpoint/2010/main" val="342413590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A5B55-9E83-3F9E-9731-B53CBF0AE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71EF97-64BA-DCE3-11D1-1FB6AB5E44E0}"/>
              </a:ext>
            </a:extLst>
          </p:cNvPr>
          <p:cNvSpPr>
            <a:spLocks noGrp="1"/>
          </p:cNvSpPr>
          <p:nvPr>
            <p:ph type="title"/>
          </p:nvPr>
        </p:nvSpPr>
        <p:spPr/>
        <p:txBody>
          <a:bodyPr/>
          <a:lstStyle/>
          <a:p>
            <a:pPr algn="ctr"/>
            <a:r>
              <a:rPr lang="en-US" b="1" dirty="0"/>
              <a:t>Key Idea for Product Managers</a:t>
            </a:r>
            <a:br>
              <a:rPr lang="en-US" b="1" dirty="0"/>
            </a:br>
            <a:endParaRPr lang="en-IN" dirty="0"/>
          </a:p>
        </p:txBody>
      </p:sp>
      <p:sp>
        <p:nvSpPr>
          <p:cNvPr id="3" name="Content Placeholder 2">
            <a:extLst>
              <a:ext uri="{FF2B5EF4-FFF2-40B4-BE49-F238E27FC236}">
                <a16:creationId xmlns:a16="http://schemas.microsoft.com/office/drawing/2014/main" id="{75602664-813E-4956-1686-2634D9372D57}"/>
              </a:ext>
            </a:extLst>
          </p:cNvPr>
          <p:cNvSpPr>
            <a:spLocks noGrp="1"/>
          </p:cNvSpPr>
          <p:nvPr>
            <p:ph idx="1"/>
          </p:nvPr>
        </p:nvSpPr>
        <p:spPr/>
        <p:txBody>
          <a:bodyPr/>
          <a:lstStyle/>
          <a:p>
            <a:r>
              <a:rPr lang="en-US" dirty="0"/>
              <a:t>Before building an AI feature, ask:</a:t>
            </a:r>
          </a:p>
          <a:p>
            <a:pPr marL="0" indent="0">
              <a:buNone/>
            </a:pPr>
            <a:r>
              <a:rPr lang="en-US" dirty="0"/>
              <a:t>Do we have the right data?</a:t>
            </a:r>
            <a:br>
              <a:rPr lang="en-US" dirty="0"/>
            </a:br>
            <a:r>
              <a:rPr lang="en-US" dirty="0"/>
              <a:t>Is the data reliable and complete?</a:t>
            </a:r>
            <a:br>
              <a:rPr lang="en-US" dirty="0"/>
            </a:br>
            <a:r>
              <a:rPr lang="en-US" dirty="0"/>
              <a:t>What decision will the AI support?</a:t>
            </a:r>
            <a:br>
              <a:rPr lang="en-US" dirty="0"/>
            </a:br>
            <a:r>
              <a:rPr lang="en-US" dirty="0"/>
              <a:t>What business outcome will improve?</a:t>
            </a:r>
          </a:p>
          <a:p>
            <a:r>
              <a:rPr lang="en-US" dirty="0"/>
              <a:t>If these questions are answered clearly, the AI feature has strong product potential.</a:t>
            </a:r>
          </a:p>
          <a:p>
            <a:endParaRPr lang="en-IN" dirty="0"/>
          </a:p>
        </p:txBody>
      </p:sp>
    </p:spTree>
    <p:extLst>
      <p:ext uri="{BB962C8B-B14F-4D97-AF65-F5344CB8AC3E}">
        <p14:creationId xmlns:p14="http://schemas.microsoft.com/office/powerpoint/2010/main" val="413111217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86E36-7817-1EA5-4A33-CEFFA4F31380}"/>
              </a:ext>
            </a:extLst>
          </p:cNvPr>
          <p:cNvSpPr>
            <a:spLocks noGrp="1"/>
          </p:cNvSpPr>
          <p:nvPr>
            <p:ph type="title"/>
          </p:nvPr>
        </p:nvSpPr>
        <p:spPr/>
        <p:txBody>
          <a:bodyPr/>
          <a:lstStyle/>
          <a:p>
            <a:pPr algn="ctr"/>
            <a:r>
              <a:rPr lang="en-US" b="1" dirty="0"/>
              <a:t>Machine Learning (ML) &amp; Deep Learning</a:t>
            </a:r>
            <a:br>
              <a:rPr lang="en-US" b="1" dirty="0"/>
            </a:br>
            <a:endParaRPr lang="en-IN" dirty="0"/>
          </a:p>
        </p:txBody>
      </p:sp>
      <p:sp>
        <p:nvSpPr>
          <p:cNvPr id="3" name="Content Placeholder 2">
            <a:extLst>
              <a:ext uri="{FF2B5EF4-FFF2-40B4-BE49-F238E27FC236}">
                <a16:creationId xmlns:a16="http://schemas.microsoft.com/office/drawing/2014/main" id="{7C1C5639-54C8-C02E-9151-034D6EB086CC}"/>
              </a:ext>
            </a:extLst>
          </p:cNvPr>
          <p:cNvSpPr>
            <a:spLocks noGrp="1"/>
          </p:cNvSpPr>
          <p:nvPr>
            <p:ph idx="1"/>
          </p:nvPr>
        </p:nvSpPr>
        <p:spPr/>
        <p:txBody>
          <a:bodyPr/>
          <a:lstStyle/>
          <a:p>
            <a:r>
              <a:rPr lang="en-US" b="1" dirty="0"/>
              <a:t>Core Function:</a:t>
            </a:r>
            <a:r>
              <a:rPr lang="en-US" dirty="0"/>
              <a:t> Pattern recognition and prediction from vast datasets.</a:t>
            </a:r>
          </a:p>
          <a:p>
            <a:pPr>
              <a:lnSpc>
                <a:spcPct val="150000"/>
              </a:lnSpc>
            </a:pPr>
            <a:r>
              <a:rPr lang="en-US" b="1" dirty="0"/>
              <a:t>Finance Application:</a:t>
            </a:r>
            <a:r>
              <a:rPr lang="en-US" dirty="0"/>
              <a:t> This is the backbone for credit scoring, algorithmic trading, and fraud detection. </a:t>
            </a:r>
          </a:p>
          <a:p>
            <a:r>
              <a:rPr lang="en-US" dirty="0"/>
              <a:t>Deep learning networks, in particular, can analyze complex, non-linear relationships in market data that are invisible to traditional models.</a:t>
            </a:r>
          </a:p>
          <a:p>
            <a:endParaRPr lang="en-IN" dirty="0"/>
          </a:p>
        </p:txBody>
      </p:sp>
    </p:spTree>
    <p:extLst>
      <p:ext uri="{BB962C8B-B14F-4D97-AF65-F5344CB8AC3E}">
        <p14:creationId xmlns:p14="http://schemas.microsoft.com/office/powerpoint/2010/main" val="126148617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C6019-D276-3E57-4327-CF4E8B4042B8}"/>
              </a:ext>
            </a:extLst>
          </p:cNvPr>
          <p:cNvSpPr>
            <a:spLocks noGrp="1"/>
          </p:cNvSpPr>
          <p:nvPr>
            <p:ph type="title"/>
          </p:nvPr>
        </p:nvSpPr>
        <p:spPr/>
        <p:txBody>
          <a:bodyPr>
            <a:normAutofit fontScale="90000"/>
          </a:bodyPr>
          <a:lstStyle/>
          <a:p>
            <a:pPr algn="ctr"/>
            <a:r>
              <a:rPr lang="en-US" b="1" dirty="0"/>
              <a:t> </a:t>
            </a:r>
            <a:br>
              <a:rPr lang="en-US" b="1" dirty="0"/>
            </a:br>
            <a:r>
              <a:rPr lang="en-US" b="1" dirty="0"/>
              <a:t>Robotic Process Automation (RPA) </a:t>
            </a:r>
            <a:br>
              <a:rPr lang="en-US" b="1" dirty="0"/>
            </a:br>
            <a:r>
              <a:rPr lang="en-US" b="1" dirty="0"/>
              <a:t>Enhanced with AI</a:t>
            </a:r>
            <a:br>
              <a:rPr lang="en-US" b="1" dirty="0"/>
            </a:br>
            <a:endParaRPr lang="en-IN" dirty="0"/>
          </a:p>
        </p:txBody>
      </p:sp>
      <p:sp>
        <p:nvSpPr>
          <p:cNvPr id="3" name="Content Placeholder 2">
            <a:extLst>
              <a:ext uri="{FF2B5EF4-FFF2-40B4-BE49-F238E27FC236}">
                <a16:creationId xmlns:a16="http://schemas.microsoft.com/office/drawing/2014/main" id="{418E6F3C-DC1D-72C8-B56A-9059A8F888A0}"/>
              </a:ext>
            </a:extLst>
          </p:cNvPr>
          <p:cNvSpPr>
            <a:spLocks noGrp="1"/>
          </p:cNvSpPr>
          <p:nvPr>
            <p:ph idx="1"/>
          </p:nvPr>
        </p:nvSpPr>
        <p:spPr/>
        <p:txBody>
          <a:bodyPr/>
          <a:lstStyle/>
          <a:p>
            <a:pPr>
              <a:lnSpc>
                <a:spcPct val="150000"/>
              </a:lnSpc>
            </a:pPr>
            <a:r>
              <a:rPr lang="en-US" b="1" dirty="0"/>
              <a:t>Core Function:</a:t>
            </a:r>
            <a:r>
              <a:rPr lang="en-US" dirty="0"/>
              <a:t> Automating repetitive, rule-based tasks.</a:t>
            </a:r>
          </a:p>
          <a:p>
            <a:pPr>
              <a:lnSpc>
                <a:spcPct val="150000"/>
              </a:lnSpc>
            </a:pPr>
            <a:r>
              <a:rPr lang="en-US" b="1" dirty="0"/>
              <a:t>Finance Application:</a:t>
            </a:r>
            <a:r>
              <a:rPr lang="en-US" dirty="0"/>
              <a:t> While RPA alone is not AI, when infused with AI (often called “Intelligent Process Automation” or IPA), it can handle exceptions and make judgments. Think of it automating invoice processing, but also learning to handle discrepancies without human intervention.</a:t>
            </a:r>
          </a:p>
          <a:p>
            <a:pPr>
              <a:lnSpc>
                <a:spcPct val="150000"/>
              </a:lnSpc>
            </a:pPr>
            <a:endParaRPr lang="en-IN" dirty="0"/>
          </a:p>
        </p:txBody>
      </p:sp>
    </p:spTree>
    <p:extLst>
      <p:ext uri="{BB962C8B-B14F-4D97-AF65-F5344CB8AC3E}">
        <p14:creationId xmlns:p14="http://schemas.microsoft.com/office/powerpoint/2010/main" val="297109715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AD95C-9378-70D0-BC60-6D664FB5FCDB}"/>
              </a:ext>
            </a:extLst>
          </p:cNvPr>
          <p:cNvSpPr>
            <a:spLocks noGrp="1"/>
          </p:cNvSpPr>
          <p:nvPr>
            <p:ph type="title"/>
          </p:nvPr>
        </p:nvSpPr>
        <p:spPr/>
        <p:txBody>
          <a:bodyPr/>
          <a:lstStyle/>
          <a:p>
            <a:pPr algn="ctr"/>
            <a:r>
              <a:rPr lang="en-IN" b="1" dirty="0"/>
              <a:t>Natural Language Processing (NLP)</a:t>
            </a:r>
            <a:br>
              <a:rPr lang="en-IN" b="1" dirty="0"/>
            </a:br>
            <a:endParaRPr lang="en-IN" dirty="0"/>
          </a:p>
        </p:txBody>
      </p:sp>
      <p:sp>
        <p:nvSpPr>
          <p:cNvPr id="3" name="Content Placeholder 2">
            <a:extLst>
              <a:ext uri="{FF2B5EF4-FFF2-40B4-BE49-F238E27FC236}">
                <a16:creationId xmlns:a16="http://schemas.microsoft.com/office/drawing/2014/main" id="{C389A0C5-E01A-CF7E-B751-0C8013D39A8E}"/>
              </a:ext>
            </a:extLst>
          </p:cNvPr>
          <p:cNvSpPr>
            <a:spLocks noGrp="1"/>
          </p:cNvSpPr>
          <p:nvPr>
            <p:ph idx="1"/>
          </p:nvPr>
        </p:nvSpPr>
        <p:spPr/>
        <p:txBody>
          <a:bodyPr/>
          <a:lstStyle/>
          <a:p>
            <a:pPr>
              <a:lnSpc>
                <a:spcPct val="150000"/>
              </a:lnSpc>
            </a:pPr>
            <a:r>
              <a:rPr lang="en-US" b="1" dirty="0"/>
              <a:t>Core Function:</a:t>
            </a:r>
            <a:r>
              <a:rPr lang="en-US" dirty="0"/>
              <a:t> Understanding and generating human language.</a:t>
            </a:r>
          </a:p>
          <a:p>
            <a:pPr>
              <a:lnSpc>
                <a:spcPct val="150000"/>
              </a:lnSpc>
            </a:pPr>
            <a:r>
              <a:rPr lang="en-US" b="1" dirty="0"/>
              <a:t>Finance Application:</a:t>
            </a:r>
            <a:r>
              <a:rPr lang="en-US" dirty="0"/>
              <a:t> Powers sentiment analysis of news and social media for trading signals, automates customer service via advanced chatbots, and extracts critical information from unstructured documents like legal contracts and earnings reports.</a:t>
            </a:r>
          </a:p>
          <a:p>
            <a:pPr>
              <a:lnSpc>
                <a:spcPct val="150000"/>
              </a:lnSpc>
            </a:pPr>
            <a:endParaRPr lang="en-IN" dirty="0"/>
          </a:p>
        </p:txBody>
      </p:sp>
    </p:spTree>
    <p:extLst>
      <p:ext uri="{BB962C8B-B14F-4D97-AF65-F5344CB8AC3E}">
        <p14:creationId xmlns:p14="http://schemas.microsoft.com/office/powerpoint/2010/main" val="18437423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EB1D4-1AF7-2F35-C373-825E481AF6AE}"/>
              </a:ext>
            </a:extLst>
          </p:cNvPr>
          <p:cNvSpPr>
            <a:spLocks noGrp="1"/>
          </p:cNvSpPr>
          <p:nvPr>
            <p:ph type="title"/>
          </p:nvPr>
        </p:nvSpPr>
        <p:spPr/>
        <p:txBody>
          <a:bodyPr/>
          <a:lstStyle/>
          <a:p>
            <a:pPr algn="ctr"/>
            <a:r>
              <a:rPr lang="en-IN" b="1" dirty="0"/>
              <a:t>Generative AI</a:t>
            </a:r>
            <a:br>
              <a:rPr lang="en-IN" b="1" dirty="0"/>
            </a:br>
            <a:endParaRPr lang="en-IN" dirty="0"/>
          </a:p>
        </p:txBody>
      </p:sp>
      <p:sp>
        <p:nvSpPr>
          <p:cNvPr id="3" name="Content Placeholder 2">
            <a:extLst>
              <a:ext uri="{FF2B5EF4-FFF2-40B4-BE49-F238E27FC236}">
                <a16:creationId xmlns:a16="http://schemas.microsoft.com/office/drawing/2014/main" id="{94858532-1056-7E95-0E5C-9A2B64BE9DE0}"/>
              </a:ext>
            </a:extLst>
          </p:cNvPr>
          <p:cNvSpPr>
            <a:spLocks noGrp="1"/>
          </p:cNvSpPr>
          <p:nvPr>
            <p:ph idx="1"/>
          </p:nvPr>
        </p:nvSpPr>
        <p:spPr/>
        <p:txBody>
          <a:bodyPr/>
          <a:lstStyle/>
          <a:p>
            <a:r>
              <a:rPr lang="en-US" b="1" dirty="0"/>
              <a:t>Core Function:</a:t>
            </a:r>
            <a:r>
              <a:rPr lang="en-US" dirty="0"/>
              <a:t> Creating new content, scenarios, and data.</a:t>
            </a:r>
          </a:p>
          <a:p>
            <a:r>
              <a:rPr lang="en-US" b="1" dirty="0"/>
              <a:t>Finance Application:</a:t>
            </a:r>
            <a:r>
              <a:rPr lang="en-US" dirty="0"/>
              <a:t> Beyond chatbots, Generative AI is used for </a:t>
            </a:r>
            <a:r>
              <a:rPr lang="en-US" b="1" dirty="0"/>
              <a:t>synthetic data generation</a:t>
            </a:r>
            <a:r>
              <a:rPr lang="en-US" dirty="0"/>
              <a:t> to train models without compromising real customer data, stress-testing portfolios by simulating thousands of unique economic scenarios, and generating personalized financial reports.</a:t>
            </a:r>
          </a:p>
          <a:p>
            <a:endParaRPr lang="en-IN" dirty="0"/>
          </a:p>
        </p:txBody>
      </p:sp>
    </p:spTree>
    <p:extLst>
      <p:ext uri="{BB962C8B-B14F-4D97-AF65-F5344CB8AC3E}">
        <p14:creationId xmlns:p14="http://schemas.microsoft.com/office/powerpoint/2010/main" val="187642013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7CE77-CA7B-5C95-774D-6C6F69BFA4B3}"/>
              </a:ext>
            </a:extLst>
          </p:cNvPr>
          <p:cNvSpPr>
            <a:spLocks noGrp="1"/>
          </p:cNvSpPr>
          <p:nvPr>
            <p:ph type="title"/>
          </p:nvPr>
        </p:nvSpPr>
        <p:spPr/>
        <p:txBody>
          <a:bodyPr/>
          <a:lstStyle/>
          <a:p>
            <a:pPr algn="ctr"/>
            <a:r>
              <a:rPr lang="en-IN" b="1" dirty="0"/>
              <a:t>Computer Vision</a:t>
            </a:r>
            <a:br>
              <a:rPr lang="en-IN" b="1" dirty="0"/>
            </a:br>
            <a:endParaRPr lang="en-IN" dirty="0"/>
          </a:p>
        </p:txBody>
      </p:sp>
      <p:sp>
        <p:nvSpPr>
          <p:cNvPr id="3" name="Content Placeholder 2">
            <a:extLst>
              <a:ext uri="{FF2B5EF4-FFF2-40B4-BE49-F238E27FC236}">
                <a16:creationId xmlns:a16="http://schemas.microsoft.com/office/drawing/2014/main" id="{5D38677C-96EC-047A-FB1C-3A3E6B898CD9}"/>
              </a:ext>
            </a:extLst>
          </p:cNvPr>
          <p:cNvSpPr>
            <a:spLocks noGrp="1"/>
          </p:cNvSpPr>
          <p:nvPr>
            <p:ph idx="1"/>
          </p:nvPr>
        </p:nvSpPr>
        <p:spPr/>
        <p:txBody>
          <a:bodyPr/>
          <a:lstStyle/>
          <a:p>
            <a:pPr>
              <a:lnSpc>
                <a:spcPct val="150000"/>
              </a:lnSpc>
            </a:pPr>
            <a:r>
              <a:rPr lang="en-IN" b="1" dirty="0"/>
              <a:t>Core Function:</a:t>
            </a:r>
            <a:r>
              <a:rPr lang="en-IN" dirty="0"/>
              <a:t> Deriving information from images and documents.</a:t>
            </a:r>
          </a:p>
          <a:p>
            <a:pPr>
              <a:lnSpc>
                <a:spcPct val="150000"/>
              </a:lnSpc>
            </a:pPr>
            <a:r>
              <a:rPr lang="en-IN" b="1" dirty="0"/>
              <a:t>Finance Application:</a:t>
            </a:r>
            <a:r>
              <a:rPr lang="en-IN" dirty="0"/>
              <a:t> Automates the verification of identity documents (e.g., passports, driver’s licenses) for KYC/AML processes and </a:t>
            </a:r>
            <a:r>
              <a:rPr lang="en-IN" dirty="0" err="1"/>
              <a:t>analyzes</a:t>
            </a:r>
            <a:r>
              <a:rPr lang="en-IN" dirty="0"/>
              <a:t> damage assessments in insurance claims from submitted photos.</a:t>
            </a:r>
          </a:p>
          <a:p>
            <a:pPr>
              <a:lnSpc>
                <a:spcPct val="150000"/>
              </a:lnSpc>
            </a:pPr>
            <a:endParaRPr lang="en-IN" dirty="0"/>
          </a:p>
        </p:txBody>
      </p:sp>
    </p:spTree>
    <p:extLst>
      <p:ext uri="{BB962C8B-B14F-4D97-AF65-F5344CB8AC3E}">
        <p14:creationId xmlns:p14="http://schemas.microsoft.com/office/powerpoint/2010/main" val="385527366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1B0E7-F77E-5C0C-2B7D-9B4244B3AF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F41C6-370D-4E7A-813E-DB6504D0C359}"/>
              </a:ext>
            </a:extLst>
          </p:cNvPr>
          <p:cNvSpPr>
            <a:spLocks noGrp="1"/>
          </p:cNvSpPr>
          <p:nvPr>
            <p:ph type="title"/>
          </p:nvPr>
        </p:nvSpPr>
        <p:spPr/>
        <p:txBody>
          <a:bodyPr>
            <a:normAutofit fontScale="90000"/>
          </a:bodyPr>
          <a:lstStyle/>
          <a:p>
            <a:pPr algn="ctr"/>
            <a:r>
              <a:rPr lang="en-US" b="1" dirty="0"/>
              <a:t>AI-Driven Portfolio Management &amp; Algo-Trading</a:t>
            </a:r>
            <a:br>
              <a:rPr lang="en-US" b="1" dirty="0"/>
            </a:br>
            <a:endParaRPr lang="en-IN" dirty="0"/>
          </a:p>
        </p:txBody>
      </p:sp>
      <p:sp>
        <p:nvSpPr>
          <p:cNvPr id="3" name="Content Placeholder 2">
            <a:extLst>
              <a:ext uri="{FF2B5EF4-FFF2-40B4-BE49-F238E27FC236}">
                <a16:creationId xmlns:a16="http://schemas.microsoft.com/office/drawing/2014/main" id="{BA495F20-CED6-D8E8-467A-A2AF87778FE7}"/>
              </a:ext>
            </a:extLst>
          </p:cNvPr>
          <p:cNvSpPr>
            <a:spLocks noGrp="1"/>
          </p:cNvSpPr>
          <p:nvPr>
            <p:ph idx="1"/>
          </p:nvPr>
        </p:nvSpPr>
        <p:spPr/>
        <p:txBody>
          <a:bodyPr/>
          <a:lstStyle/>
          <a:p>
            <a:r>
              <a:rPr lang="en-US" b="1" dirty="0"/>
              <a:t>Beyond Automation:</a:t>
            </a:r>
            <a:r>
              <a:rPr lang="en-US" dirty="0"/>
              <a:t> Platforms like BlackRock’s Aladdin are now table stakes. The next frontier is </a:t>
            </a:r>
            <a:r>
              <a:rPr lang="en-US" b="1" dirty="0"/>
              <a:t>Reinforcement Learning</a:t>
            </a:r>
            <a:r>
              <a:rPr lang="en-US" dirty="0"/>
              <a:t>, where AI agents learn optimal trading strategies through trial and error in simulated market environments, adapting to new market regimes far quicker than human-defined algorithms.</a:t>
            </a:r>
          </a:p>
          <a:p>
            <a:endParaRPr lang="en-IN" dirty="0"/>
          </a:p>
        </p:txBody>
      </p:sp>
    </p:spTree>
    <p:extLst>
      <p:ext uri="{BB962C8B-B14F-4D97-AF65-F5344CB8AC3E}">
        <p14:creationId xmlns:p14="http://schemas.microsoft.com/office/powerpoint/2010/main" val="366402821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79066-FAB6-6418-67FA-E222EDF75D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5BF8B-97F7-CE6A-B800-6ACE3DF92D23}"/>
              </a:ext>
            </a:extLst>
          </p:cNvPr>
          <p:cNvSpPr>
            <a:spLocks noGrp="1"/>
          </p:cNvSpPr>
          <p:nvPr>
            <p:ph type="title"/>
          </p:nvPr>
        </p:nvSpPr>
        <p:spPr/>
        <p:txBody>
          <a:bodyPr>
            <a:normAutofit fontScale="90000"/>
          </a:bodyPr>
          <a:lstStyle/>
          <a:p>
            <a:pPr algn="ctr"/>
            <a:br>
              <a:rPr lang="en-US" b="1" dirty="0"/>
            </a:br>
            <a:r>
              <a:rPr lang="en-US" b="1" dirty="0"/>
              <a:t>Hyper-Personalized Banking &amp; Wealth Management</a:t>
            </a:r>
            <a:br>
              <a:rPr lang="en-US" b="1" dirty="0"/>
            </a:br>
            <a:endParaRPr lang="en-IN" dirty="0"/>
          </a:p>
        </p:txBody>
      </p:sp>
      <p:sp>
        <p:nvSpPr>
          <p:cNvPr id="3" name="Content Placeholder 2">
            <a:extLst>
              <a:ext uri="{FF2B5EF4-FFF2-40B4-BE49-F238E27FC236}">
                <a16:creationId xmlns:a16="http://schemas.microsoft.com/office/drawing/2014/main" id="{EFD5F181-FA15-BE7D-FBB6-E64BBD8912FD}"/>
              </a:ext>
            </a:extLst>
          </p:cNvPr>
          <p:cNvSpPr>
            <a:spLocks noGrp="1"/>
          </p:cNvSpPr>
          <p:nvPr>
            <p:ph idx="1"/>
          </p:nvPr>
        </p:nvSpPr>
        <p:spPr/>
        <p:txBody>
          <a:bodyPr/>
          <a:lstStyle/>
          <a:p>
            <a:pPr>
              <a:lnSpc>
                <a:spcPct val="150000"/>
              </a:lnSpc>
            </a:pPr>
            <a:r>
              <a:rPr lang="en-US" b="1" dirty="0"/>
              <a:t>Beyond Product Recommendations:</a:t>
            </a:r>
            <a:r>
              <a:rPr lang="en-US" dirty="0"/>
              <a:t> AI will power true </a:t>
            </a:r>
            <a:r>
              <a:rPr lang="en-US" b="1" dirty="0"/>
              <a:t>contextual and behavioral banking</a:t>
            </a:r>
            <a:r>
              <a:rPr lang="en-US" dirty="0"/>
              <a:t>. For example, your banking app might analyze your calendar, location, and spending habits to automatically suggest saving for an upcoming trip or offer a short-term loan if it detects an unexpected large expense.</a:t>
            </a:r>
          </a:p>
          <a:p>
            <a:pPr>
              <a:lnSpc>
                <a:spcPct val="150000"/>
              </a:lnSpc>
            </a:pPr>
            <a:endParaRPr lang="en-IN" dirty="0"/>
          </a:p>
        </p:txBody>
      </p:sp>
    </p:spTree>
    <p:extLst>
      <p:ext uri="{BB962C8B-B14F-4D97-AF65-F5344CB8AC3E}">
        <p14:creationId xmlns:p14="http://schemas.microsoft.com/office/powerpoint/2010/main" val="269843168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91A48-3B74-7E4D-193C-B3F8FBFFC8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0FA143-DF12-618C-37D3-93242BC0A09B}"/>
              </a:ext>
            </a:extLst>
          </p:cNvPr>
          <p:cNvSpPr>
            <a:spLocks noGrp="1"/>
          </p:cNvSpPr>
          <p:nvPr>
            <p:ph type="title"/>
          </p:nvPr>
        </p:nvSpPr>
        <p:spPr/>
        <p:txBody>
          <a:bodyPr/>
          <a:lstStyle/>
          <a:p>
            <a:r>
              <a:rPr lang="en-US" b="1" dirty="0"/>
              <a:t>3. Predictive Risk Management &amp; Underwriting</a:t>
            </a:r>
            <a:br>
              <a:rPr lang="en-US" b="1" dirty="0"/>
            </a:br>
            <a:endParaRPr lang="en-IN" dirty="0"/>
          </a:p>
        </p:txBody>
      </p:sp>
      <p:sp>
        <p:nvSpPr>
          <p:cNvPr id="3" name="Content Placeholder 2">
            <a:extLst>
              <a:ext uri="{FF2B5EF4-FFF2-40B4-BE49-F238E27FC236}">
                <a16:creationId xmlns:a16="http://schemas.microsoft.com/office/drawing/2014/main" id="{EA122D12-1949-5145-138D-6F0F7D60D7E4}"/>
              </a:ext>
            </a:extLst>
          </p:cNvPr>
          <p:cNvSpPr>
            <a:spLocks noGrp="1"/>
          </p:cNvSpPr>
          <p:nvPr>
            <p:ph idx="1"/>
          </p:nvPr>
        </p:nvSpPr>
        <p:spPr/>
        <p:txBody>
          <a:bodyPr/>
          <a:lstStyle/>
          <a:p>
            <a:r>
              <a:rPr lang="en-US" b="1" dirty="0"/>
              <a:t>Beyond Traditional Metrics:</a:t>
            </a:r>
            <a:r>
              <a:rPr lang="en-US" dirty="0"/>
              <a:t> Insurers and lenders are moving from historical data to </a:t>
            </a:r>
            <a:r>
              <a:rPr lang="en-US" b="1" dirty="0"/>
              <a:t>predictive behavioral data</a:t>
            </a:r>
            <a:r>
              <a:rPr lang="en-US" dirty="0"/>
              <a:t>. For instance, auto insurers might use telematics (via smartphone apps) to assess driving behavior in real-time, while lenders might analyze cash flow patterns with much greater granularity than a simple credit score.</a:t>
            </a:r>
          </a:p>
          <a:p>
            <a:endParaRPr lang="en-IN" dirty="0"/>
          </a:p>
        </p:txBody>
      </p:sp>
    </p:spTree>
    <p:extLst>
      <p:ext uri="{BB962C8B-B14F-4D97-AF65-F5344CB8AC3E}">
        <p14:creationId xmlns:p14="http://schemas.microsoft.com/office/powerpoint/2010/main" val="168911228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9246F-DFF9-F33D-A8B5-E6E614D9A8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D6889-5C31-14DF-2EE3-0BE9497A82CA}"/>
              </a:ext>
            </a:extLst>
          </p:cNvPr>
          <p:cNvSpPr>
            <a:spLocks noGrp="1"/>
          </p:cNvSpPr>
          <p:nvPr>
            <p:ph type="title"/>
          </p:nvPr>
        </p:nvSpPr>
        <p:spPr/>
        <p:txBody>
          <a:bodyPr/>
          <a:lstStyle/>
          <a:p>
            <a:r>
              <a:rPr lang="en-US" b="1" dirty="0"/>
              <a:t>4. Next-Generation Fraud Detection and AML</a:t>
            </a:r>
            <a:br>
              <a:rPr lang="en-US" b="1" dirty="0"/>
            </a:br>
            <a:endParaRPr lang="en-IN" dirty="0"/>
          </a:p>
        </p:txBody>
      </p:sp>
      <p:sp>
        <p:nvSpPr>
          <p:cNvPr id="3" name="Content Placeholder 2">
            <a:extLst>
              <a:ext uri="{FF2B5EF4-FFF2-40B4-BE49-F238E27FC236}">
                <a16:creationId xmlns:a16="http://schemas.microsoft.com/office/drawing/2014/main" id="{5E26FFA2-20A9-4A55-1D73-25B6E4CD352A}"/>
              </a:ext>
            </a:extLst>
          </p:cNvPr>
          <p:cNvSpPr>
            <a:spLocks noGrp="1"/>
          </p:cNvSpPr>
          <p:nvPr>
            <p:ph idx="1"/>
          </p:nvPr>
        </p:nvSpPr>
        <p:spPr/>
        <p:txBody>
          <a:bodyPr/>
          <a:lstStyle/>
          <a:p>
            <a:r>
              <a:rPr lang="en-US" b="1" dirty="0"/>
              <a:t>Beyond Pattern Matching:</a:t>
            </a:r>
            <a:r>
              <a:rPr lang="en-US" dirty="0"/>
              <a:t> Instead of just flagging transactions that break rules, AI will build a “behavioral biometrics” profile for each user. It understands your typical transaction patterns, device usage, and even typing speed. Any deviation from this baseline raises a flag, catching sophisticated, novel fraud attempts that rule-based systems miss.</a:t>
            </a:r>
          </a:p>
          <a:p>
            <a:endParaRPr lang="en-IN" dirty="0"/>
          </a:p>
        </p:txBody>
      </p:sp>
    </p:spTree>
    <p:extLst>
      <p:ext uri="{BB962C8B-B14F-4D97-AF65-F5344CB8AC3E}">
        <p14:creationId xmlns:p14="http://schemas.microsoft.com/office/powerpoint/2010/main" val="211300494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740EE-0E70-36B4-D343-2402496F6D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E85E1B-644E-3670-0D9E-6673D807A15E}"/>
              </a:ext>
            </a:extLst>
          </p:cNvPr>
          <p:cNvSpPr>
            <a:spLocks noGrp="1"/>
          </p:cNvSpPr>
          <p:nvPr>
            <p:ph type="title"/>
          </p:nvPr>
        </p:nvSpPr>
        <p:spPr/>
        <p:txBody>
          <a:bodyPr/>
          <a:lstStyle/>
          <a:p>
            <a:r>
              <a:rPr lang="en-US" b="1" dirty="0"/>
              <a:t>Autonomous Finance Operations</a:t>
            </a:r>
            <a:br>
              <a:rPr lang="en-US" b="1" dirty="0"/>
            </a:br>
            <a:endParaRPr lang="en-IN" dirty="0"/>
          </a:p>
        </p:txBody>
      </p:sp>
      <p:sp>
        <p:nvSpPr>
          <p:cNvPr id="3" name="Content Placeholder 2">
            <a:extLst>
              <a:ext uri="{FF2B5EF4-FFF2-40B4-BE49-F238E27FC236}">
                <a16:creationId xmlns:a16="http://schemas.microsoft.com/office/drawing/2014/main" id="{7E58D432-F281-1CA8-E5C2-78D91CC90BBD}"/>
              </a:ext>
            </a:extLst>
          </p:cNvPr>
          <p:cNvSpPr>
            <a:spLocks noGrp="1"/>
          </p:cNvSpPr>
          <p:nvPr>
            <p:ph idx="1"/>
          </p:nvPr>
        </p:nvSpPr>
        <p:spPr/>
        <p:txBody>
          <a:bodyPr/>
          <a:lstStyle/>
          <a:p>
            <a:r>
              <a:rPr lang="en-US" b="1" dirty="0"/>
              <a:t>Beyond RPA:</a:t>
            </a:r>
            <a:r>
              <a:rPr lang="en-US" dirty="0"/>
              <a:t> Corporate finance departments will leverage AI for continuous accounting and forecasting. AI systems will automatically reconcile transactions, identify anomalies in real-time, and generate financial forecasts that update dynamically as new market or operational data comes in, moving the finance team’s role from reporter to strategic advisor.</a:t>
            </a:r>
          </a:p>
          <a:p>
            <a:endParaRPr lang="en-IN" dirty="0"/>
          </a:p>
        </p:txBody>
      </p:sp>
    </p:spTree>
    <p:extLst>
      <p:ext uri="{BB962C8B-B14F-4D97-AF65-F5344CB8AC3E}">
        <p14:creationId xmlns:p14="http://schemas.microsoft.com/office/powerpoint/2010/main" val="36388088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4D71F-F137-CDCF-08FC-C5D4F2E951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9D853-80FA-865B-28D9-33700EDE774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452A5A2-DCDD-5B1F-CB8F-343D98F01882}"/>
              </a:ext>
            </a:extLst>
          </p:cNvPr>
          <p:cNvSpPr>
            <a:spLocks noGrp="1"/>
          </p:cNvSpPr>
          <p:nvPr>
            <p:ph idx="1"/>
          </p:nvPr>
        </p:nvSpPr>
        <p:spPr/>
        <p:txBody>
          <a:bodyPr/>
          <a:lstStyle/>
          <a:p>
            <a:r>
              <a:rPr lang="en-US" b="1" dirty="0"/>
              <a:t>Data Quality and Accessibility</a:t>
            </a:r>
          </a:p>
          <a:p>
            <a:r>
              <a:rPr lang="en-US" b="1" dirty="0"/>
              <a:t>The Problem:</a:t>
            </a:r>
            <a:r>
              <a:rPr lang="en-US" dirty="0"/>
              <a:t> AI models are only as good as the data they’re trained on. Most financial institutions suffer from siloed, inconsistent, and poor-quality data.</a:t>
            </a:r>
          </a:p>
          <a:p>
            <a:endParaRPr lang="en-IN" dirty="0"/>
          </a:p>
        </p:txBody>
      </p:sp>
    </p:spTree>
    <p:extLst>
      <p:ext uri="{BB962C8B-B14F-4D97-AF65-F5344CB8AC3E}">
        <p14:creationId xmlns:p14="http://schemas.microsoft.com/office/powerpoint/2010/main" val="329082598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8D4A4-4CCA-7BCC-80AC-DB2733D9A0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046038-340B-7140-4039-AE6183DEC7F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3AA921B-EECA-CF3F-3E63-CA2C67CA16B7}"/>
              </a:ext>
            </a:extLst>
          </p:cNvPr>
          <p:cNvSpPr>
            <a:spLocks noGrp="1"/>
          </p:cNvSpPr>
          <p:nvPr>
            <p:ph idx="1"/>
          </p:nvPr>
        </p:nvSpPr>
        <p:spPr/>
        <p:txBody>
          <a:bodyPr/>
          <a:lstStyle/>
          <a:p>
            <a:r>
              <a:rPr lang="en-US" b="1" dirty="0"/>
              <a:t>Algorithmic Bias and Fairness</a:t>
            </a:r>
          </a:p>
          <a:p>
            <a:r>
              <a:rPr lang="en-US" b="1" dirty="0"/>
              <a:t>The Problem:</a:t>
            </a:r>
            <a:r>
              <a:rPr lang="en-US" dirty="0"/>
              <a:t> AI can perpetuate and even amplify existing biases in historical data, leading to discriminatory lending, hiring, or insurance practices.</a:t>
            </a:r>
          </a:p>
          <a:p>
            <a:endParaRPr lang="en-IN" dirty="0"/>
          </a:p>
        </p:txBody>
      </p:sp>
    </p:spTree>
    <p:extLst>
      <p:ext uri="{BB962C8B-B14F-4D97-AF65-F5344CB8AC3E}">
        <p14:creationId xmlns:p14="http://schemas.microsoft.com/office/powerpoint/2010/main" val="50841420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1B257-5833-DF2C-DCB8-7C94D8536C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A93442-9FC1-B791-C094-2F3C01A4F2E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7A40738-ADEC-88FC-2856-A347BCFC9CF5}"/>
              </a:ext>
            </a:extLst>
          </p:cNvPr>
          <p:cNvSpPr>
            <a:spLocks noGrp="1"/>
          </p:cNvSpPr>
          <p:nvPr>
            <p:ph idx="1"/>
          </p:nvPr>
        </p:nvSpPr>
        <p:spPr/>
        <p:txBody>
          <a:bodyPr/>
          <a:lstStyle/>
          <a:p>
            <a:r>
              <a:rPr lang="en-US" b="1" dirty="0"/>
              <a:t>The Talent Gap</a:t>
            </a:r>
          </a:p>
          <a:p>
            <a:r>
              <a:rPr lang="en-US" b="1" dirty="0"/>
              <a:t>The Problem:</a:t>
            </a:r>
            <a:r>
              <a:rPr lang="en-US" dirty="0"/>
              <a:t> There is a fierce competition for data scientists and ML engineers who also understand finance.</a:t>
            </a:r>
          </a:p>
          <a:p>
            <a:endParaRPr lang="en-IN" dirty="0"/>
          </a:p>
        </p:txBody>
      </p:sp>
    </p:spTree>
    <p:extLst>
      <p:ext uri="{BB962C8B-B14F-4D97-AF65-F5344CB8AC3E}">
        <p14:creationId xmlns:p14="http://schemas.microsoft.com/office/powerpoint/2010/main" val="305170376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ECEDE-22C4-D974-780F-F127334555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D3C310-502A-9728-EE15-31DBD674369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0D09C25-1F4A-764A-80A0-EFCAE3EF2C4B}"/>
              </a:ext>
            </a:extLst>
          </p:cNvPr>
          <p:cNvSpPr>
            <a:spLocks noGrp="1"/>
          </p:cNvSpPr>
          <p:nvPr>
            <p:ph idx="1"/>
          </p:nvPr>
        </p:nvSpPr>
        <p:spPr/>
        <p:txBody>
          <a:bodyPr/>
          <a:lstStyle/>
          <a:p>
            <a:r>
              <a:rPr lang="en-US" b="1" dirty="0"/>
              <a:t>Cybersecurity and Model Risk</a:t>
            </a:r>
          </a:p>
          <a:p>
            <a:r>
              <a:rPr lang="en-US" b="1" dirty="0"/>
              <a:t>The Problem:</a:t>
            </a:r>
            <a:r>
              <a:rPr lang="en-US" dirty="0"/>
              <a:t> AI systems themselves become attack vectors. Adversarial attacks can subtly manipulate input data to trick a model into making a wrong decision (e.g., approving a fraudulent loan).</a:t>
            </a:r>
          </a:p>
          <a:p>
            <a:endParaRPr lang="en-IN" dirty="0"/>
          </a:p>
        </p:txBody>
      </p:sp>
    </p:spTree>
    <p:extLst>
      <p:ext uri="{BB962C8B-B14F-4D97-AF65-F5344CB8AC3E}">
        <p14:creationId xmlns:p14="http://schemas.microsoft.com/office/powerpoint/2010/main" val="2274936088"/>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09772-5A80-4F60-F13C-585A70EF6E8B}"/>
              </a:ext>
            </a:extLst>
          </p:cNvPr>
          <p:cNvSpPr>
            <a:spLocks noGrp="1"/>
          </p:cNvSpPr>
          <p:nvPr>
            <p:ph type="ctrTitle"/>
          </p:nvPr>
        </p:nvSpPr>
        <p:spPr/>
        <p:txBody>
          <a:bodyPr>
            <a:normAutofit/>
          </a:bodyPr>
          <a:lstStyle/>
          <a:p>
            <a:r>
              <a:rPr lang="en-IN" sz="4800" b="1" dirty="0"/>
              <a:t>Language Intelligence for Product Managers</a:t>
            </a:r>
            <a:endParaRPr lang="en-IN" sz="4800" dirty="0"/>
          </a:p>
        </p:txBody>
      </p:sp>
      <p:sp>
        <p:nvSpPr>
          <p:cNvPr id="3" name="Subtitle 2">
            <a:extLst>
              <a:ext uri="{FF2B5EF4-FFF2-40B4-BE49-F238E27FC236}">
                <a16:creationId xmlns:a16="http://schemas.microsoft.com/office/drawing/2014/main" id="{B564B2F9-E588-45BF-5D2B-6469FB58A0F7}"/>
              </a:ext>
            </a:extLst>
          </p:cNvPr>
          <p:cNvSpPr>
            <a:spLocks noGrp="1"/>
          </p:cNvSpPr>
          <p:nvPr>
            <p:ph type="subTitle" idx="1"/>
          </p:nvPr>
        </p:nvSpPr>
        <p:spPr/>
        <p:txBody>
          <a:bodyPr/>
          <a:lstStyle/>
          <a:p>
            <a:pPr algn="r"/>
            <a:endParaRPr lang="en-IN" b="1" dirty="0"/>
          </a:p>
          <a:p>
            <a:pPr algn="r"/>
            <a:r>
              <a:rPr lang="en-IN" b="1" dirty="0"/>
              <a:t>Premalatha T</a:t>
            </a:r>
          </a:p>
        </p:txBody>
      </p:sp>
    </p:spTree>
    <p:extLst>
      <p:ext uri="{BB962C8B-B14F-4D97-AF65-F5344CB8AC3E}">
        <p14:creationId xmlns:p14="http://schemas.microsoft.com/office/powerpoint/2010/main" val="128881910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F263A-CCCE-3851-B209-7312D68D60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6476D-640B-BA79-632F-E4A7F30FED79}"/>
              </a:ext>
            </a:extLst>
          </p:cNvPr>
          <p:cNvSpPr>
            <a:spLocks noGrp="1"/>
          </p:cNvSpPr>
          <p:nvPr>
            <p:ph type="title"/>
          </p:nvPr>
        </p:nvSpPr>
        <p:spPr/>
        <p:txBody>
          <a:bodyPr/>
          <a:lstStyle/>
          <a:p>
            <a:pPr algn="ctr"/>
            <a:r>
              <a:rPr lang="en-IN" b="1" dirty="0"/>
              <a:t>How AI Understands Language</a:t>
            </a:r>
          </a:p>
        </p:txBody>
      </p:sp>
      <p:sp>
        <p:nvSpPr>
          <p:cNvPr id="3" name="Content Placeholder 2">
            <a:extLst>
              <a:ext uri="{FF2B5EF4-FFF2-40B4-BE49-F238E27FC236}">
                <a16:creationId xmlns:a16="http://schemas.microsoft.com/office/drawing/2014/main" id="{1F9B1612-7E33-27A3-F781-40DA8C53775C}"/>
              </a:ext>
            </a:extLst>
          </p:cNvPr>
          <p:cNvSpPr>
            <a:spLocks noGrp="1"/>
          </p:cNvSpPr>
          <p:nvPr>
            <p:ph idx="1"/>
          </p:nvPr>
        </p:nvSpPr>
        <p:spPr/>
        <p:txBody>
          <a:bodyPr/>
          <a:lstStyle/>
          <a:p>
            <a:r>
              <a:rPr lang="en-US" b="1" dirty="0"/>
              <a:t>What Financial Product Managers Need to Know</a:t>
            </a:r>
          </a:p>
          <a:p>
            <a:r>
              <a:rPr lang="en-US" dirty="0"/>
              <a:t>Financial products process large amounts of </a:t>
            </a:r>
            <a:r>
              <a:rPr lang="en-US" b="1" dirty="0"/>
              <a:t>language-based information</a:t>
            </a:r>
            <a:r>
              <a:rPr lang="en-US" dirty="0"/>
              <a:t>, such as:</a:t>
            </a:r>
          </a:p>
          <a:p>
            <a:r>
              <a:rPr lang="en-US" dirty="0"/>
              <a:t>policies and compliance documents</a:t>
            </a:r>
          </a:p>
          <a:p>
            <a:r>
              <a:rPr lang="en-US" dirty="0"/>
              <a:t>loan applications and forms</a:t>
            </a:r>
          </a:p>
          <a:p>
            <a:r>
              <a:rPr lang="en-US" dirty="0"/>
              <a:t>customer messages and complaints</a:t>
            </a:r>
          </a:p>
          <a:p>
            <a:r>
              <a:rPr lang="en-US" dirty="0"/>
              <a:t>contracts and invoices</a:t>
            </a:r>
          </a:p>
          <a:p>
            <a:r>
              <a:rPr lang="en-US" dirty="0"/>
              <a:t>Modern AI systems use </a:t>
            </a:r>
            <a:r>
              <a:rPr lang="en-US" b="1" dirty="0"/>
              <a:t>Large Language Models (LLMs)</a:t>
            </a:r>
            <a:r>
              <a:rPr lang="en-US" dirty="0"/>
              <a:t> to understand this information.</a:t>
            </a:r>
          </a:p>
          <a:p>
            <a:endParaRPr lang="en-IN" dirty="0"/>
          </a:p>
        </p:txBody>
      </p:sp>
    </p:spTree>
    <p:extLst>
      <p:ext uri="{BB962C8B-B14F-4D97-AF65-F5344CB8AC3E}">
        <p14:creationId xmlns:p14="http://schemas.microsoft.com/office/powerpoint/2010/main" val="3228460909"/>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EE6B3-EC04-5B20-18E6-77A2B53984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28CCC5-CAC1-81C4-AD7B-BB391989DFA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467AE90-5F3E-A673-DA41-5C6D47419E8E}"/>
              </a:ext>
            </a:extLst>
          </p:cNvPr>
          <p:cNvSpPr>
            <a:spLocks noGrp="1"/>
          </p:cNvSpPr>
          <p:nvPr>
            <p:ph idx="1"/>
          </p:nvPr>
        </p:nvSpPr>
        <p:spPr/>
        <p:txBody>
          <a:bodyPr/>
          <a:lstStyle/>
          <a:p>
            <a:r>
              <a:rPr lang="en-US" dirty="0"/>
              <a:t>For Product Managers, the real question is:</a:t>
            </a:r>
          </a:p>
          <a:p>
            <a:r>
              <a:rPr lang="en-US" b="1" dirty="0"/>
              <a:t>Where can language understanding create product value without introducing regulatory risk?</a:t>
            </a:r>
            <a:endParaRPr lang="en-US" dirty="0"/>
          </a:p>
          <a:p>
            <a:r>
              <a:rPr lang="en-US" dirty="0"/>
              <a:t>Language AI typically performs four types of tasks:</a:t>
            </a:r>
          </a:p>
          <a:p>
            <a:r>
              <a:rPr lang="en-US" b="1" dirty="0"/>
              <a:t>Reading documents</a:t>
            </a:r>
            <a:endParaRPr lang="en-US" dirty="0"/>
          </a:p>
          <a:p>
            <a:r>
              <a:rPr lang="en-US" b="1" dirty="0"/>
              <a:t>Extracting structured information</a:t>
            </a:r>
            <a:endParaRPr lang="en-US" dirty="0"/>
          </a:p>
          <a:p>
            <a:r>
              <a:rPr lang="en-US" b="1" dirty="0"/>
              <a:t>Understanding customer intent</a:t>
            </a:r>
            <a:endParaRPr lang="en-US" dirty="0"/>
          </a:p>
          <a:p>
            <a:r>
              <a:rPr lang="en-US" b="1" dirty="0"/>
              <a:t>Generating responses or explanations</a:t>
            </a:r>
            <a:endParaRPr lang="en-US" dirty="0"/>
          </a:p>
          <a:p>
            <a:endParaRPr lang="en-IN" dirty="0"/>
          </a:p>
        </p:txBody>
      </p:sp>
    </p:spTree>
    <p:extLst>
      <p:ext uri="{BB962C8B-B14F-4D97-AF65-F5344CB8AC3E}">
        <p14:creationId xmlns:p14="http://schemas.microsoft.com/office/powerpoint/2010/main" val="947528691"/>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671F8-0706-8934-765F-81D09986B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4B201-2F67-45BA-3159-2A097972128D}"/>
              </a:ext>
            </a:extLst>
          </p:cNvPr>
          <p:cNvSpPr>
            <a:spLocks noGrp="1"/>
          </p:cNvSpPr>
          <p:nvPr>
            <p:ph type="title"/>
          </p:nvPr>
        </p:nvSpPr>
        <p:spPr/>
        <p:txBody>
          <a:bodyPr/>
          <a:lstStyle/>
          <a:p>
            <a:pPr algn="ctr"/>
            <a:r>
              <a:rPr lang="en-US" b="1" dirty="0"/>
              <a:t>How AI Interprets Policies and Rules</a:t>
            </a:r>
            <a:endParaRPr lang="en-IN" b="1" dirty="0"/>
          </a:p>
        </p:txBody>
      </p:sp>
      <p:sp>
        <p:nvSpPr>
          <p:cNvPr id="3" name="Content Placeholder 2">
            <a:extLst>
              <a:ext uri="{FF2B5EF4-FFF2-40B4-BE49-F238E27FC236}">
                <a16:creationId xmlns:a16="http://schemas.microsoft.com/office/drawing/2014/main" id="{E1F9C129-E6D9-14F1-4D04-F0A887847330}"/>
              </a:ext>
            </a:extLst>
          </p:cNvPr>
          <p:cNvSpPr>
            <a:spLocks noGrp="1"/>
          </p:cNvSpPr>
          <p:nvPr>
            <p:ph idx="1"/>
          </p:nvPr>
        </p:nvSpPr>
        <p:spPr/>
        <p:txBody>
          <a:bodyPr/>
          <a:lstStyle/>
          <a:p>
            <a:r>
              <a:rPr lang="en-US" dirty="0"/>
              <a:t>Financial organizations rely heavily on </a:t>
            </a:r>
            <a:r>
              <a:rPr lang="en-US" b="1" dirty="0"/>
              <a:t>written policies and regulatory guidelines</a:t>
            </a:r>
            <a:r>
              <a:rPr lang="en-US" dirty="0"/>
              <a:t>.</a:t>
            </a:r>
          </a:p>
          <a:p>
            <a:r>
              <a:rPr lang="en-US" dirty="0"/>
              <a:t>Examples include:</a:t>
            </a:r>
          </a:p>
          <a:p>
            <a:r>
              <a:rPr lang="en-US" dirty="0"/>
              <a:t>credit approval rules</a:t>
            </a:r>
          </a:p>
          <a:p>
            <a:r>
              <a:rPr lang="en-US" dirty="0"/>
              <a:t>expense reimbursement policies</a:t>
            </a:r>
          </a:p>
          <a:p>
            <a:r>
              <a:rPr lang="en-US" dirty="0"/>
              <a:t>compliance procedures</a:t>
            </a:r>
          </a:p>
          <a:p>
            <a:r>
              <a:rPr lang="en-US" dirty="0"/>
              <a:t>anti-money laundering (AML) guidelines</a:t>
            </a:r>
          </a:p>
          <a:p>
            <a:endParaRPr lang="en-IN" dirty="0"/>
          </a:p>
        </p:txBody>
      </p:sp>
    </p:spTree>
    <p:extLst>
      <p:ext uri="{BB962C8B-B14F-4D97-AF65-F5344CB8AC3E}">
        <p14:creationId xmlns:p14="http://schemas.microsoft.com/office/powerpoint/2010/main" val="14225913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6AF37-0B8D-FCF8-86E7-508C672677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D6E29A-049A-B6DD-EC82-95FB4F613B5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B7831B7-DFA6-9A10-1FE7-CBDB47592F86}"/>
              </a:ext>
            </a:extLst>
          </p:cNvPr>
          <p:cNvSpPr>
            <a:spLocks noGrp="1"/>
          </p:cNvSpPr>
          <p:nvPr>
            <p:ph idx="1"/>
          </p:nvPr>
        </p:nvSpPr>
        <p:spPr/>
        <p:txBody>
          <a:bodyPr/>
          <a:lstStyle/>
          <a:p>
            <a:r>
              <a:rPr lang="en-US" b="1" dirty="0"/>
              <a:t>Real Product Example</a:t>
            </a:r>
          </a:p>
          <a:p>
            <a:r>
              <a:rPr lang="en-US" dirty="0"/>
              <a:t>An internal employee assistant may receive a question like:</a:t>
            </a:r>
          </a:p>
          <a:p>
            <a:r>
              <a:rPr lang="en-US" i="1" dirty="0"/>
              <a:t>"What documents are required for approving a corporate loan above ₹50 lakhs?"</a:t>
            </a:r>
            <a:endParaRPr lang="en-US" dirty="0"/>
          </a:p>
          <a:p>
            <a:r>
              <a:rPr lang="en-US" dirty="0"/>
              <a:t>The AI system:</a:t>
            </a:r>
          </a:p>
          <a:p>
            <a:r>
              <a:rPr lang="en-US" dirty="0"/>
              <a:t>searches policy documents</a:t>
            </a:r>
          </a:p>
          <a:p>
            <a:r>
              <a:rPr lang="en-US" dirty="0"/>
              <a:t>identifies relevant sections</a:t>
            </a:r>
          </a:p>
          <a:p>
            <a:r>
              <a:rPr lang="en-US" dirty="0"/>
              <a:t>summarizes the requirement</a:t>
            </a:r>
          </a:p>
          <a:p>
            <a:endParaRPr lang="en-IN" dirty="0"/>
          </a:p>
        </p:txBody>
      </p:sp>
    </p:spTree>
    <p:extLst>
      <p:ext uri="{BB962C8B-B14F-4D97-AF65-F5344CB8AC3E}">
        <p14:creationId xmlns:p14="http://schemas.microsoft.com/office/powerpoint/2010/main" val="183123215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1B1B2-DE1B-E096-A2B8-ECDE75970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BBA88-EEA9-7BDF-FED6-882582CCFBD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65B3FC1-348F-9145-7679-7041ACBB5FCC}"/>
              </a:ext>
            </a:extLst>
          </p:cNvPr>
          <p:cNvSpPr>
            <a:spLocks noGrp="1"/>
          </p:cNvSpPr>
          <p:nvPr>
            <p:ph idx="1"/>
          </p:nvPr>
        </p:nvSpPr>
        <p:spPr/>
        <p:txBody>
          <a:bodyPr/>
          <a:lstStyle/>
          <a:p>
            <a:r>
              <a:rPr lang="en-US" dirty="0"/>
              <a:t>Example response:</a:t>
            </a:r>
          </a:p>
          <a:p>
            <a:r>
              <a:rPr lang="en-US" i="1" dirty="0"/>
              <a:t>"Corporate loans above ₹50 lakhs require financial statements, credit history verification, and approval from the regional credit committee."</a:t>
            </a:r>
            <a:endParaRPr lang="en-US" dirty="0"/>
          </a:p>
          <a:p>
            <a:r>
              <a:rPr lang="en-US" b="1" dirty="0"/>
              <a:t>PM Design Consideration</a:t>
            </a:r>
          </a:p>
          <a:p>
            <a:r>
              <a:rPr lang="en-US" dirty="0"/>
              <a:t>Policy interpretation must be </a:t>
            </a:r>
            <a:r>
              <a:rPr lang="en-US" b="1" dirty="0"/>
              <a:t>restricted to verified knowledge sources</a:t>
            </a:r>
            <a:r>
              <a:rPr lang="en-US" dirty="0"/>
              <a:t>, because incorrect responses may lead to </a:t>
            </a:r>
            <a:r>
              <a:rPr lang="en-US" b="1" dirty="0"/>
              <a:t>regulatory violations</a:t>
            </a:r>
            <a:r>
              <a:rPr lang="en-US" dirty="0"/>
              <a:t>.</a:t>
            </a:r>
          </a:p>
          <a:p>
            <a:endParaRPr lang="en-IN" dirty="0"/>
          </a:p>
        </p:txBody>
      </p:sp>
    </p:spTree>
    <p:extLst>
      <p:ext uri="{BB962C8B-B14F-4D97-AF65-F5344CB8AC3E}">
        <p14:creationId xmlns:p14="http://schemas.microsoft.com/office/powerpoint/2010/main" val="2675862116"/>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CFFC8-F8ED-F228-85A1-BA136B2299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948590-E1E8-59BB-518E-DB49374CF0BD}"/>
              </a:ext>
            </a:extLst>
          </p:cNvPr>
          <p:cNvSpPr>
            <a:spLocks noGrp="1"/>
          </p:cNvSpPr>
          <p:nvPr>
            <p:ph type="title"/>
          </p:nvPr>
        </p:nvSpPr>
        <p:spPr/>
        <p:txBody>
          <a:bodyPr/>
          <a:lstStyle/>
          <a:p>
            <a:r>
              <a:rPr lang="en-US" dirty="0"/>
              <a:t>How AI Reads Forms and Financial Documents</a:t>
            </a:r>
            <a:endParaRPr lang="en-IN" dirty="0"/>
          </a:p>
        </p:txBody>
      </p:sp>
      <p:sp>
        <p:nvSpPr>
          <p:cNvPr id="3" name="Content Placeholder 2">
            <a:extLst>
              <a:ext uri="{FF2B5EF4-FFF2-40B4-BE49-F238E27FC236}">
                <a16:creationId xmlns:a16="http://schemas.microsoft.com/office/drawing/2014/main" id="{F129883E-381C-5163-6E9F-299BBD011AEA}"/>
              </a:ext>
            </a:extLst>
          </p:cNvPr>
          <p:cNvSpPr>
            <a:spLocks noGrp="1"/>
          </p:cNvSpPr>
          <p:nvPr>
            <p:ph idx="1"/>
          </p:nvPr>
        </p:nvSpPr>
        <p:spPr/>
        <p:txBody>
          <a:bodyPr/>
          <a:lstStyle/>
          <a:p>
            <a:r>
              <a:rPr lang="en-US" dirty="0"/>
              <a:t>Many financial workflows depend on </a:t>
            </a:r>
            <a:r>
              <a:rPr lang="en-US" b="1" dirty="0"/>
              <a:t>documents that contain both text and structured information</a:t>
            </a:r>
            <a:r>
              <a:rPr lang="en-US" dirty="0"/>
              <a:t>, such as:</a:t>
            </a:r>
          </a:p>
          <a:p>
            <a:r>
              <a:rPr lang="en-US" dirty="0"/>
              <a:t>loan applications</a:t>
            </a:r>
          </a:p>
          <a:p>
            <a:r>
              <a:rPr lang="en-US" dirty="0"/>
              <a:t>invoices</a:t>
            </a:r>
          </a:p>
          <a:p>
            <a:r>
              <a:rPr lang="en-US" dirty="0"/>
              <a:t>KYC documents</a:t>
            </a:r>
          </a:p>
          <a:p>
            <a:r>
              <a:rPr lang="en-US" dirty="0"/>
              <a:t>insurance claims</a:t>
            </a:r>
          </a:p>
          <a:p>
            <a:r>
              <a:rPr lang="en-US" dirty="0"/>
              <a:t>AI systems can read these documents and extract key information.</a:t>
            </a:r>
          </a:p>
          <a:p>
            <a:endParaRPr lang="en-IN" dirty="0"/>
          </a:p>
        </p:txBody>
      </p:sp>
    </p:spTree>
    <p:extLst>
      <p:ext uri="{BB962C8B-B14F-4D97-AF65-F5344CB8AC3E}">
        <p14:creationId xmlns:p14="http://schemas.microsoft.com/office/powerpoint/2010/main" val="4148334508"/>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61A30-69BF-9519-860E-32782FE54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EC8A9-9463-C5F3-3C6A-D077CF96AEA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FDAEBE4-2E76-DCB2-A36E-5FB0CE6DBE8A}"/>
              </a:ext>
            </a:extLst>
          </p:cNvPr>
          <p:cNvSpPr>
            <a:spLocks noGrp="1"/>
          </p:cNvSpPr>
          <p:nvPr>
            <p:ph idx="1"/>
          </p:nvPr>
        </p:nvSpPr>
        <p:spPr/>
        <p:txBody>
          <a:bodyPr/>
          <a:lstStyle/>
          <a:p>
            <a:r>
              <a:rPr lang="en-US" b="1" dirty="0"/>
              <a:t>Real Product Example</a:t>
            </a:r>
          </a:p>
          <a:p>
            <a:r>
              <a:rPr lang="en-US" dirty="0"/>
              <a:t>In a </a:t>
            </a:r>
            <a:r>
              <a:rPr lang="en-US" b="1" dirty="0"/>
              <a:t>loan processing system</a:t>
            </a:r>
            <a:r>
              <a:rPr lang="en-US" dirty="0"/>
              <a:t>, AI may read an uploaded loan application and extract:</a:t>
            </a:r>
          </a:p>
          <a:p>
            <a:r>
              <a:rPr lang="en-US" dirty="0"/>
              <a:t>applicant name</a:t>
            </a:r>
          </a:p>
          <a:p>
            <a:r>
              <a:rPr lang="en-US" dirty="0"/>
              <a:t>monthly income</a:t>
            </a:r>
          </a:p>
          <a:p>
            <a:r>
              <a:rPr lang="en-US" dirty="0"/>
              <a:t>requested loan amount</a:t>
            </a:r>
          </a:p>
          <a:p>
            <a:r>
              <a:rPr lang="en-US" dirty="0"/>
              <a:t>employment type</a:t>
            </a:r>
          </a:p>
          <a:p>
            <a:endParaRPr lang="en-IN" dirty="0"/>
          </a:p>
        </p:txBody>
      </p:sp>
    </p:spTree>
    <p:extLst>
      <p:ext uri="{BB962C8B-B14F-4D97-AF65-F5344CB8AC3E}">
        <p14:creationId xmlns:p14="http://schemas.microsoft.com/office/powerpoint/2010/main" val="131859184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8529E-73AE-8113-3284-0B6D1D1F0D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C9DB16-E079-8E50-9B8E-AA49BD2DF59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9247504-26AB-D416-BD1C-0C17A192ED18}"/>
              </a:ext>
            </a:extLst>
          </p:cNvPr>
          <p:cNvSpPr>
            <a:spLocks noGrp="1"/>
          </p:cNvSpPr>
          <p:nvPr>
            <p:ph idx="1"/>
          </p:nvPr>
        </p:nvSpPr>
        <p:spPr/>
        <p:txBody>
          <a:bodyPr/>
          <a:lstStyle/>
          <a:p>
            <a:r>
              <a:rPr lang="en-US" dirty="0"/>
              <a:t>Example output:</a:t>
            </a:r>
          </a:p>
          <a:p>
            <a:r>
              <a:rPr lang="en-US" dirty="0"/>
              <a:t>Applicant Income: ₹75,000/month</a:t>
            </a:r>
            <a:br>
              <a:rPr lang="en-US" dirty="0"/>
            </a:br>
            <a:r>
              <a:rPr lang="en-US" dirty="0"/>
              <a:t>Requested Loan: ₹8,00,000</a:t>
            </a:r>
            <a:br>
              <a:rPr lang="en-US" dirty="0"/>
            </a:br>
            <a:r>
              <a:rPr lang="en-US" dirty="0"/>
              <a:t>Employment Type: Salaried</a:t>
            </a:r>
          </a:p>
          <a:p>
            <a:r>
              <a:rPr lang="en-US" dirty="0"/>
              <a:t>This allows the system to automatically populate fields and reduce manual entry.</a:t>
            </a:r>
          </a:p>
          <a:p>
            <a:r>
              <a:rPr lang="en-US" b="1" dirty="0"/>
              <a:t>PM Design Consideration</a:t>
            </a:r>
          </a:p>
          <a:p>
            <a:r>
              <a:rPr lang="en-US" dirty="0"/>
              <a:t>AI extraction should be </a:t>
            </a:r>
            <a:r>
              <a:rPr lang="en-US" b="1" dirty="0"/>
              <a:t>combined with validation rules</a:t>
            </a:r>
            <a:r>
              <a:rPr lang="en-US" dirty="0"/>
              <a:t>, because incorrect data extraction may affect financial decisions.</a:t>
            </a:r>
          </a:p>
          <a:p>
            <a:endParaRPr lang="en-IN" dirty="0"/>
          </a:p>
        </p:txBody>
      </p:sp>
    </p:spTree>
    <p:extLst>
      <p:ext uri="{BB962C8B-B14F-4D97-AF65-F5344CB8AC3E}">
        <p14:creationId xmlns:p14="http://schemas.microsoft.com/office/powerpoint/2010/main" val="183791889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97898-AC06-CF5C-D1E2-3D7FAC4752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8AE0FA-AA1C-2628-CE51-A65D2A557D23}"/>
              </a:ext>
            </a:extLst>
          </p:cNvPr>
          <p:cNvSpPr>
            <a:spLocks noGrp="1"/>
          </p:cNvSpPr>
          <p:nvPr>
            <p:ph type="title"/>
          </p:nvPr>
        </p:nvSpPr>
        <p:spPr/>
        <p:txBody>
          <a:bodyPr/>
          <a:lstStyle/>
          <a:p>
            <a:r>
              <a:rPr lang="en-US" dirty="0"/>
              <a:t>How AI Understands Customer Intent</a:t>
            </a:r>
            <a:endParaRPr lang="en-IN" dirty="0"/>
          </a:p>
        </p:txBody>
      </p:sp>
      <p:sp>
        <p:nvSpPr>
          <p:cNvPr id="3" name="Content Placeholder 2">
            <a:extLst>
              <a:ext uri="{FF2B5EF4-FFF2-40B4-BE49-F238E27FC236}">
                <a16:creationId xmlns:a16="http://schemas.microsoft.com/office/drawing/2014/main" id="{9A408C42-E1D0-1AA2-32DC-3B09CC09ED9E}"/>
              </a:ext>
            </a:extLst>
          </p:cNvPr>
          <p:cNvSpPr>
            <a:spLocks noGrp="1"/>
          </p:cNvSpPr>
          <p:nvPr>
            <p:ph idx="1"/>
          </p:nvPr>
        </p:nvSpPr>
        <p:spPr/>
        <p:txBody>
          <a:bodyPr/>
          <a:lstStyle/>
          <a:p>
            <a:r>
              <a:rPr lang="en-US" dirty="0"/>
              <a:t>When customers interact with financial products, their messages usually represent </a:t>
            </a:r>
            <a:r>
              <a:rPr lang="en-US" b="1" dirty="0"/>
              <a:t>specific intents</a:t>
            </a:r>
            <a:r>
              <a:rPr lang="en-US" dirty="0"/>
              <a:t>.</a:t>
            </a:r>
          </a:p>
          <a:p>
            <a:r>
              <a:rPr lang="en-US" dirty="0"/>
              <a:t>Intent refers to </a:t>
            </a:r>
            <a:r>
              <a:rPr lang="en-US" b="1" dirty="0"/>
              <a:t>what the user is trying to achieve</a:t>
            </a:r>
            <a:r>
              <a:rPr lang="en-US" dirty="0"/>
              <a:t>.</a:t>
            </a:r>
          </a:p>
          <a:p>
            <a:r>
              <a:rPr lang="en-US" b="1" dirty="0"/>
              <a:t>Example Customer Messages</a:t>
            </a:r>
          </a:p>
          <a:p>
            <a:r>
              <a:rPr lang="en-US" dirty="0"/>
              <a:t>"I want to dispute a transaction."</a:t>
            </a:r>
            <a:br>
              <a:rPr lang="en-US" dirty="0"/>
            </a:br>
            <a:r>
              <a:rPr lang="en-US" dirty="0"/>
              <a:t>"Why was my payment declined?"</a:t>
            </a:r>
            <a:br>
              <a:rPr lang="en-US" dirty="0"/>
            </a:br>
            <a:r>
              <a:rPr lang="en-US" dirty="0"/>
              <a:t>"How can I increase my credit limit?"</a:t>
            </a:r>
          </a:p>
          <a:p>
            <a:endParaRPr lang="en-IN" dirty="0"/>
          </a:p>
        </p:txBody>
      </p:sp>
    </p:spTree>
    <p:extLst>
      <p:ext uri="{BB962C8B-B14F-4D97-AF65-F5344CB8AC3E}">
        <p14:creationId xmlns:p14="http://schemas.microsoft.com/office/powerpoint/2010/main" val="3586197747"/>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EF45D-A0FE-DDFA-3276-1998C52425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96D1F0-37BA-285B-552B-005AB818CAE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5F99671-5DD6-367F-DBB6-E3AC60CB7AF7}"/>
              </a:ext>
            </a:extLst>
          </p:cNvPr>
          <p:cNvSpPr>
            <a:spLocks noGrp="1"/>
          </p:cNvSpPr>
          <p:nvPr>
            <p:ph idx="1"/>
          </p:nvPr>
        </p:nvSpPr>
        <p:spPr/>
        <p:txBody>
          <a:bodyPr/>
          <a:lstStyle/>
          <a:p>
            <a:r>
              <a:rPr lang="en-US" dirty="0"/>
              <a:t>AI systems classify these queries into intents such as:</a:t>
            </a:r>
          </a:p>
          <a:p>
            <a:r>
              <a:rPr lang="en-US" dirty="0"/>
              <a:t>transaction dispute</a:t>
            </a:r>
          </a:p>
          <a:p>
            <a:r>
              <a:rPr lang="en-US" dirty="0"/>
              <a:t>payment failure</a:t>
            </a:r>
          </a:p>
          <a:p>
            <a:r>
              <a:rPr lang="en-US" dirty="0"/>
              <a:t>credit limit request</a:t>
            </a:r>
          </a:p>
          <a:p>
            <a:endParaRPr lang="en-IN" dirty="0"/>
          </a:p>
        </p:txBody>
      </p:sp>
    </p:spTree>
    <p:extLst>
      <p:ext uri="{BB962C8B-B14F-4D97-AF65-F5344CB8AC3E}">
        <p14:creationId xmlns:p14="http://schemas.microsoft.com/office/powerpoint/2010/main" val="336976492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82A0D-EC44-5C05-FBAE-3E3CFCCAAD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3A674E-A30D-1ABF-859E-0BAB1EB3E97B}"/>
              </a:ext>
            </a:extLst>
          </p:cNvPr>
          <p:cNvSpPr>
            <a:spLocks noGrp="1"/>
          </p:cNvSpPr>
          <p:nvPr>
            <p:ph type="title"/>
          </p:nvPr>
        </p:nvSpPr>
        <p:spPr/>
        <p:txBody>
          <a:bodyPr/>
          <a:lstStyle/>
          <a:p>
            <a:endParaRPr lang="en-IN"/>
          </a:p>
        </p:txBody>
      </p:sp>
      <p:graphicFrame>
        <p:nvGraphicFramePr>
          <p:cNvPr id="6" name="Content Placeholder 5">
            <a:extLst>
              <a:ext uri="{FF2B5EF4-FFF2-40B4-BE49-F238E27FC236}">
                <a16:creationId xmlns:a16="http://schemas.microsoft.com/office/drawing/2014/main" id="{6CCB80E2-0243-3045-9F2A-BC832982B1A0}"/>
              </a:ext>
            </a:extLst>
          </p:cNvPr>
          <p:cNvGraphicFramePr>
            <a:graphicFrameLocks noGrp="1"/>
          </p:cNvGraphicFramePr>
          <p:nvPr>
            <p:ph idx="1"/>
          </p:nvPr>
        </p:nvGraphicFramePr>
        <p:xfrm>
          <a:off x="838200" y="3315494"/>
          <a:ext cx="10515600" cy="1371600"/>
        </p:xfrm>
        <a:graphic>
          <a:graphicData uri="http://schemas.openxmlformats.org/drawingml/2006/table">
            <a:tbl>
              <a:tblPr/>
              <a:tblGrid>
                <a:gridCol w="3505200">
                  <a:extLst>
                    <a:ext uri="{9D8B030D-6E8A-4147-A177-3AD203B41FA5}">
                      <a16:colId xmlns:a16="http://schemas.microsoft.com/office/drawing/2014/main" val="2442078304"/>
                    </a:ext>
                  </a:extLst>
                </a:gridCol>
                <a:gridCol w="3505200">
                  <a:extLst>
                    <a:ext uri="{9D8B030D-6E8A-4147-A177-3AD203B41FA5}">
                      <a16:colId xmlns:a16="http://schemas.microsoft.com/office/drawing/2014/main" val="1661655425"/>
                    </a:ext>
                  </a:extLst>
                </a:gridCol>
                <a:gridCol w="3505200">
                  <a:extLst>
                    <a:ext uri="{9D8B030D-6E8A-4147-A177-3AD203B41FA5}">
                      <a16:colId xmlns:a16="http://schemas.microsoft.com/office/drawing/2014/main" val="884474664"/>
                    </a:ext>
                  </a:extLst>
                </a:gridCol>
              </a:tblGrid>
              <a:tr h="0">
                <a:tc>
                  <a:txBody>
                    <a:bodyPr/>
                    <a:lstStyle/>
                    <a:p>
                      <a:pPr>
                        <a:buNone/>
                      </a:pPr>
                      <a:r>
                        <a:rPr lang="en-IN"/>
                        <a:t>Customer Message</a:t>
                      </a:r>
                    </a:p>
                  </a:txBody>
                  <a:tcPr anchor="ctr">
                    <a:lnL>
                      <a:noFill/>
                    </a:lnL>
                    <a:lnR>
                      <a:noFill/>
                    </a:lnR>
                    <a:lnT>
                      <a:noFill/>
                    </a:lnT>
                    <a:lnB>
                      <a:noFill/>
                    </a:lnB>
                    <a:noFill/>
                  </a:tcPr>
                </a:tc>
                <a:tc>
                  <a:txBody>
                    <a:bodyPr/>
                    <a:lstStyle/>
                    <a:p>
                      <a:pPr>
                        <a:buNone/>
                      </a:pPr>
                      <a:r>
                        <a:rPr lang="en-IN"/>
                        <a:t>Detected Intent</a:t>
                      </a:r>
                    </a:p>
                  </a:txBody>
                  <a:tcPr anchor="ctr">
                    <a:lnL>
                      <a:noFill/>
                    </a:lnL>
                    <a:lnR>
                      <a:noFill/>
                    </a:lnR>
                    <a:lnT>
                      <a:noFill/>
                    </a:lnT>
                    <a:lnB>
                      <a:noFill/>
                    </a:lnB>
                    <a:noFill/>
                  </a:tcPr>
                </a:tc>
                <a:tc>
                  <a:txBody>
                    <a:bodyPr/>
                    <a:lstStyle/>
                    <a:p>
                      <a:pPr>
                        <a:buNone/>
                      </a:pPr>
                      <a:r>
                        <a:rPr lang="en-IN"/>
                        <a:t>System Action</a:t>
                      </a:r>
                    </a:p>
                  </a:txBody>
                  <a:tcPr anchor="ctr">
                    <a:lnL>
                      <a:noFill/>
                    </a:lnL>
                    <a:lnR>
                      <a:noFill/>
                    </a:lnR>
                    <a:lnT>
                      <a:noFill/>
                    </a:lnT>
                    <a:lnB>
                      <a:noFill/>
                    </a:lnB>
                    <a:noFill/>
                  </a:tcPr>
                </a:tc>
                <a:extLst>
                  <a:ext uri="{0D108BD9-81ED-4DB2-BD59-A6C34878D82A}">
                    <a16:rowId xmlns:a16="http://schemas.microsoft.com/office/drawing/2014/main" val="1053066032"/>
                  </a:ext>
                </a:extLst>
              </a:tr>
              <a:tr h="0">
                <a:tc>
                  <a:txBody>
                    <a:bodyPr/>
                    <a:lstStyle/>
                    <a:p>
                      <a:pPr>
                        <a:buNone/>
                      </a:pPr>
                      <a:r>
                        <a:rPr lang="en-IN"/>
                        <a:t>"My payment failed"</a:t>
                      </a:r>
                    </a:p>
                  </a:txBody>
                  <a:tcPr anchor="ctr">
                    <a:lnL>
                      <a:noFill/>
                    </a:lnL>
                    <a:lnR>
                      <a:noFill/>
                    </a:lnR>
                    <a:lnT>
                      <a:noFill/>
                    </a:lnT>
                    <a:lnB>
                      <a:noFill/>
                    </a:lnB>
                    <a:noFill/>
                  </a:tcPr>
                </a:tc>
                <a:tc>
                  <a:txBody>
                    <a:bodyPr/>
                    <a:lstStyle/>
                    <a:p>
                      <a:pPr>
                        <a:buNone/>
                      </a:pPr>
                      <a:r>
                        <a:rPr lang="en-IN"/>
                        <a:t>Payment issue</a:t>
                      </a:r>
                    </a:p>
                  </a:txBody>
                  <a:tcPr anchor="ctr">
                    <a:lnL>
                      <a:noFill/>
                    </a:lnL>
                    <a:lnR>
                      <a:noFill/>
                    </a:lnR>
                    <a:lnT>
                      <a:noFill/>
                    </a:lnT>
                    <a:lnB>
                      <a:noFill/>
                    </a:lnB>
                    <a:noFill/>
                  </a:tcPr>
                </a:tc>
                <a:tc>
                  <a:txBody>
                    <a:bodyPr/>
                    <a:lstStyle/>
                    <a:p>
                      <a:pPr>
                        <a:buNone/>
                      </a:pPr>
                      <a:r>
                        <a:rPr lang="en-IN" dirty="0"/>
                        <a:t>Open payment troubleshooting flow</a:t>
                      </a:r>
                    </a:p>
                  </a:txBody>
                  <a:tcPr anchor="ctr">
                    <a:lnL>
                      <a:noFill/>
                    </a:lnL>
                    <a:lnR>
                      <a:noFill/>
                    </a:lnR>
                    <a:lnT>
                      <a:noFill/>
                    </a:lnT>
                    <a:lnB>
                      <a:noFill/>
                    </a:lnB>
                    <a:noFill/>
                  </a:tcPr>
                </a:tc>
                <a:extLst>
                  <a:ext uri="{0D108BD9-81ED-4DB2-BD59-A6C34878D82A}">
                    <a16:rowId xmlns:a16="http://schemas.microsoft.com/office/drawing/2014/main" val="3076995677"/>
                  </a:ext>
                </a:extLst>
              </a:tr>
              <a:tr h="0">
                <a:tc>
                  <a:txBody>
                    <a:bodyPr/>
                    <a:lstStyle/>
                    <a:p>
                      <a:pPr>
                        <a:buNone/>
                      </a:pPr>
                      <a:r>
                        <a:rPr lang="en-US"/>
                        <a:t>"I don't recognize this charge"</a:t>
                      </a:r>
                    </a:p>
                  </a:txBody>
                  <a:tcPr anchor="ctr">
                    <a:lnL>
                      <a:noFill/>
                    </a:lnL>
                    <a:lnR>
                      <a:noFill/>
                    </a:lnR>
                    <a:lnT>
                      <a:noFill/>
                    </a:lnT>
                    <a:lnB>
                      <a:noFill/>
                    </a:lnB>
                    <a:noFill/>
                  </a:tcPr>
                </a:tc>
                <a:tc>
                  <a:txBody>
                    <a:bodyPr/>
                    <a:lstStyle/>
                    <a:p>
                      <a:pPr>
                        <a:buNone/>
                      </a:pPr>
                      <a:r>
                        <a:rPr lang="en-IN"/>
                        <a:t>Fraud concern</a:t>
                      </a:r>
                    </a:p>
                  </a:txBody>
                  <a:tcPr anchor="ctr">
                    <a:lnL>
                      <a:noFill/>
                    </a:lnL>
                    <a:lnR>
                      <a:noFill/>
                    </a:lnR>
                    <a:lnT>
                      <a:noFill/>
                    </a:lnT>
                    <a:lnB>
                      <a:noFill/>
                    </a:lnB>
                    <a:noFill/>
                  </a:tcPr>
                </a:tc>
                <a:tc>
                  <a:txBody>
                    <a:bodyPr/>
                    <a:lstStyle/>
                    <a:p>
                      <a:pPr>
                        <a:buNone/>
                      </a:pPr>
                      <a:r>
                        <a:rPr lang="en-IN" dirty="0"/>
                        <a:t>Trigger fraud review</a:t>
                      </a:r>
                    </a:p>
                  </a:txBody>
                  <a:tcPr anchor="ctr">
                    <a:lnL>
                      <a:noFill/>
                    </a:lnL>
                    <a:lnR>
                      <a:noFill/>
                    </a:lnR>
                    <a:lnT>
                      <a:noFill/>
                    </a:lnT>
                    <a:lnB>
                      <a:noFill/>
                    </a:lnB>
                    <a:noFill/>
                  </a:tcPr>
                </a:tc>
                <a:extLst>
                  <a:ext uri="{0D108BD9-81ED-4DB2-BD59-A6C34878D82A}">
                    <a16:rowId xmlns:a16="http://schemas.microsoft.com/office/drawing/2014/main" val="3804340994"/>
                  </a:ext>
                </a:extLst>
              </a:tr>
            </a:tbl>
          </a:graphicData>
        </a:graphic>
      </p:graphicFrame>
    </p:spTree>
    <p:extLst>
      <p:ext uri="{BB962C8B-B14F-4D97-AF65-F5344CB8AC3E}">
        <p14:creationId xmlns:p14="http://schemas.microsoft.com/office/powerpoint/2010/main" val="1235450890"/>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23C5A-A608-86B9-02F2-9825695D9E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6E09D-E9F0-C6AA-3A77-550B307C232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BC30583-4981-91FA-2ED8-25540E3CF154}"/>
              </a:ext>
            </a:extLst>
          </p:cNvPr>
          <p:cNvSpPr>
            <a:spLocks noGrp="1"/>
          </p:cNvSpPr>
          <p:nvPr>
            <p:ph idx="1"/>
          </p:nvPr>
        </p:nvSpPr>
        <p:spPr/>
        <p:txBody>
          <a:bodyPr/>
          <a:lstStyle/>
          <a:p>
            <a:r>
              <a:rPr lang="en-US" dirty="0"/>
              <a:t>Intent detection improves </a:t>
            </a:r>
            <a:r>
              <a:rPr lang="en-US" b="1" dirty="0"/>
              <a:t>automation and routing</a:t>
            </a:r>
            <a:r>
              <a:rPr lang="en-US" dirty="0"/>
              <a:t>, but complex issues should still allow </a:t>
            </a:r>
            <a:r>
              <a:rPr lang="en-US" b="1" dirty="0"/>
              <a:t>human escalation</a:t>
            </a:r>
            <a:r>
              <a:rPr lang="en-US" dirty="0"/>
              <a:t>.</a:t>
            </a:r>
            <a:endParaRPr lang="en-IN" dirty="0"/>
          </a:p>
        </p:txBody>
      </p:sp>
    </p:spTree>
    <p:extLst>
      <p:ext uri="{BB962C8B-B14F-4D97-AF65-F5344CB8AC3E}">
        <p14:creationId xmlns:p14="http://schemas.microsoft.com/office/powerpoint/2010/main" val="1328122246"/>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D1763-0D82-91C5-FE6A-B1903E3DB0B5}"/>
              </a:ext>
            </a:extLst>
          </p:cNvPr>
          <p:cNvSpPr>
            <a:spLocks noGrp="1"/>
          </p:cNvSpPr>
          <p:nvPr>
            <p:ph type="title"/>
          </p:nvPr>
        </p:nvSpPr>
        <p:spPr/>
        <p:txBody>
          <a:bodyPr/>
          <a:lstStyle/>
          <a:p>
            <a:r>
              <a:rPr lang="en-US" dirty="0"/>
              <a:t>How AI Detects Tone and Sentiment</a:t>
            </a:r>
            <a:endParaRPr lang="en-IN" dirty="0"/>
          </a:p>
        </p:txBody>
      </p:sp>
      <p:sp>
        <p:nvSpPr>
          <p:cNvPr id="3" name="Content Placeholder 2">
            <a:extLst>
              <a:ext uri="{FF2B5EF4-FFF2-40B4-BE49-F238E27FC236}">
                <a16:creationId xmlns:a16="http://schemas.microsoft.com/office/drawing/2014/main" id="{844A089C-7934-C0E5-AB60-17A38F91BD3B}"/>
              </a:ext>
            </a:extLst>
          </p:cNvPr>
          <p:cNvSpPr>
            <a:spLocks noGrp="1"/>
          </p:cNvSpPr>
          <p:nvPr>
            <p:ph idx="1"/>
          </p:nvPr>
        </p:nvSpPr>
        <p:spPr/>
        <p:txBody>
          <a:bodyPr/>
          <a:lstStyle/>
          <a:p>
            <a:r>
              <a:rPr lang="en-US" dirty="0"/>
              <a:t>Customer messages often contain </a:t>
            </a:r>
            <a:r>
              <a:rPr lang="en-US" b="1" dirty="0"/>
              <a:t>emotional signals</a:t>
            </a:r>
            <a:r>
              <a:rPr lang="en-US" dirty="0"/>
              <a:t> that indicate urgency or dissatisfaction.</a:t>
            </a:r>
          </a:p>
          <a:p>
            <a:r>
              <a:rPr lang="en-US" dirty="0"/>
              <a:t>Examples of emotional signals:</a:t>
            </a:r>
          </a:p>
          <a:p>
            <a:r>
              <a:rPr lang="en-US" dirty="0"/>
              <a:t>frustration</a:t>
            </a:r>
          </a:p>
          <a:p>
            <a:r>
              <a:rPr lang="en-US" dirty="0"/>
              <a:t>urgency</a:t>
            </a:r>
          </a:p>
          <a:p>
            <a:r>
              <a:rPr lang="en-US" dirty="0"/>
              <a:t>confusion</a:t>
            </a:r>
          </a:p>
          <a:p>
            <a:r>
              <a:rPr lang="en-US" dirty="0"/>
              <a:t>satisfaction</a:t>
            </a:r>
          </a:p>
          <a:p>
            <a:r>
              <a:rPr lang="en-US" dirty="0"/>
              <a:t>AI systems can analyze these signals and adjust responses accordingly.</a:t>
            </a:r>
          </a:p>
          <a:p>
            <a:endParaRPr lang="en-IN" dirty="0"/>
          </a:p>
        </p:txBody>
      </p:sp>
    </p:spTree>
    <p:extLst>
      <p:ext uri="{BB962C8B-B14F-4D97-AF65-F5344CB8AC3E}">
        <p14:creationId xmlns:p14="http://schemas.microsoft.com/office/powerpoint/2010/main" val="3142914527"/>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A4452-FA05-6466-6703-9F23F81FED1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87A4551-FC13-7511-B63C-F616D1189A21}"/>
              </a:ext>
            </a:extLst>
          </p:cNvPr>
          <p:cNvSpPr>
            <a:spLocks noGrp="1"/>
          </p:cNvSpPr>
          <p:nvPr>
            <p:ph idx="1"/>
          </p:nvPr>
        </p:nvSpPr>
        <p:spPr/>
        <p:txBody>
          <a:bodyPr/>
          <a:lstStyle/>
          <a:p>
            <a:r>
              <a:rPr lang="en-US" b="1" dirty="0"/>
              <a:t>Real Product Example</a:t>
            </a:r>
          </a:p>
          <a:p>
            <a:r>
              <a:rPr lang="en-US" dirty="0"/>
              <a:t>Customer message:</a:t>
            </a:r>
          </a:p>
          <a:p>
            <a:r>
              <a:rPr lang="en-US" i="1" dirty="0"/>
              <a:t>"I have contacted support three times and my refund is still not processed."</a:t>
            </a:r>
            <a:endParaRPr lang="en-US" dirty="0"/>
          </a:p>
          <a:p>
            <a:r>
              <a:rPr lang="en-US" dirty="0"/>
              <a:t>AI interpretation:</a:t>
            </a:r>
          </a:p>
          <a:p>
            <a:r>
              <a:rPr lang="en-US" dirty="0"/>
              <a:t>Intent: Refund inquiry</a:t>
            </a:r>
            <a:br>
              <a:rPr lang="en-US" dirty="0"/>
            </a:br>
            <a:r>
              <a:rPr lang="en-US" dirty="0"/>
              <a:t>Sentiment: Frustration</a:t>
            </a:r>
          </a:p>
          <a:p>
            <a:endParaRPr lang="en-IN" dirty="0"/>
          </a:p>
        </p:txBody>
      </p:sp>
    </p:spTree>
    <p:extLst>
      <p:ext uri="{BB962C8B-B14F-4D97-AF65-F5344CB8AC3E}">
        <p14:creationId xmlns:p14="http://schemas.microsoft.com/office/powerpoint/2010/main" val="210672698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DD273-940F-3D0C-D4A8-3F86691D3F3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B76FA99-DCE5-CEB9-B22C-EB28A644F70D}"/>
              </a:ext>
            </a:extLst>
          </p:cNvPr>
          <p:cNvSpPr>
            <a:spLocks noGrp="1"/>
          </p:cNvSpPr>
          <p:nvPr>
            <p:ph idx="1"/>
          </p:nvPr>
        </p:nvSpPr>
        <p:spPr/>
        <p:txBody>
          <a:bodyPr/>
          <a:lstStyle/>
          <a:p>
            <a:r>
              <a:rPr lang="en-US" dirty="0"/>
              <a:t>System action:</a:t>
            </a:r>
          </a:p>
          <a:p>
            <a:r>
              <a:rPr lang="en-US" dirty="0"/>
              <a:t>prioritize ticket</a:t>
            </a:r>
          </a:p>
          <a:p>
            <a:r>
              <a:rPr lang="en-US" dirty="0"/>
              <a:t>generate empathetic response</a:t>
            </a:r>
          </a:p>
          <a:p>
            <a:r>
              <a:rPr lang="en-US" dirty="0"/>
              <a:t>escalate to support team</a:t>
            </a:r>
          </a:p>
          <a:p>
            <a:r>
              <a:rPr lang="en-US" b="1" dirty="0"/>
              <a:t>PM Design Consideration</a:t>
            </a:r>
          </a:p>
          <a:p>
            <a:r>
              <a:rPr lang="en-US" dirty="0"/>
              <a:t>Sentiment detection helps </a:t>
            </a:r>
            <a:r>
              <a:rPr lang="en-US" b="1" dirty="0"/>
              <a:t>prioritize customer issues</a:t>
            </a:r>
            <a:r>
              <a:rPr lang="en-US" dirty="0"/>
              <a:t>, improving service quality and retention.</a:t>
            </a:r>
          </a:p>
          <a:p>
            <a:endParaRPr lang="en-IN" dirty="0"/>
          </a:p>
        </p:txBody>
      </p:sp>
    </p:spTree>
    <p:extLst>
      <p:ext uri="{BB962C8B-B14F-4D97-AF65-F5344CB8AC3E}">
        <p14:creationId xmlns:p14="http://schemas.microsoft.com/office/powerpoint/2010/main" val="3457333303"/>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AAF79-031F-94E1-07F4-81E4368E3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E353DA-D8E7-B1DE-3DE2-2B9953D9120B}"/>
              </a:ext>
            </a:extLst>
          </p:cNvPr>
          <p:cNvSpPr>
            <a:spLocks noGrp="1"/>
          </p:cNvSpPr>
          <p:nvPr>
            <p:ph type="title"/>
          </p:nvPr>
        </p:nvSpPr>
        <p:spPr/>
        <p:txBody>
          <a:bodyPr/>
          <a:lstStyle/>
          <a:p>
            <a:r>
              <a:rPr lang="en-US" dirty="0"/>
              <a:t>How AI Uses Context to Understand Meaning</a:t>
            </a:r>
            <a:endParaRPr lang="en-IN" dirty="0"/>
          </a:p>
        </p:txBody>
      </p:sp>
      <p:sp>
        <p:nvSpPr>
          <p:cNvPr id="3" name="Content Placeholder 2">
            <a:extLst>
              <a:ext uri="{FF2B5EF4-FFF2-40B4-BE49-F238E27FC236}">
                <a16:creationId xmlns:a16="http://schemas.microsoft.com/office/drawing/2014/main" id="{5A5E46BE-0785-CF7A-FE8B-49A1E7BD1C5A}"/>
              </a:ext>
            </a:extLst>
          </p:cNvPr>
          <p:cNvSpPr>
            <a:spLocks noGrp="1"/>
          </p:cNvSpPr>
          <p:nvPr>
            <p:ph idx="1"/>
          </p:nvPr>
        </p:nvSpPr>
        <p:spPr/>
        <p:txBody>
          <a:bodyPr/>
          <a:lstStyle/>
          <a:p>
            <a:r>
              <a:rPr lang="en-US" dirty="0"/>
              <a:t>Understanding language requires </a:t>
            </a:r>
            <a:r>
              <a:rPr lang="en-US" b="1" dirty="0"/>
              <a:t>context</a:t>
            </a:r>
            <a:r>
              <a:rPr lang="en-US" dirty="0"/>
              <a:t>, not just text.</a:t>
            </a:r>
          </a:p>
          <a:p>
            <a:r>
              <a:rPr lang="en-US" dirty="0"/>
              <a:t>Example message:</a:t>
            </a:r>
          </a:p>
          <a:p>
            <a:r>
              <a:rPr lang="en-US" i="1" dirty="0"/>
              <a:t>"Why was this charge applied?"</a:t>
            </a:r>
            <a:endParaRPr lang="en-US" dirty="0"/>
          </a:p>
          <a:p>
            <a:r>
              <a:rPr lang="en-US" dirty="0"/>
              <a:t>Without context, the system cannot determine the cause.</a:t>
            </a:r>
          </a:p>
          <a:p>
            <a:r>
              <a:rPr lang="en-US" dirty="0"/>
              <a:t>However, if the system accesses transaction history, it may identify:</a:t>
            </a:r>
          </a:p>
          <a:p>
            <a:r>
              <a:rPr lang="en-US" dirty="0"/>
              <a:t>subscription renewal</a:t>
            </a:r>
          </a:p>
          <a:p>
            <a:r>
              <a:rPr lang="en-US" dirty="0"/>
              <a:t>service charge</a:t>
            </a:r>
          </a:p>
          <a:p>
            <a:r>
              <a:rPr lang="en-US" dirty="0"/>
              <a:t>late payment fee</a:t>
            </a:r>
          </a:p>
          <a:p>
            <a:endParaRPr lang="en-IN" dirty="0"/>
          </a:p>
        </p:txBody>
      </p:sp>
    </p:spTree>
    <p:extLst>
      <p:ext uri="{BB962C8B-B14F-4D97-AF65-F5344CB8AC3E}">
        <p14:creationId xmlns:p14="http://schemas.microsoft.com/office/powerpoint/2010/main" val="2442914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C7180-CFBB-B97D-FE9C-085E31065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5E4A90-923C-5275-E0B2-6E3085B2A28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C5BC152-8D09-F276-71A8-98C5FD7D672A}"/>
              </a:ext>
            </a:extLst>
          </p:cNvPr>
          <p:cNvSpPr>
            <a:spLocks noGrp="1"/>
          </p:cNvSpPr>
          <p:nvPr>
            <p:ph idx="1"/>
          </p:nvPr>
        </p:nvSpPr>
        <p:spPr/>
        <p:txBody>
          <a:bodyPr/>
          <a:lstStyle/>
          <a:p>
            <a:r>
              <a:rPr lang="en-US" b="1" dirty="0"/>
              <a:t>Real Product Example</a:t>
            </a:r>
          </a:p>
          <a:p>
            <a:r>
              <a:rPr lang="en-US" dirty="0"/>
              <a:t>Customer question:</a:t>
            </a:r>
          </a:p>
          <a:p>
            <a:r>
              <a:rPr lang="en-US" i="1" dirty="0"/>
              <a:t>"Why was ₹499 deducted?"</a:t>
            </a:r>
            <a:endParaRPr lang="en-US" dirty="0"/>
          </a:p>
          <a:p>
            <a:r>
              <a:rPr lang="en-US" dirty="0"/>
              <a:t>AI system checks account history and responds:</a:t>
            </a:r>
          </a:p>
          <a:p>
            <a:r>
              <a:rPr lang="en-US" i="1" dirty="0"/>
              <a:t>"The ₹499 charge corresponds to your monthly subscription for the premium account service."</a:t>
            </a:r>
            <a:endParaRPr lang="en-US" dirty="0"/>
          </a:p>
          <a:p>
            <a:r>
              <a:rPr lang="en-US" b="1" dirty="0"/>
              <a:t>PM Design Consideration</a:t>
            </a:r>
          </a:p>
          <a:p>
            <a:r>
              <a:rPr lang="en-US" dirty="0"/>
              <a:t>Language AI works best when combined with </a:t>
            </a:r>
            <a:r>
              <a:rPr lang="en-US" b="1" dirty="0"/>
              <a:t>product data and transaction history</a:t>
            </a:r>
            <a:r>
              <a:rPr lang="en-US" dirty="0"/>
              <a:t>.</a:t>
            </a:r>
          </a:p>
          <a:p>
            <a:endParaRPr lang="en-IN" dirty="0"/>
          </a:p>
        </p:txBody>
      </p:sp>
    </p:spTree>
    <p:extLst>
      <p:ext uri="{BB962C8B-B14F-4D97-AF65-F5344CB8AC3E}">
        <p14:creationId xmlns:p14="http://schemas.microsoft.com/office/powerpoint/2010/main" val="1385969552"/>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DFFA7-C767-B8E4-10F5-75A0238F49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A588E-53E8-1164-22A6-C4AC996529FF}"/>
              </a:ext>
            </a:extLst>
          </p:cNvPr>
          <p:cNvSpPr>
            <a:spLocks noGrp="1"/>
          </p:cNvSpPr>
          <p:nvPr>
            <p:ph type="title"/>
          </p:nvPr>
        </p:nvSpPr>
        <p:spPr/>
        <p:txBody>
          <a:bodyPr/>
          <a:lstStyle/>
          <a:p>
            <a:r>
              <a:rPr lang="en-US" dirty="0"/>
              <a:t>Strengths of Language AI in Financial Products</a:t>
            </a:r>
            <a:endParaRPr lang="en-IN" dirty="0"/>
          </a:p>
        </p:txBody>
      </p:sp>
      <p:sp>
        <p:nvSpPr>
          <p:cNvPr id="3" name="Content Placeholder 2">
            <a:extLst>
              <a:ext uri="{FF2B5EF4-FFF2-40B4-BE49-F238E27FC236}">
                <a16:creationId xmlns:a16="http://schemas.microsoft.com/office/drawing/2014/main" id="{911EBEE7-7E24-FA54-63AB-D78C5CBE42CE}"/>
              </a:ext>
            </a:extLst>
          </p:cNvPr>
          <p:cNvSpPr>
            <a:spLocks noGrp="1"/>
          </p:cNvSpPr>
          <p:nvPr>
            <p:ph idx="1"/>
          </p:nvPr>
        </p:nvSpPr>
        <p:spPr/>
        <p:txBody>
          <a:bodyPr/>
          <a:lstStyle/>
          <a:p>
            <a:r>
              <a:rPr lang="en-US" dirty="0"/>
              <a:t>Language AI is particularly useful for tasks involving </a:t>
            </a:r>
            <a:r>
              <a:rPr lang="en-US" b="1" dirty="0"/>
              <a:t>large volumes of text and communication</a:t>
            </a:r>
            <a:r>
              <a:rPr lang="en-US" dirty="0"/>
              <a:t>.</a:t>
            </a:r>
          </a:p>
          <a:p>
            <a:r>
              <a:rPr lang="en-US" dirty="0"/>
              <a:t>Key strengths include:</a:t>
            </a:r>
          </a:p>
          <a:p>
            <a:r>
              <a:rPr lang="en-US" b="1" dirty="0"/>
              <a:t>Document processing</a:t>
            </a:r>
            <a:br>
              <a:rPr lang="en-US" dirty="0"/>
            </a:br>
            <a:r>
              <a:rPr lang="en-US" dirty="0"/>
              <a:t>Extracting information from contracts, invoices, and forms.</a:t>
            </a:r>
          </a:p>
          <a:p>
            <a:r>
              <a:rPr lang="en-US" b="1" dirty="0"/>
              <a:t>Knowledge retrieval</a:t>
            </a:r>
            <a:br>
              <a:rPr lang="en-US" dirty="0"/>
            </a:br>
            <a:r>
              <a:rPr lang="en-US" dirty="0"/>
              <a:t>Answering questions from policy or compliance documentation.</a:t>
            </a:r>
          </a:p>
          <a:p>
            <a:r>
              <a:rPr lang="en-US" b="1" dirty="0"/>
              <a:t>Customer support automation</a:t>
            </a:r>
            <a:br>
              <a:rPr lang="en-US" dirty="0"/>
            </a:br>
            <a:r>
              <a:rPr lang="en-US" dirty="0"/>
              <a:t>Handling common service queries automatically.</a:t>
            </a:r>
          </a:p>
          <a:p>
            <a:endParaRPr lang="en-IN" dirty="0"/>
          </a:p>
        </p:txBody>
      </p:sp>
    </p:spTree>
    <p:extLst>
      <p:ext uri="{BB962C8B-B14F-4D97-AF65-F5344CB8AC3E}">
        <p14:creationId xmlns:p14="http://schemas.microsoft.com/office/powerpoint/2010/main" val="1431260443"/>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EA7AB-A2A6-2868-2932-25BE2E87D78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9D44005-0DB5-5500-5DAA-E4B3B3A39EDC}"/>
              </a:ext>
            </a:extLst>
          </p:cNvPr>
          <p:cNvSpPr>
            <a:spLocks noGrp="1"/>
          </p:cNvSpPr>
          <p:nvPr>
            <p:ph idx="1"/>
          </p:nvPr>
        </p:nvSpPr>
        <p:spPr/>
        <p:txBody>
          <a:bodyPr/>
          <a:lstStyle/>
          <a:p>
            <a:r>
              <a:rPr lang="en-US" b="1" dirty="0"/>
              <a:t>Financial explanation</a:t>
            </a:r>
            <a:br>
              <a:rPr lang="en-US" dirty="0"/>
            </a:br>
            <a:r>
              <a:rPr lang="en-US" dirty="0"/>
              <a:t>Helping users understand transactions, fees, or statements.</a:t>
            </a:r>
          </a:p>
          <a:p>
            <a:r>
              <a:rPr lang="en-US" b="1" dirty="0"/>
              <a:t>Example Product Features</a:t>
            </a:r>
          </a:p>
          <a:p>
            <a:r>
              <a:rPr lang="en-US" dirty="0"/>
              <a:t>AI policy assistant for employees</a:t>
            </a:r>
          </a:p>
          <a:p>
            <a:r>
              <a:rPr lang="en-US" dirty="0"/>
              <a:t>automated invoice processing</a:t>
            </a:r>
          </a:p>
          <a:p>
            <a:r>
              <a:rPr lang="en-US" dirty="0"/>
              <a:t>AI-powered customer helpdesk</a:t>
            </a:r>
          </a:p>
          <a:p>
            <a:r>
              <a:rPr lang="en-US" dirty="0"/>
              <a:t>financial explanation assistants</a:t>
            </a:r>
          </a:p>
          <a:p>
            <a:endParaRPr lang="en-IN" dirty="0"/>
          </a:p>
        </p:txBody>
      </p:sp>
    </p:spTree>
    <p:extLst>
      <p:ext uri="{BB962C8B-B14F-4D97-AF65-F5344CB8AC3E}">
        <p14:creationId xmlns:p14="http://schemas.microsoft.com/office/powerpoint/2010/main" val="3209018247"/>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C9B71-CC58-930E-672E-068F18023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DFD29-4F24-89EA-90F1-C581497AD3DC}"/>
              </a:ext>
            </a:extLst>
          </p:cNvPr>
          <p:cNvSpPr>
            <a:spLocks noGrp="1"/>
          </p:cNvSpPr>
          <p:nvPr>
            <p:ph type="title"/>
          </p:nvPr>
        </p:nvSpPr>
        <p:spPr/>
        <p:txBody>
          <a:bodyPr/>
          <a:lstStyle/>
          <a:p>
            <a:r>
              <a:rPr lang="en-US" b="1" dirty="0"/>
              <a:t>Limitations Financial PMs Must Understand</a:t>
            </a:r>
            <a:br>
              <a:rPr lang="en-US" b="1" dirty="0"/>
            </a:br>
            <a:endParaRPr lang="en-IN" dirty="0"/>
          </a:p>
        </p:txBody>
      </p:sp>
      <p:sp>
        <p:nvSpPr>
          <p:cNvPr id="3" name="Content Placeholder 2">
            <a:extLst>
              <a:ext uri="{FF2B5EF4-FFF2-40B4-BE49-F238E27FC236}">
                <a16:creationId xmlns:a16="http://schemas.microsoft.com/office/drawing/2014/main" id="{15768215-FDD4-6888-BDE4-AC1E7E3944A3}"/>
              </a:ext>
            </a:extLst>
          </p:cNvPr>
          <p:cNvSpPr>
            <a:spLocks noGrp="1"/>
          </p:cNvSpPr>
          <p:nvPr>
            <p:ph idx="1"/>
          </p:nvPr>
        </p:nvSpPr>
        <p:spPr/>
        <p:txBody>
          <a:bodyPr/>
          <a:lstStyle/>
          <a:p>
            <a:r>
              <a:rPr lang="en-US" dirty="0"/>
              <a:t>Despite its capabilities, language AI has several limitations.</a:t>
            </a:r>
          </a:p>
          <a:p>
            <a:r>
              <a:rPr lang="en-US" b="1" dirty="0"/>
              <a:t>Hallucination Risk</a:t>
            </a:r>
          </a:p>
          <a:p>
            <a:r>
              <a:rPr lang="en-US" dirty="0"/>
              <a:t>AI may generate responses that sound correct but are factually wrong.</a:t>
            </a:r>
          </a:p>
          <a:p>
            <a:r>
              <a:rPr lang="en-US" dirty="0"/>
              <a:t>Example risk:</a:t>
            </a:r>
          </a:p>
          <a:p>
            <a:r>
              <a:rPr lang="en-US" dirty="0"/>
              <a:t>AI incorrectly explaining a </a:t>
            </a:r>
            <a:r>
              <a:rPr lang="en-US" b="1" dirty="0"/>
              <a:t>loan eligibility rule</a:t>
            </a:r>
            <a:r>
              <a:rPr lang="en-US" dirty="0"/>
              <a:t>.</a:t>
            </a:r>
          </a:p>
          <a:p>
            <a:endParaRPr lang="en-IN" dirty="0"/>
          </a:p>
        </p:txBody>
      </p:sp>
    </p:spTree>
    <p:extLst>
      <p:ext uri="{BB962C8B-B14F-4D97-AF65-F5344CB8AC3E}">
        <p14:creationId xmlns:p14="http://schemas.microsoft.com/office/powerpoint/2010/main" val="3646625807"/>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9AF25-AD62-F318-3118-A6118B7679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4E4276-C9A1-7E59-C1AD-705B85A38A62}"/>
              </a:ext>
            </a:extLst>
          </p:cNvPr>
          <p:cNvSpPr>
            <a:spLocks noGrp="1"/>
          </p:cNvSpPr>
          <p:nvPr>
            <p:ph idx="1"/>
          </p:nvPr>
        </p:nvSpPr>
        <p:spPr/>
        <p:txBody>
          <a:bodyPr/>
          <a:lstStyle/>
          <a:p>
            <a:r>
              <a:rPr lang="en-US" b="1" dirty="0"/>
              <a:t>Regulatory Risk</a:t>
            </a:r>
          </a:p>
          <a:p>
            <a:r>
              <a:rPr lang="en-US" dirty="0"/>
              <a:t>Incorrect financial explanations may violate compliance guidelines.</a:t>
            </a:r>
          </a:p>
          <a:p>
            <a:r>
              <a:rPr lang="en-US" dirty="0"/>
              <a:t>Example risk:</a:t>
            </a:r>
          </a:p>
          <a:p>
            <a:r>
              <a:rPr lang="en-US" dirty="0"/>
              <a:t>AI giving incorrect advice about </a:t>
            </a:r>
            <a:r>
              <a:rPr lang="en-US" b="1" dirty="0"/>
              <a:t>investment eligibility</a:t>
            </a:r>
            <a:r>
              <a:rPr lang="en-US" dirty="0"/>
              <a:t>.</a:t>
            </a:r>
          </a:p>
          <a:p>
            <a:endParaRPr lang="en-IN" dirty="0"/>
          </a:p>
        </p:txBody>
      </p:sp>
    </p:spTree>
    <p:extLst>
      <p:ext uri="{BB962C8B-B14F-4D97-AF65-F5344CB8AC3E}">
        <p14:creationId xmlns:p14="http://schemas.microsoft.com/office/powerpoint/2010/main" val="122241473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6D827-B659-0B64-5D98-05405CD0F4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9712D7-C3F8-B140-D8AD-B787546D60D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3A1FD64-9036-CFE5-4AD6-52A9DDE28F8D}"/>
              </a:ext>
            </a:extLst>
          </p:cNvPr>
          <p:cNvSpPr>
            <a:spLocks noGrp="1"/>
          </p:cNvSpPr>
          <p:nvPr>
            <p:ph idx="1"/>
          </p:nvPr>
        </p:nvSpPr>
        <p:spPr/>
        <p:txBody>
          <a:bodyPr/>
          <a:lstStyle/>
          <a:p>
            <a:r>
              <a:rPr lang="en-US" b="1" dirty="0"/>
              <a:t>Ambiguity in Language</a:t>
            </a:r>
          </a:p>
          <a:p>
            <a:r>
              <a:rPr lang="en-US" dirty="0"/>
              <a:t>Human instructions are often unclear.</a:t>
            </a:r>
          </a:p>
          <a:p>
            <a:r>
              <a:rPr lang="en-US" dirty="0"/>
              <a:t>Example:</a:t>
            </a:r>
          </a:p>
          <a:p>
            <a:r>
              <a:rPr lang="en-US" dirty="0"/>
              <a:t>"Approve high-value customers quickly."</a:t>
            </a:r>
          </a:p>
          <a:p>
            <a:r>
              <a:rPr lang="en-US" dirty="0"/>
              <a:t>AI cannot interpret such rules without </a:t>
            </a:r>
            <a:r>
              <a:rPr lang="en-US" b="1" dirty="0"/>
              <a:t>clear definitions</a:t>
            </a:r>
            <a:r>
              <a:rPr lang="en-US" dirty="0"/>
              <a:t>.</a:t>
            </a:r>
          </a:p>
          <a:p>
            <a:endParaRPr lang="en-IN" dirty="0"/>
          </a:p>
        </p:txBody>
      </p:sp>
    </p:spTree>
    <p:extLst>
      <p:ext uri="{BB962C8B-B14F-4D97-AF65-F5344CB8AC3E}">
        <p14:creationId xmlns:p14="http://schemas.microsoft.com/office/powerpoint/2010/main" val="4188015095"/>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A996C-FF24-76C8-8986-25B9C90622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9C96C-C1F0-F192-5CC8-BFE9A6B2F974}"/>
              </a:ext>
            </a:extLst>
          </p:cNvPr>
          <p:cNvSpPr>
            <a:spLocks noGrp="1"/>
          </p:cNvSpPr>
          <p:nvPr>
            <p:ph type="title"/>
          </p:nvPr>
        </p:nvSpPr>
        <p:spPr/>
        <p:txBody>
          <a:bodyPr/>
          <a:lstStyle/>
          <a:p>
            <a:r>
              <a:rPr lang="en-US" dirty="0"/>
              <a:t>Practical Design Guidelines for Financial PMs</a:t>
            </a:r>
            <a:endParaRPr lang="en-IN" dirty="0"/>
          </a:p>
        </p:txBody>
      </p:sp>
      <p:sp>
        <p:nvSpPr>
          <p:cNvPr id="3" name="Content Placeholder 2">
            <a:extLst>
              <a:ext uri="{FF2B5EF4-FFF2-40B4-BE49-F238E27FC236}">
                <a16:creationId xmlns:a16="http://schemas.microsoft.com/office/drawing/2014/main" id="{2A2F5FD0-36BA-F730-B06E-002411F20D5A}"/>
              </a:ext>
            </a:extLst>
          </p:cNvPr>
          <p:cNvSpPr>
            <a:spLocks noGrp="1"/>
          </p:cNvSpPr>
          <p:nvPr>
            <p:ph idx="1"/>
          </p:nvPr>
        </p:nvSpPr>
        <p:spPr/>
        <p:txBody>
          <a:bodyPr/>
          <a:lstStyle/>
          <a:p>
            <a:r>
              <a:rPr lang="en-US" dirty="0"/>
              <a:t>When building language AI features, PMs should follow several principles.</a:t>
            </a:r>
          </a:p>
          <a:p>
            <a:r>
              <a:rPr lang="en-US" b="1" dirty="0"/>
              <a:t>Use Verified Knowledge Sources</a:t>
            </a:r>
          </a:p>
          <a:p>
            <a:r>
              <a:rPr lang="en-US" dirty="0"/>
              <a:t>Restrict AI responses to trusted policy documents.</a:t>
            </a:r>
          </a:p>
          <a:p>
            <a:r>
              <a:rPr lang="en-US" b="1" dirty="0"/>
              <a:t>Combine AI with Rules</a:t>
            </a:r>
          </a:p>
          <a:p>
            <a:r>
              <a:rPr lang="en-US" dirty="0"/>
              <a:t>Critical financial decisions should rely on both </a:t>
            </a:r>
            <a:r>
              <a:rPr lang="en-US" b="1" dirty="0"/>
              <a:t>AI insights and deterministic rules</a:t>
            </a:r>
            <a:r>
              <a:rPr lang="en-US" dirty="0"/>
              <a:t>.</a:t>
            </a:r>
          </a:p>
          <a:p>
            <a:r>
              <a:rPr lang="en-US" b="1" dirty="0"/>
              <a:t>Design Human Escalation Paths</a:t>
            </a:r>
          </a:p>
          <a:p>
            <a:r>
              <a:rPr lang="en-US" dirty="0"/>
              <a:t>High-risk queries should be routed to human experts.</a:t>
            </a:r>
          </a:p>
          <a:p>
            <a:endParaRPr lang="en-IN" dirty="0"/>
          </a:p>
        </p:txBody>
      </p:sp>
    </p:spTree>
    <p:extLst>
      <p:ext uri="{BB962C8B-B14F-4D97-AF65-F5344CB8AC3E}">
        <p14:creationId xmlns:p14="http://schemas.microsoft.com/office/powerpoint/2010/main" val="2616125216"/>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587D0-E55F-BB65-3530-65116075E8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119B7-C76F-D7ED-3A0E-BE721AFF310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701C1EF-9D2C-4AE4-AB8B-90D7780F1ACC}"/>
              </a:ext>
            </a:extLst>
          </p:cNvPr>
          <p:cNvSpPr>
            <a:spLocks noGrp="1"/>
          </p:cNvSpPr>
          <p:nvPr>
            <p:ph idx="1"/>
          </p:nvPr>
        </p:nvSpPr>
        <p:spPr/>
        <p:txBody>
          <a:bodyPr/>
          <a:lstStyle/>
          <a:p>
            <a:r>
              <a:rPr lang="en-US" b="1" dirty="0"/>
              <a:t>Monitor AI Performance</a:t>
            </a:r>
          </a:p>
          <a:p>
            <a:r>
              <a:rPr lang="en-US" dirty="0"/>
              <a:t>Track metrics such as:</a:t>
            </a:r>
          </a:p>
          <a:p>
            <a:r>
              <a:rPr lang="en-US" dirty="0"/>
              <a:t>response accuracy</a:t>
            </a:r>
          </a:p>
          <a:p>
            <a:r>
              <a:rPr lang="en-US" dirty="0"/>
              <a:t>incorrect explanations</a:t>
            </a:r>
          </a:p>
          <a:p>
            <a:r>
              <a:rPr lang="en-US" dirty="0"/>
              <a:t>escalation frequency</a:t>
            </a:r>
          </a:p>
          <a:p>
            <a:endParaRPr lang="en-IN" dirty="0"/>
          </a:p>
        </p:txBody>
      </p:sp>
    </p:spTree>
    <p:extLst>
      <p:ext uri="{BB962C8B-B14F-4D97-AF65-F5344CB8AC3E}">
        <p14:creationId xmlns:p14="http://schemas.microsoft.com/office/powerpoint/2010/main" val="2774131293"/>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6CA95-C331-B948-BD03-45A850D17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1D2AA-7153-0446-1218-0C86163F8C4E}"/>
              </a:ext>
            </a:extLst>
          </p:cNvPr>
          <p:cNvSpPr>
            <a:spLocks noGrp="1"/>
          </p:cNvSpPr>
          <p:nvPr>
            <p:ph type="title"/>
          </p:nvPr>
        </p:nvSpPr>
        <p:spPr/>
        <p:txBody>
          <a:bodyPr/>
          <a:lstStyle/>
          <a:p>
            <a:r>
              <a:rPr lang="en-US" dirty="0"/>
              <a:t>Key Takeaway for Product Managers</a:t>
            </a:r>
            <a:endParaRPr lang="en-IN" dirty="0"/>
          </a:p>
        </p:txBody>
      </p:sp>
      <p:sp>
        <p:nvSpPr>
          <p:cNvPr id="3" name="Content Placeholder 2">
            <a:extLst>
              <a:ext uri="{FF2B5EF4-FFF2-40B4-BE49-F238E27FC236}">
                <a16:creationId xmlns:a16="http://schemas.microsoft.com/office/drawing/2014/main" id="{CBF768F6-7C1B-5E75-C792-9B6F105E9954}"/>
              </a:ext>
            </a:extLst>
          </p:cNvPr>
          <p:cNvSpPr>
            <a:spLocks noGrp="1"/>
          </p:cNvSpPr>
          <p:nvPr>
            <p:ph idx="1"/>
          </p:nvPr>
        </p:nvSpPr>
        <p:spPr/>
        <p:txBody>
          <a:bodyPr/>
          <a:lstStyle/>
          <a:p>
            <a:r>
              <a:rPr lang="en-IN" dirty="0"/>
              <a:t>Language AI enables financial products to:</a:t>
            </a:r>
          </a:p>
          <a:p>
            <a:r>
              <a:rPr lang="en-IN" dirty="0"/>
              <a:t>interpret documents</a:t>
            </a:r>
          </a:p>
          <a:p>
            <a:r>
              <a:rPr lang="en-IN" dirty="0"/>
              <a:t>understand customer requests</a:t>
            </a:r>
          </a:p>
          <a:p>
            <a:r>
              <a:rPr lang="en-IN" dirty="0"/>
              <a:t>automate communication</a:t>
            </a:r>
          </a:p>
          <a:p>
            <a:r>
              <a:rPr lang="en-IN" dirty="0"/>
              <a:t>provide explanations</a:t>
            </a:r>
          </a:p>
          <a:p>
            <a:endParaRPr lang="en-IN" dirty="0"/>
          </a:p>
        </p:txBody>
      </p:sp>
    </p:spTree>
    <p:extLst>
      <p:ext uri="{BB962C8B-B14F-4D97-AF65-F5344CB8AC3E}">
        <p14:creationId xmlns:p14="http://schemas.microsoft.com/office/powerpoint/2010/main" val="4217156526"/>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48B8C-E034-497A-95FE-E14EDAD17E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E23232-1F74-3B4C-3F70-0B49A876C0E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288464A-45B6-7280-248B-13ADBC9919E6}"/>
              </a:ext>
            </a:extLst>
          </p:cNvPr>
          <p:cNvSpPr>
            <a:spLocks noGrp="1"/>
          </p:cNvSpPr>
          <p:nvPr>
            <p:ph idx="1"/>
          </p:nvPr>
        </p:nvSpPr>
        <p:spPr/>
        <p:txBody>
          <a:bodyPr/>
          <a:lstStyle/>
          <a:p>
            <a:r>
              <a:rPr lang="en-US" dirty="0"/>
              <a:t>However, successful implementation requires careful attention to:</a:t>
            </a:r>
          </a:p>
          <a:p>
            <a:r>
              <a:rPr lang="en-US" dirty="0"/>
              <a:t>regulatory compliance</a:t>
            </a:r>
          </a:p>
          <a:p>
            <a:r>
              <a:rPr lang="en-US" dirty="0"/>
              <a:t>reliable knowledge sources</a:t>
            </a:r>
          </a:p>
          <a:p>
            <a:r>
              <a:rPr lang="en-US" dirty="0"/>
              <a:t>human oversight</a:t>
            </a:r>
          </a:p>
          <a:p>
            <a:r>
              <a:rPr lang="en-US" dirty="0"/>
              <a:t>product context integration</a:t>
            </a:r>
          </a:p>
          <a:p>
            <a:r>
              <a:rPr lang="en-US" dirty="0"/>
              <a:t>The role of a Product Manager is to ensure that AI systems </a:t>
            </a:r>
            <a:r>
              <a:rPr lang="en-US" b="1" dirty="0"/>
              <a:t>enhance decision-making while maintaining safety and trust in financial products</a:t>
            </a:r>
            <a:r>
              <a:rPr lang="en-US" dirty="0"/>
              <a:t>.</a:t>
            </a:r>
          </a:p>
          <a:p>
            <a:endParaRPr lang="en-IN" dirty="0"/>
          </a:p>
        </p:txBody>
      </p:sp>
    </p:spTree>
    <p:extLst>
      <p:ext uri="{BB962C8B-B14F-4D97-AF65-F5344CB8AC3E}">
        <p14:creationId xmlns:p14="http://schemas.microsoft.com/office/powerpoint/2010/main" val="337686404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9A06B-2CE1-05AD-9155-7E96AECB24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19411-8875-2F5F-3A61-9954EDADDC9B}"/>
              </a:ext>
            </a:extLst>
          </p:cNvPr>
          <p:cNvSpPr>
            <a:spLocks noGrp="1"/>
          </p:cNvSpPr>
          <p:nvPr>
            <p:ph type="title"/>
          </p:nvPr>
        </p:nvSpPr>
        <p:spPr>
          <a:xfrm>
            <a:off x="838200" y="365126"/>
            <a:ext cx="10515600" cy="907084"/>
          </a:xfrm>
        </p:spPr>
        <p:txBody>
          <a:bodyPr/>
          <a:lstStyle/>
          <a:p>
            <a:pPr algn="ctr"/>
            <a:r>
              <a:rPr lang="en-US" b="1" dirty="0"/>
              <a:t>Where LLMs Can Be Used in Financial Products</a:t>
            </a:r>
            <a:endParaRPr lang="en-IN" b="1" dirty="0"/>
          </a:p>
        </p:txBody>
      </p:sp>
      <p:sp>
        <p:nvSpPr>
          <p:cNvPr id="3" name="Content Placeholder 2">
            <a:extLst>
              <a:ext uri="{FF2B5EF4-FFF2-40B4-BE49-F238E27FC236}">
                <a16:creationId xmlns:a16="http://schemas.microsoft.com/office/drawing/2014/main" id="{EBBB0327-F508-D549-9B58-3ECB516C5A1B}"/>
              </a:ext>
            </a:extLst>
          </p:cNvPr>
          <p:cNvSpPr>
            <a:spLocks noGrp="1"/>
          </p:cNvSpPr>
          <p:nvPr>
            <p:ph idx="1"/>
          </p:nvPr>
        </p:nvSpPr>
        <p:spPr/>
        <p:txBody>
          <a:bodyPr>
            <a:normAutofit fontScale="92500" lnSpcReduction="20000"/>
          </a:bodyPr>
          <a:lstStyle/>
          <a:p>
            <a:r>
              <a:rPr lang="en-US" dirty="0"/>
              <a:t>Policy &amp; Compliance Knowledge Assistants</a:t>
            </a:r>
          </a:p>
          <a:p>
            <a:r>
              <a:rPr lang="en-US" dirty="0"/>
              <a:t>Document Reading and Information Extraction</a:t>
            </a:r>
          </a:p>
          <a:p>
            <a:r>
              <a:rPr lang="en-US" dirty="0"/>
              <a:t>Customer Support and Query Handling</a:t>
            </a:r>
          </a:p>
          <a:p>
            <a:r>
              <a:rPr lang="en-US" dirty="0"/>
              <a:t>Financial Explanation Assistants</a:t>
            </a:r>
          </a:p>
          <a:p>
            <a:r>
              <a:rPr lang="en-US" dirty="0"/>
              <a:t>Customer Complaint and Feedback Analysis</a:t>
            </a:r>
          </a:p>
          <a:p>
            <a:r>
              <a:rPr lang="en-US" dirty="0"/>
              <a:t>Internal Employee Helpdesk Assistants</a:t>
            </a:r>
          </a:p>
          <a:p>
            <a:r>
              <a:rPr lang="en-US" dirty="0"/>
              <a:t>Contract and Agreement Summarization</a:t>
            </a:r>
          </a:p>
          <a:p>
            <a:r>
              <a:rPr lang="en-US" dirty="0"/>
              <a:t>Intelligent Knowledge Search Across Documents</a:t>
            </a:r>
          </a:p>
          <a:p>
            <a:r>
              <a:rPr lang="en-US" dirty="0"/>
              <a:t>Customer Communication Generation</a:t>
            </a:r>
          </a:p>
          <a:p>
            <a:r>
              <a:rPr lang="en-US" dirty="0"/>
              <a:t>Workflow Assistance and Process Guidance</a:t>
            </a:r>
          </a:p>
          <a:p>
            <a:endParaRPr lang="en-IN" dirty="0"/>
          </a:p>
        </p:txBody>
      </p:sp>
    </p:spTree>
    <p:extLst>
      <p:ext uri="{BB962C8B-B14F-4D97-AF65-F5344CB8AC3E}">
        <p14:creationId xmlns:p14="http://schemas.microsoft.com/office/powerpoint/2010/main" val="3479433505"/>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A69AF-EF37-A7CA-2C09-B98CC35F98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72972E-60EA-64B0-58E1-C494EB64A108}"/>
              </a:ext>
            </a:extLst>
          </p:cNvPr>
          <p:cNvSpPr>
            <a:spLocks noGrp="1"/>
          </p:cNvSpPr>
          <p:nvPr>
            <p:ph type="title"/>
          </p:nvPr>
        </p:nvSpPr>
        <p:spPr/>
        <p:txBody>
          <a:bodyPr>
            <a:normAutofit fontScale="90000"/>
          </a:bodyPr>
          <a:lstStyle/>
          <a:p>
            <a:r>
              <a:rPr lang="en-US" b="1" dirty="0"/>
              <a:t>Where LLMs Should Not Be Used in Financial Products</a:t>
            </a:r>
            <a:br>
              <a:rPr lang="en-US" b="1" dirty="0"/>
            </a:br>
            <a:endParaRPr lang="en-IN" dirty="0"/>
          </a:p>
        </p:txBody>
      </p:sp>
      <p:sp>
        <p:nvSpPr>
          <p:cNvPr id="3" name="Content Placeholder 2">
            <a:extLst>
              <a:ext uri="{FF2B5EF4-FFF2-40B4-BE49-F238E27FC236}">
                <a16:creationId xmlns:a16="http://schemas.microsoft.com/office/drawing/2014/main" id="{AFB04A16-AD30-E607-911E-60D25BB747FF}"/>
              </a:ext>
            </a:extLst>
          </p:cNvPr>
          <p:cNvSpPr>
            <a:spLocks noGrp="1"/>
          </p:cNvSpPr>
          <p:nvPr>
            <p:ph idx="1"/>
          </p:nvPr>
        </p:nvSpPr>
        <p:spPr/>
        <p:txBody>
          <a:bodyPr>
            <a:normAutofit fontScale="92500" lnSpcReduction="20000"/>
          </a:bodyPr>
          <a:lstStyle/>
          <a:p>
            <a:r>
              <a:rPr lang="en-US" dirty="0"/>
              <a:t>Final Loan Approval or Credit Decisions</a:t>
            </a:r>
          </a:p>
          <a:p>
            <a:r>
              <a:rPr lang="en-US" dirty="0"/>
              <a:t>Exact Financial Calculations</a:t>
            </a:r>
          </a:p>
          <a:p>
            <a:r>
              <a:rPr lang="en-US" dirty="0"/>
              <a:t>Regulatory Interpretation Without Guardrails</a:t>
            </a:r>
          </a:p>
          <a:p>
            <a:r>
              <a:rPr lang="en-US" dirty="0"/>
              <a:t>Investment or Financial Advice Generation</a:t>
            </a:r>
          </a:p>
          <a:p>
            <a:r>
              <a:rPr lang="en-US" dirty="0"/>
              <a:t>Fraud Confirmation Decisions</a:t>
            </a:r>
          </a:p>
          <a:p>
            <a:r>
              <a:rPr lang="en-US" dirty="0"/>
              <a:t>Compliance Enforcement Decisions</a:t>
            </a:r>
          </a:p>
          <a:p>
            <a:r>
              <a:rPr lang="en-US" dirty="0"/>
              <a:t>High-Risk Transaction Authorization</a:t>
            </a:r>
          </a:p>
          <a:p>
            <a:r>
              <a:rPr lang="en-US" dirty="0"/>
              <a:t>Risk Scoring Without Validation Models</a:t>
            </a:r>
          </a:p>
          <a:p>
            <a:r>
              <a:rPr lang="en-US" dirty="0"/>
              <a:t>Decisions Based on Incomplete Context</a:t>
            </a:r>
          </a:p>
          <a:p>
            <a:r>
              <a:rPr lang="en-US" dirty="0"/>
              <a:t>Any Fully Autonomous Financial Decision Making</a:t>
            </a:r>
          </a:p>
          <a:p>
            <a:endParaRPr lang="en-IN" dirty="0"/>
          </a:p>
        </p:txBody>
      </p:sp>
    </p:spTree>
    <p:extLst>
      <p:ext uri="{BB962C8B-B14F-4D97-AF65-F5344CB8AC3E}">
        <p14:creationId xmlns:p14="http://schemas.microsoft.com/office/powerpoint/2010/main" val="27840913"/>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09772-5A80-4F60-F13C-585A70EF6E8B}"/>
              </a:ext>
            </a:extLst>
          </p:cNvPr>
          <p:cNvSpPr>
            <a:spLocks noGrp="1"/>
          </p:cNvSpPr>
          <p:nvPr>
            <p:ph type="ctrTitle"/>
          </p:nvPr>
        </p:nvSpPr>
        <p:spPr/>
        <p:txBody>
          <a:bodyPr>
            <a:normAutofit/>
          </a:bodyPr>
          <a:lstStyle/>
          <a:p>
            <a:r>
              <a:rPr lang="en-IN" sz="4800" b="1" dirty="0"/>
              <a:t>Language Intelligence for Product Managers</a:t>
            </a:r>
            <a:endParaRPr lang="en-IN" sz="4800" dirty="0"/>
          </a:p>
        </p:txBody>
      </p:sp>
      <p:sp>
        <p:nvSpPr>
          <p:cNvPr id="3" name="Subtitle 2">
            <a:extLst>
              <a:ext uri="{FF2B5EF4-FFF2-40B4-BE49-F238E27FC236}">
                <a16:creationId xmlns:a16="http://schemas.microsoft.com/office/drawing/2014/main" id="{B564B2F9-E588-45BF-5D2B-6469FB58A0F7}"/>
              </a:ext>
            </a:extLst>
          </p:cNvPr>
          <p:cNvSpPr>
            <a:spLocks noGrp="1"/>
          </p:cNvSpPr>
          <p:nvPr>
            <p:ph type="subTitle" idx="1"/>
          </p:nvPr>
        </p:nvSpPr>
        <p:spPr/>
        <p:txBody>
          <a:bodyPr/>
          <a:lstStyle/>
          <a:p>
            <a:pPr algn="r"/>
            <a:endParaRPr lang="en-IN" b="1" dirty="0"/>
          </a:p>
          <a:p>
            <a:pPr algn="r"/>
            <a:r>
              <a:rPr lang="en-IN" b="1" dirty="0"/>
              <a:t>Premalatha T</a:t>
            </a:r>
          </a:p>
        </p:txBody>
      </p:sp>
    </p:spTree>
    <p:extLst>
      <p:ext uri="{BB962C8B-B14F-4D97-AF65-F5344CB8AC3E}">
        <p14:creationId xmlns:p14="http://schemas.microsoft.com/office/powerpoint/2010/main" val="275552548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F263A-CCCE-3851-B209-7312D68D60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6476D-640B-BA79-632F-E4A7F30FED79}"/>
              </a:ext>
            </a:extLst>
          </p:cNvPr>
          <p:cNvSpPr>
            <a:spLocks noGrp="1"/>
          </p:cNvSpPr>
          <p:nvPr>
            <p:ph type="title"/>
          </p:nvPr>
        </p:nvSpPr>
        <p:spPr/>
        <p:txBody>
          <a:bodyPr/>
          <a:lstStyle/>
          <a:p>
            <a:pPr algn="ctr"/>
            <a:r>
              <a:rPr lang="en-IN" b="1" dirty="0"/>
              <a:t>How AI Understands Language</a:t>
            </a:r>
          </a:p>
        </p:txBody>
      </p:sp>
      <p:sp>
        <p:nvSpPr>
          <p:cNvPr id="3" name="Content Placeholder 2">
            <a:extLst>
              <a:ext uri="{FF2B5EF4-FFF2-40B4-BE49-F238E27FC236}">
                <a16:creationId xmlns:a16="http://schemas.microsoft.com/office/drawing/2014/main" id="{1F9B1612-7E33-27A3-F781-40DA8C53775C}"/>
              </a:ext>
            </a:extLst>
          </p:cNvPr>
          <p:cNvSpPr>
            <a:spLocks noGrp="1"/>
          </p:cNvSpPr>
          <p:nvPr>
            <p:ph idx="1"/>
          </p:nvPr>
        </p:nvSpPr>
        <p:spPr/>
        <p:txBody>
          <a:bodyPr/>
          <a:lstStyle/>
          <a:p>
            <a:pPr marL="0" indent="0">
              <a:buNone/>
            </a:pPr>
            <a:r>
              <a:rPr lang="en-US" b="1" dirty="0"/>
              <a:t>What Financial Product Managers Need to Know</a:t>
            </a:r>
          </a:p>
          <a:p>
            <a:pPr marL="0" indent="0">
              <a:buNone/>
            </a:pPr>
            <a:r>
              <a:rPr lang="en-US" dirty="0"/>
              <a:t>Financial products process large amounts of </a:t>
            </a:r>
            <a:r>
              <a:rPr lang="en-US" b="1" dirty="0"/>
              <a:t>language-based information</a:t>
            </a:r>
            <a:r>
              <a:rPr lang="en-US" dirty="0"/>
              <a:t>, such as:</a:t>
            </a:r>
          </a:p>
          <a:p>
            <a:r>
              <a:rPr lang="en-US" dirty="0"/>
              <a:t>policies and compliance documents</a:t>
            </a:r>
          </a:p>
          <a:p>
            <a:r>
              <a:rPr lang="en-US" dirty="0"/>
              <a:t>loan applications and forms</a:t>
            </a:r>
          </a:p>
          <a:p>
            <a:r>
              <a:rPr lang="en-US" dirty="0"/>
              <a:t>customer messages and complaints</a:t>
            </a:r>
          </a:p>
          <a:p>
            <a:r>
              <a:rPr lang="en-US" dirty="0"/>
              <a:t>contracts and invoices</a:t>
            </a:r>
          </a:p>
          <a:p>
            <a:r>
              <a:rPr lang="en-US" dirty="0"/>
              <a:t>Modern AI systems use </a:t>
            </a:r>
            <a:r>
              <a:rPr lang="en-US" b="1" dirty="0"/>
              <a:t>Large Language Models (LLMs)</a:t>
            </a:r>
            <a:r>
              <a:rPr lang="en-US" dirty="0"/>
              <a:t> to understand this information.</a:t>
            </a:r>
          </a:p>
          <a:p>
            <a:endParaRPr lang="en-IN" dirty="0"/>
          </a:p>
        </p:txBody>
      </p:sp>
    </p:spTree>
    <p:extLst>
      <p:ext uri="{BB962C8B-B14F-4D97-AF65-F5344CB8AC3E}">
        <p14:creationId xmlns:p14="http://schemas.microsoft.com/office/powerpoint/2010/main" val="1083670243"/>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EE6B3-EC04-5B20-18E6-77A2B53984A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67AE90-5F3E-A673-DA41-5C6D47419E8E}"/>
              </a:ext>
            </a:extLst>
          </p:cNvPr>
          <p:cNvSpPr>
            <a:spLocks noGrp="1"/>
          </p:cNvSpPr>
          <p:nvPr>
            <p:ph idx="1"/>
          </p:nvPr>
        </p:nvSpPr>
        <p:spPr>
          <a:xfrm>
            <a:off x="834887" y="755374"/>
            <a:ext cx="10518913" cy="5421589"/>
          </a:xfrm>
        </p:spPr>
        <p:txBody>
          <a:bodyPr/>
          <a:lstStyle/>
          <a:p>
            <a:pPr marL="0" indent="0">
              <a:buNone/>
            </a:pPr>
            <a:r>
              <a:rPr lang="en-US" dirty="0"/>
              <a:t>For Product Managers, the real question is:</a:t>
            </a:r>
          </a:p>
          <a:p>
            <a:r>
              <a:rPr lang="en-US" b="1" dirty="0"/>
              <a:t>Where can language understanding create product value without introducing regulatory risk?</a:t>
            </a:r>
            <a:endParaRPr lang="en-US" dirty="0"/>
          </a:p>
          <a:p>
            <a:pPr marL="0" indent="0">
              <a:buNone/>
            </a:pPr>
            <a:endParaRPr lang="en-US" dirty="0"/>
          </a:p>
          <a:p>
            <a:pPr marL="0" indent="0">
              <a:buNone/>
            </a:pPr>
            <a:r>
              <a:rPr lang="en-US" dirty="0"/>
              <a:t>Language AI typically performs four types of tasks:</a:t>
            </a:r>
          </a:p>
          <a:p>
            <a:r>
              <a:rPr lang="en-US" b="1" dirty="0"/>
              <a:t>Reading documents</a:t>
            </a:r>
            <a:endParaRPr lang="en-US" dirty="0"/>
          </a:p>
          <a:p>
            <a:r>
              <a:rPr lang="en-US" b="1" dirty="0"/>
              <a:t>Extracting structured information</a:t>
            </a:r>
            <a:endParaRPr lang="en-US" dirty="0"/>
          </a:p>
          <a:p>
            <a:r>
              <a:rPr lang="en-US" b="1" dirty="0"/>
              <a:t>Understanding customer intent</a:t>
            </a:r>
            <a:endParaRPr lang="en-US" dirty="0"/>
          </a:p>
          <a:p>
            <a:r>
              <a:rPr lang="en-US" b="1" dirty="0"/>
              <a:t>Generating responses or explanations</a:t>
            </a:r>
            <a:endParaRPr lang="en-US" dirty="0"/>
          </a:p>
          <a:p>
            <a:endParaRPr lang="en-IN" dirty="0"/>
          </a:p>
        </p:txBody>
      </p:sp>
    </p:spTree>
    <p:extLst>
      <p:ext uri="{BB962C8B-B14F-4D97-AF65-F5344CB8AC3E}">
        <p14:creationId xmlns:p14="http://schemas.microsoft.com/office/powerpoint/2010/main" val="398408149"/>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671F8-0706-8934-765F-81D09986B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4B201-2F67-45BA-3159-2A097972128D}"/>
              </a:ext>
            </a:extLst>
          </p:cNvPr>
          <p:cNvSpPr>
            <a:spLocks noGrp="1"/>
          </p:cNvSpPr>
          <p:nvPr>
            <p:ph type="title"/>
          </p:nvPr>
        </p:nvSpPr>
        <p:spPr/>
        <p:txBody>
          <a:bodyPr/>
          <a:lstStyle/>
          <a:p>
            <a:pPr algn="ctr"/>
            <a:r>
              <a:rPr lang="en-US" b="1" dirty="0"/>
              <a:t>How AI Interprets Policies and Rules</a:t>
            </a:r>
            <a:endParaRPr lang="en-IN" b="1" dirty="0"/>
          </a:p>
        </p:txBody>
      </p:sp>
      <p:sp>
        <p:nvSpPr>
          <p:cNvPr id="3" name="Content Placeholder 2">
            <a:extLst>
              <a:ext uri="{FF2B5EF4-FFF2-40B4-BE49-F238E27FC236}">
                <a16:creationId xmlns:a16="http://schemas.microsoft.com/office/drawing/2014/main" id="{E1F9C129-E6D9-14F1-4D04-F0A887847330}"/>
              </a:ext>
            </a:extLst>
          </p:cNvPr>
          <p:cNvSpPr>
            <a:spLocks noGrp="1"/>
          </p:cNvSpPr>
          <p:nvPr>
            <p:ph idx="1"/>
          </p:nvPr>
        </p:nvSpPr>
        <p:spPr/>
        <p:txBody>
          <a:bodyPr/>
          <a:lstStyle/>
          <a:p>
            <a:pPr marL="0" indent="0">
              <a:buNone/>
            </a:pPr>
            <a:r>
              <a:rPr lang="en-US" dirty="0"/>
              <a:t>Financial organizations rely heavily on </a:t>
            </a:r>
            <a:r>
              <a:rPr lang="en-US" b="1" dirty="0"/>
              <a:t>written policies and regulatory guidelines</a:t>
            </a:r>
            <a:r>
              <a:rPr lang="en-US" dirty="0"/>
              <a:t>.</a:t>
            </a:r>
          </a:p>
          <a:p>
            <a:pPr marL="0" indent="0">
              <a:buNone/>
            </a:pPr>
            <a:endParaRPr lang="en-US" dirty="0"/>
          </a:p>
          <a:p>
            <a:pPr marL="0" indent="0">
              <a:buNone/>
            </a:pPr>
            <a:r>
              <a:rPr lang="en-US" dirty="0"/>
              <a:t>Examples include:</a:t>
            </a:r>
          </a:p>
          <a:p>
            <a:r>
              <a:rPr lang="en-US" dirty="0"/>
              <a:t>credit approval rules</a:t>
            </a:r>
          </a:p>
          <a:p>
            <a:r>
              <a:rPr lang="en-US" dirty="0"/>
              <a:t>expense reimbursement policies</a:t>
            </a:r>
          </a:p>
          <a:p>
            <a:r>
              <a:rPr lang="en-US" dirty="0"/>
              <a:t>compliance procedures</a:t>
            </a:r>
          </a:p>
          <a:p>
            <a:r>
              <a:rPr lang="en-US" dirty="0"/>
              <a:t>anti-money laundering (AML) guidelines</a:t>
            </a:r>
          </a:p>
          <a:p>
            <a:endParaRPr lang="en-IN" dirty="0"/>
          </a:p>
        </p:txBody>
      </p:sp>
    </p:spTree>
    <p:extLst>
      <p:ext uri="{BB962C8B-B14F-4D97-AF65-F5344CB8AC3E}">
        <p14:creationId xmlns:p14="http://schemas.microsoft.com/office/powerpoint/2010/main" val="4242142544"/>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6AF37-0B8D-FCF8-86E7-508C672677A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7831B7-DFA6-9A10-1FE7-CBDB47592F86}"/>
              </a:ext>
            </a:extLst>
          </p:cNvPr>
          <p:cNvSpPr>
            <a:spLocks noGrp="1"/>
          </p:cNvSpPr>
          <p:nvPr>
            <p:ph idx="1"/>
          </p:nvPr>
        </p:nvSpPr>
        <p:spPr>
          <a:xfrm>
            <a:off x="775252" y="606287"/>
            <a:ext cx="10578548" cy="5570676"/>
          </a:xfrm>
        </p:spPr>
        <p:txBody>
          <a:bodyPr/>
          <a:lstStyle/>
          <a:p>
            <a:pPr marL="0" indent="0">
              <a:buNone/>
            </a:pPr>
            <a:r>
              <a:rPr lang="en-US" b="1" dirty="0"/>
              <a:t>Real Product Example</a:t>
            </a:r>
          </a:p>
          <a:p>
            <a:r>
              <a:rPr lang="en-US" dirty="0"/>
              <a:t>An internal employee assistant may receive a question like:</a:t>
            </a:r>
          </a:p>
          <a:p>
            <a:r>
              <a:rPr lang="en-US" i="1" dirty="0"/>
              <a:t>"What documents are required for approving a corporate loan above ₹50 lakhs?"</a:t>
            </a:r>
            <a:endParaRPr lang="en-US" dirty="0"/>
          </a:p>
          <a:p>
            <a:r>
              <a:rPr lang="en-US" dirty="0"/>
              <a:t>The AI system:</a:t>
            </a:r>
          </a:p>
          <a:p>
            <a:r>
              <a:rPr lang="en-US" dirty="0"/>
              <a:t>searches policy documents</a:t>
            </a:r>
          </a:p>
          <a:p>
            <a:r>
              <a:rPr lang="en-US" dirty="0"/>
              <a:t>identifies relevant sections</a:t>
            </a:r>
          </a:p>
          <a:p>
            <a:r>
              <a:rPr lang="en-US" dirty="0"/>
              <a:t>summarizes the requirement</a:t>
            </a:r>
          </a:p>
          <a:p>
            <a:endParaRPr lang="en-IN" dirty="0"/>
          </a:p>
        </p:txBody>
      </p:sp>
    </p:spTree>
    <p:extLst>
      <p:ext uri="{BB962C8B-B14F-4D97-AF65-F5344CB8AC3E}">
        <p14:creationId xmlns:p14="http://schemas.microsoft.com/office/powerpoint/2010/main" val="2651751786"/>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1B1B2-DE1B-E096-A2B8-ECDE75970DF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5B3FC1-348F-9145-7679-7041ACBB5FCC}"/>
              </a:ext>
            </a:extLst>
          </p:cNvPr>
          <p:cNvSpPr>
            <a:spLocks noGrp="1"/>
          </p:cNvSpPr>
          <p:nvPr>
            <p:ph idx="1"/>
          </p:nvPr>
        </p:nvSpPr>
        <p:spPr>
          <a:xfrm>
            <a:off x="695739" y="685800"/>
            <a:ext cx="10658061" cy="5491163"/>
          </a:xfrm>
        </p:spPr>
        <p:txBody>
          <a:bodyPr>
            <a:normAutofit/>
          </a:bodyPr>
          <a:lstStyle/>
          <a:p>
            <a:pPr marL="0" indent="0">
              <a:lnSpc>
                <a:spcPct val="150000"/>
              </a:lnSpc>
              <a:buNone/>
            </a:pPr>
            <a:r>
              <a:rPr lang="en-US" dirty="0"/>
              <a:t>Example response:</a:t>
            </a:r>
          </a:p>
          <a:p>
            <a:pPr>
              <a:lnSpc>
                <a:spcPct val="150000"/>
              </a:lnSpc>
            </a:pPr>
            <a:r>
              <a:rPr lang="en-US" i="1" dirty="0"/>
              <a:t>"Corporate loans above ₹50 lakhs require financial statements, credit history verification, and approval from the regional credit committee."</a:t>
            </a:r>
            <a:endParaRPr lang="en-US" dirty="0"/>
          </a:p>
          <a:p>
            <a:pPr marL="0" indent="0">
              <a:lnSpc>
                <a:spcPct val="150000"/>
              </a:lnSpc>
              <a:buNone/>
            </a:pPr>
            <a:r>
              <a:rPr lang="en-US" b="1" dirty="0"/>
              <a:t>PM Design Consideration</a:t>
            </a:r>
          </a:p>
          <a:p>
            <a:pPr>
              <a:lnSpc>
                <a:spcPct val="150000"/>
              </a:lnSpc>
            </a:pPr>
            <a:r>
              <a:rPr lang="en-US" dirty="0"/>
              <a:t>Policy interpretation must be </a:t>
            </a:r>
            <a:r>
              <a:rPr lang="en-US" b="1" dirty="0"/>
              <a:t>restricted to verified knowledge sources</a:t>
            </a:r>
            <a:r>
              <a:rPr lang="en-US" dirty="0"/>
              <a:t>, because incorrect responses may lead to </a:t>
            </a:r>
            <a:r>
              <a:rPr lang="en-US" b="1" dirty="0"/>
              <a:t>regulatory violations</a:t>
            </a:r>
            <a:r>
              <a:rPr lang="en-US" dirty="0"/>
              <a:t>.</a:t>
            </a:r>
          </a:p>
          <a:p>
            <a:pPr>
              <a:lnSpc>
                <a:spcPct val="150000"/>
              </a:lnSpc>
            </a:pPr>
            <a:endParaRPr lang="en-IN" dirty="0"/>
          </a:p>
        </p:txBody>
      </p:sp>
    </p:spTree>
    <p:extLst>
      <p:ext uri="{BB962C8B-B14F-4D97-AF65-F5344CB8AC3E}">
        <p14:creationId xmlns:p14="http://schemas.microsoft.com/office/powerpoint/2010/main" val="198455634"/>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CFFC8-F8ED-F228-85A1-BA136B2299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948590-E1E8-59BB-518E-DB49374CF0BD}"/>
              </a:ext>
            </a:extLst>
          </p:cNvPr>
          <p:cNvSpPr>
            <a:spLocks noGrp="1"/>
          </p:cNvSpPr>
          <p:nvPr>
            <p:ph type="title"/>
          </p:nvPr>
        </p:nvSpPr>
        <p:spPr/>
        <p:txBody>
          <a:bodyPr/>
          <a:lstStyle/>
          <a:p>
            <a:pPr algn="ctr"/>
            <a:r>
              <a:rPr lang="en-US" b="1" dirty="0"/>
              <a:t>How AI Reads Forms and Financial Documents</a:t>
            </a:r>
            <a:endParaRPr lang="en-IN" b="1" dirty="0"/>
          </a:p>
        </p:txBody>
      </p:sp>
      <p:sp>
        <p:nvSpPr>
          <p:cNvPr id="3" name="Content Placeholder 2">
            <a:extLst>
              <a:ext uri="{FF2B5EF4-FFF2-40B4-BE49-F238E27FC236}">
                <a16:creationId xmlns:a16="http://schemas.microsoft.com/office/drawing/2014/main" id="{F129883E-381C-5163-6E9F-299BBD011AEA}"/>
              </a:ext>
            </a:extLst>
          </p:cNvPr>
          <p:cNvSpPr>
            <a:spLocks noGrp="1"/>
          </p:cNvSpPr>
          <p:nvPr>
            <p:ph idx="1"/>
          </p:nvPr>
        </p:nvSpPr>
        <p:spPr/>
        <p:txBody>
          <a:bodyPr/>
          <a:lstStyle/>
          <a:p>
            <a:r>
              <a:rPr lang="en-US" dirty="0"/>
              <a:t>Many financial workflows depend on </a:t>
            </a:r>
            <a:r>
              <a:rPr lang="en-US" b="1" dirty="0"/>
              <a:t>documents that contain both text and structured information</a:t>
            </a:r>
            <a:r>
              <a:rPr lang="en-US" dirty="0"/>
              <a:t>, such as:</a:t>
            </a:r>
          </a:p>
          <a:p>
            <a:r>
              <a:rPr lang="en-US" dirty="0"/>
              <a:t>loan applications</a:t>
            </a:r>
          </a:p>
          <a:p>
            <a:r>
              <a:rPr lang="en-US" dirty="0"/>
              <a:t>invoices</a:t>
            </a:r>
          </a:p>
          <a:p>
            <a:r>
              <a:rPr lang="en-US" dirty="0"/>
              <a:t>KYC documents</a:t>
            </a:r>
          </a:p>
          <a:p>
            <a:r>
              <a:rPr lang="en-US" dirty="0"/>
              <a:t>insurance claims</a:t>
            </a:r>
          </a:p>
          <a:p>
            <a:r>
              <a:rPr lang="en-US" dirty="0"/>
              <a:t>AI systems can read these documents and extract key information.</a:t>
            </a:r>
          </a:p>
          <a:p>
            <a:endParaRPr lang="en-IN" dirty="0"/>
          </a:p>
        </p:txBody>
      </p:sp>
    </p:spTree>
    <p:extLst>
      <p:ext uri="{BB962C8B-B14F-4D97-AF65-F5344CB8AC3E}">
        <p14:creationId xmlns:p14="http://schemas.microsoft.com/office/powerpoint/2010/main" val="3072458995"/>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61A30-69BF-9519-860E-32782FE5495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DAEBE4-2E76-DCB2-A36E-5FB0CE6DBE8A}"/>
              </a:ext>
            </a:extLst>
          </p:cNvPr>
          <p:cNvSpPr>
            <a:spLocks noGrp="1"/>
          </p:cNvSpPr>
          <p:nvPr>
            <p:ph idx="1"/>
          </p:nvPr>
        </p:nvSpPr>
        <p:spPr>
          <a:xfrm>
            <a:off x="815009" y="675861"/>
            <a:ext cx="10538791" cy="5501102"/>
          </a:xfrm>
        </p:spPr>
        <p:txBody>
          <a:bodyPr/>
          <a:lstStyle/>
          <a:p>
            <a:pPr marL="0" indent="0">
              <a:buNone/>
            </a:pPr>
            <a:r>
              <a:rPr lang="en-US" b="1" dirty="0"/>
              <a:t>Real Product Example</a:t>
            </a:r>
          </a:p>
          <a:p>
            <a:pPr marL="0" indent="0">
              <a:buNone/>
            </a:pPr>
            <a:endParaRPr lang="en-US" dirty="0"/>
          </a:p>
          <a:p>
            <a:pPr marL="0" indent="0">
              <a:buNone/>
            </a:pPr>
            <a:r>
              <a:rPr lang="en-US" dirty="0"/>
              <a:t>In a </a:t>
            </a:r>
            <a:r>
              <a:rPr lang="en-US" b="1" dirty="0"/>
              <a:t>loan processing system</a:t>
            </a:r>
            <a:r>
              <a:rPr lang="en-US" dirty="0"/>
              <a:t>, AI may read an uploaded loan application and extract:</a:t>
            </a:r>
          </a:p>
          <a:p>
            <a:r>
              <a:rPr lang="en-US" dirty="0"/>
              <a:t>applicant name</a:t>
            </a:r>
          </a:p>
          <a:p>
            <a:r>
              <a:rPr lang="en-US" dirty="0"/>
              <a:t>monthly income</a:t>
            </a:r>
          </a:p>
          <a:p>
            <a:r>
              <a:rPr lang="en-US" dirty="0"/>
              <a:t>requested loan amount</a:t>
            </a:r>
          </a:p>
          <a:p>
            <a:r>
              <a:rPr lang="en-US" dirty="0"/>
              <a:t>employment type</a:t>
            </a:r>
          </a:p>
          <a:p>
            <a:endParaRPr lang="en-IN" dirty="0"/>
          </a:p>
        </p:txBody>
      </p:sp>
    </p:spTree>
    <p:extLst>
      <p:ext uri="{BB962C8B-B14F-4D97-AF65-F5344CB8AC3E}">
        <p14:creationId xmlns:p14="http://schemas.microsoft.com/office/powerpoint/2010/main" val="1217662497"/>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8529E-73AE-8113-3284-0B6D1D1F0D3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247504-26AB-D416-BD1C-0C17A192ED18}"/>
              </a:ext>
            </a:extLst>
          </p:cNvPr>
          <p:cNvSpPr>
            <a:spLocks noGrp="1"/>
          </p:cNvSpPr>
          <p:nvPr>
            <p:ph idx="1"/>
          </p:nvPr>
        </p:nvSpPr>
        <p:spPr>
          <a:xfrm>
            <a:off x="844826" y="735496"/>
            <a:ext cx="10508974" cy="5441467"/>
          </a:xfrm>
        </p:spPr>
        <p:txBody>
          <a:bodyPr/>
          <a:lstStyle/>
          <a:p>
            <a:pPr marL="0" indent="0">
              <a:buNone/>
            </a:pPr>
            <a:r>
              <a:rPr lang="en-US" dirty="0"/>
              <a:t>Example output:</a:t>
            </a:r>
          </a:p>
          <a:p>
            <a:r>
              <a:rPr lang="en-US" dirty="0"/>
              <a:t>Applicant Income: ₹75,000/month</a:t>
            </a:r>
            <a:br>
              <a:rPr lang="en-US" dirty="0"/>
            </a:br>
            <a:r>
              <a:rPr lang="en-US" dirty="0"/>
              <a:t>Requested Loan: ₹8,00,000</a:t>
            </a:r>
            <a:br>
              <a:rPr lang="en-US" dirty="0"/>
            </a:br>
            <a:r>
              <a:rPr lang="en-US" dirty="0"/>
              <a:t>Employment Type: Salaried</a:t>
            </a:r>
          </a:p>
          <a:p>
            <a:r>
              <a:rPr lang="en-US" dirty="0"/>
              <a:t>This allows the system to automatically populate fields and reduce manual entry.</a:t>
            </a:r>
          </a:p>
          <a:p>
            <a:pPr marL="0" indent="0">
              <a:buNone/>
            </a:pPr>
            <a:endParaRPr lang="en-US" dirty="0"/>
          </a:p>
          <a:p>
            <a:r>
              <a:rPr lang="en-US" b="1" dirty="0"/>
              <a:t>PM Design Consideration</a:t>
            </a:r>
          </a:p>
          <a:p>
            <a:r>
              <a:rPr lang="en-US" dirty="0"/>
              <a:t>AI extraction should be </a:t>
            </a:r>
            <a:r>
              <a:rPr lang="en-US" b="1" dirty="0"/>
              <a:t>combined with validation rules</a:t>
            </a:r>
            <a:r>
              <a:rPr lang="en-US" dirty="0"/>
              <a:t>, because incorrect data extraction may affect financial decisions.</a:t>
            </a:r>
          </a:p>
          <a:p>
            <a:endParaRPr lang="en-IN" dirty="0"/>
          </a:p>
        </p:txBody>
      </p:sp>
    </p:spTree>
    <p:extLst>
      <p:ext uri="{BB962C8B-B14F-4D97-AF65-F5344CB8AC3E}">
        <p14:creationId xmlns:p14="http://schemas.microsoft.com/office/powerpoint/2010/main" val="2159381624"/>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97898-AC06-CF5C-D1E2-3D7FAC4752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8AE0FA-AA1C-2628-CE51-A65D2A557D23}"/>
              </a:ext>
            </a:extLst>
          </p:cNvPr>
          <p:cNvSpPr>
            <a:spLocks noGrp="1"/>
          </p:cNvSpPr>
          <p:nvPr>
            <p:ph type="title"/>
          </p:nvPr>
        </p:nvSpPr>
        <p:spPr/>
        <p:txBody>
          <a:bodyPr/>
          <a:lstStyle/>
          <a:p>
            <a:pPr algn="ctr"/>
            <a:r>
              <a:rPr lang="en-US" b="1" dirty="0"/>
              <a:t>How AI Understands Customer Intent</a:t>
            </a:r>
            <a:endParaRPr lang="en-IN" b="1" dirty="0"/>
          </a:p>
        </p:txBody>
      </p:sp>
      <p:sp>
        <p:nvSpPr>
          <p:cNvPr id="3" name="Content Placeholder 2">
            <a:extLst>
              <a:ext uri="{FF2B5EF4-FFF2-40B4-BE49-F238E27FC236}">
                <a16:creationId xmlns:a16="http://schemas.microsoft.com/office/drawing/2014/main" id="{9A408C42-E1D0-1AA2-32DC-3B09CC09ED9E}"/>
              </a:ext>
            </a:extLst>
          </p:cNvPr>
          <p:cNvSpPr>
            <a:spLocks noGrp="1"/>
          </p:cNvSpPr>
          <p:nvPr>
            <p:ph idx="1"/>
          </p:nvPr>
        </p:nvSpPr>
        <p:spPr/>
        <p:txBody>
          <a:bodyPr>
            <a:normAutofit/>
          </a:bodyPr>
          <a:lstStyle/>
          <a:p>
            <a:pPr>
              <a:lnSpc>
                <a:spcPct val="120000"/>
              </a:lnSpc>
            </a:pPr>
            <a:r>
              <a:rPr lang="en-US" dirty="0"/>
              <a:t>When customers interact with financial products, their messages usually represent </a:t>
            </a:r>
            <a:r>
              <a:rPr lang="en-US" b="1" dirty="0"/>
              <a:t>specific intents</a:t>
            </a:r>
            <a:r>
              <a:rPr lang="en-US" dirty="0"/>
              <a:t>.</a:t>
            </a:r>
          </a:p>
          <a:p>
            <a:pPr>
              <a:lnSpc>
                <a:spcPct val="120000"/>
              </a:lnSpc>
            </a:pPr>
            <a:r>
              <a:rPr lang="en-US" dirty="0"/>
              <a:t>Intent refers to </a:t>
            </a:r>
            <a:r>
              <a:rPr lang="en-US" b="1" dirty="0"/>
              <a:t>what the user is trying to achieve</a:t>
            </a:r>
            <a:r>
              <a:rPr lang="en-US" dirty="0"/>
              <a:t>.</a:t>
            </a:r>
          </a:p>
          <a:p>
            <a:pPr>
              <a:lnSpc>
                <a:spcPct val="120000"/>
              </a:lnSpc>
            </a:pPr>
            <a:r>
              <a:rPr lang="en-US" b="1" dirty="0"/>
              <a:t>Example Customer Messages</a:t>
            </a:r>
          </a:p>
          <a:p>
            <a:pPr>
              <a:lnSpc>
                <a:spcPct val="120000"/>
              </a:lnSpc>
            </a:pPr>
            <a:r>
              <a:rPr lang="en-US" dirty="0"/>
              <a:t>"I want to dispute a transaction."</a:t>
            </a:r>
            <a:br>
              <a:rPr lang="en-US" dirty="0"/>
            </a:br>
            <a:r>
              <a:rPr lang="en-US" dirty="0"/>
              <a:t>"Why was my payment declined?"</a:t>
            </a:r>
            <a:br>
              <a:rPr lang="en-US" dirty="0"/>
            </a:br>
            <a:r>
              <a:rPr lang="en-US" dirty="0"/>
              <a:t>"How can I increase my credit limit?"</a:t>
            </a:r>
          </a:p>
          <a:p>
            <a:pPr>
              <a:lnSpc>
                <a:spcPct val="120000"/>
              </a:lnSpc>
            </a:pPr>
            <a:endParaRPr lang="en-IN" dirty="0"/>
          </a:p>
        </p:txBody>
      </p:sp>
    </p:spTree>
    <p:extLst>
      <p:ext uri="{BB962C8B-B14F-4D97-AF65-F5344CB8AC3E}">
        <p14:creationId xmlns:p14="http://schemas.microsoft.com/office/powerpoint/2010/main" val="387580779"/>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EF45D-A0FE-DDFA-3276-1998C52425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F99671-5DD6-367F-DBB6-E3AC60CB7AF7}"/>
              </a:ext>
            </a:extLst>
          </p:cNvPr>
          <p:cNvSpPr>
            <a:spLocks noGrp="1"/>
          </p:cNvSpPr>
          <p:nvPr>
            <p:ph idx="1"/>
          </p:nvPr>
        </p:nvSpPr>
        <p:spPr/>
        <p:txBody>
          <a:bodyPr/>
          <a:lstStyle/>
          <a:p>
            <a:r>
              <a:rPr lang="en-US" dirty="0"/>
              <a:t>AI systems classify these queries into intents such as:</a:t>
            </a:r>
          </a:p>
          <a:p>
            <a:r>
              <a:rPr lang="en-US" dirty="0"/>
              <a:t>transaction dispute</a:t>
            </a:r>
          </a:p>
          <a:p>
            <a:r>
              <a:rPr lang="en-US" dirty="0"/>
              <a:t>payment failure</a:t>
            </a:r>
          </a:p>
          <a:p>
            <a:r>
              <a:rPr lang="en-US" dirty="0"/>
              <a:t>credit limit request</a:t>
            </a:r>
          </a:p>
          <a:p>
            <a:endParaRPr lang="en-IN" dirty="0"/>
          </a:p>
        </p:txBody>
      </p:sp>
    </p:spTree>
    <p:extLst>
      <p:ext uri="{BB962C8B-B14F-4D97-AF65-F5344CB8AC3E}">
        <p14:creationId xmlns:p14="http://schemas.microsoft.com/office/powerpoint/2010/main" val="2399596333"/>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BDBE5-82EA-99A9-7032-FABB79FB2857}"/>
              </a:ext>
            </a:extLst>
          </p:cNvPr>
          <p:cNvSpPr>
            <a:spLocks noGrp="1"/>
          </p:cNvSpPr>
          <p:nvPr>
            <p:ph type="title"/>
          </p:nvPr>
        </p:nvSpPr>
        <p:spPr/>
        <p:txBody>
          <a:bodyPr/>
          <a:lstStyle/>
          <a:p>
            <a:pPr algn="ctr"/>
            <a:r>
              <a:rPr lang="en-IN" b="1" dirty="0"/>
              <a:t>Step-by-Step Process</a:t>
            </a:r>
          </a:p>
        </p:txBody>
      </p:sp>
      <p:sp>
        <p:nvSpPr>
          <p:cNvPr id="3" name="Content Placeholder 2">
            <a:extLst>
              <a:ext uri="{FF2B5EF4-FFF2-40B4-BE49-F238E27FC236}">
                <a16:creationId xmlns:a16="http://schemas.microsoft.com/office/drawing/2014/main" id="{C1DDB4F7-4C86-DD59-3AD7-97EB746EAF5E}"/>
              </a:ext>
            </a:extLst>
          </p:cNvPr>
          <p:cNvSpPr>
            <a:spLocks noGrp="1"/>
          </p:cNvSpPr>
          <p:nvPr>
            <p:ph idx="1"/>
          </p:nvPr>
        </p:nvSpPr>
        <p:spPr/>
        <p:txBody>
          <a:bodyPr>
            <a:normAutofit fontScale="92500" lnSpcReduction="20000"/>
          </a:bodyPr>
          <a:lstStyle/>
          <a:p>
            <a:r>
              <a:rPr lang="en-US" b="1" dirty="0"/>
              <a:t>1. User Sends a Message</a:t>
            </a:r>
          </a:p>
          <a:p>
            <a:r>
              <a:rPr lang="en-US" dirty="0"/>
              <a:t>Example:</a:t>
            </a:r>
          </a:p>
          <a:p>
            <a:r>
              <a:rPr lang="en-US" dirty="0"/>
              <a:t>“My card was charged twice. Please help.”</a:t>
            </a:r>
          </a:p>
          <a:p>
            <a:endParaRPr lang="en-IN" dirty="0"/>
          </a:p>
          <a:p>
            <a:r>
              <a:rPr lang="en-US" b="1" dirty="0"/>
              <a:t>Text Processing</a:t>
            </a:r>
          </a:p>
          <a:p>
            <a:r>
              <a:rPr lang="en-US" dirty="0"/>
              <a:t>The system cleans and processes the text:</a:t>
            </a:r>
          </a:p>
          <a:p>
            <a:r>
              <a:rPr lang="en-US" dirty="0"/>
              <a:t>remove punctuation</a:t>
            </a:r>
          </a:p>
          <a:p>
            <a:r>
              <a:rPr lang="en-US" dirty="0"/>
              <a:t>tokenize words</a:t>
            </a:r>
          </a:p>
          <a:p>
            <a:r>
              <a:rPr lang="en-US" dirty="0"/>
              <a:t>normalize language</a:t>
            </a:r>
          </a:p>
          <a:p>
            <a:r>
              <a:rPr lang="en-US" dirty="0"/>
              <a:t>Example processed text:</a:t>
            </a:r>
          </a:p>
          <a:p>
            <a:endParaRPr lang="en-IN" dirty="0"/>
          </a:p>
        </p:txBody>
      </p:sp>
    </p:spTree>
    <p:extLst>
      <p:ext uri="{BB962C8B-B14F-4D97-AF65-F5344CB8AC3E}">
        <p14:creationId xmlns:p14="http://schemas.microsoft.com/office/powerpoint/2010/main" val="2722710683"/>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DDC64-2AB8-FC79-91E5-E7FF62F9134F}"/>
              </a:ext>
            </a:extLst>
          </p:cNvPr>
          <p:cNvSpPr>
            <a:spLocks noGrp="1"/>
          </p:cNvSpPr>
          <p:nvPr>
            <p:ph type="title"/>
          </p:nvPr>
        </p:nvSpPr>
        <p:spPr/>
        <p:txBody>
          <a:bodyPr/>
          <a:lstStyle/>
          <a:p>
            <a:pPr algn="ctr"/>
            <a:r>
              <a:rPr lang="en-IN" b="1" dirty="0"/>
              <a:t>Step-by-Step Process</a:t>
            </a:r>
            <a:endParaRPr lang="en-IN" dirty="0"/>
          </a:p>
        </p:txBody>
      </p:sp>
      <p:sp>
        <p:nvSpPr>
          <p:cNvPr id="3" name="Content Placeholder 2">
            <a:extLst>
              <a:ext uri="{FF2B5EF4-FFF2-40B4-BE49-F238E27FC236}">
                <a16:creationId xmlns:a16="http://schemas.microsoft.com/office/drawing/2014/main" id="{A6266E62-E676-57A2-A988-E544DBEE88C2}"/>
              </a:ext>
            </a:extLst>
          </p:cNvPr>
          <p:cNvSpPr>
            <a:spLocks noGrp="1"/>
          </p:cNvSpPr>
          <p:nvPr>
            <p:ph idx="1"/>
          </p:nvPr>
        </p:nvSpPr>
        <p:spPr/>
        <p:txBody>
          <a:bodyPr/>
          <a:lstStyle/>
          <a:p>
            <a:r>
              <a:rPr lang="en-US" b="1" dirty="0"/>
              <a:t>Feature Extraction</a:t>
            </a:r>
          </a:p>
          <a:p>
            <a:r>
              <a:rPr lang="en-US" dirty="0"/>
              <a:t>The system converts text into numerical representations.</a:t>
            </a:r>
          </a:p>
          <a:p>
            <a:r>
              <a:rPr lang="en-US" dirty="0"/>
              <a:t>Common methods:</a:t>
            </a:r>
          </a:p>
          <a:p>
            <a:r>
              <a:rPr lang="en-US" dirty="0"/>
              <a:t>TF-IDF</a:t>
            </a:r>
          </a:p>
          <a:p>
            <a:r>
              <a:rPr lang="en-US" dirty="0"/>
              <a:t>word embeddings</a:t>
            </a:r>
          </a:p>
          <a:p>
            <a:r>
              <a:rPr lang="en-US" dirty="0"/>
              <a:t>sentence embeddings</a:t>
            </a:r>
          </a:p>
          <a:p>
            <a:r>
              <a:rPr lang="en-US" dirty="0"/>
              <a:t>Example representation:</a:t>
            </a:r>
          </a:p>
          <a:p>
            <a:r>
              <a:rPr lang="en-US" dirty="0"/>
              <a:t>[0.12, 0.87, 0.34, 0.56 ...]</a:t>
            </a:r>
          </a:p>
          <a:p>
            <a:endParaRPr lang="en-IN" dirty="0"/>
          </a:p>
        </p:txBody>
      </p:sp>
    </p:spTree>
    <p:extLst>
      <p:ext uri="{BB962C8B-B14F-4D97-AF65-F5344CB8AC3E}">
        <p14:creationId xmlns:p14="http://schemas.microsoft.com/office/powerpoint/2010/main" val="1835778685"/>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54E3C-8205-3F93-357A-724D2B4A73B7}"/>
              </a:ext>
            </a:extLst>
          </p:cNvPr>
          <p:cNvSpPr>
            <a:spLocks noGrp="1"/>
          </p:cNvSpPr>
          <p:nvPr>
            <p:ph type="title"/>
          </p:nvPr>
        </p:nvSpPr>
        <p:spPr/>
        <p:txBody>
          <a:bodyPr/>
          <a:lstStyle/>
          <a:p>
            <a:pPr algn="ctr"/>
            <a:r>
              <a:rPr lang="en-IN" b="1" dirty="0"/>
              <a:t>Step-by-Step Process</a:t>
            </a:r>
            <a:endParaRPr lang="en-IN" dirty="0"/>
          </a:p>
        </p:txBody>
      </p:sp>
      <p:sp>
        <p:nvSpPr>
          <p:cNvPr id="3" name="Content Placeholder 2">
            <a:extLst>
              <a:ext uri="{FF2B5EF4-FFF2-40B4-BE49-F238E27FC236}">
                <a16:creationId xmlns:a16="http://schemas.microsoft.com/office/drawing/2014/main" id="{38EE658D-96F1-00E1-D233-89020593987F}"/>
              </a:ext>
            </a:extLst>
          </p:cNvPr>
          <p:cNvSpPr>
            <a:spLocks noGrp="1"/>
          </p:cNvSpPr>
          <p:nvPr>
            <p:ph idx="1"/>
          </p:nvPr>
        </p:nvSpPr>
        <p:spPr/>
        <p:txBody>
          <a:bodyPr/>
          <a:lstStyle/>
          <a:p>
            <a:r>
              <a:rPr lang="en-US" b="1" dirty="0"/>
              <a:t>Classification Model</a:t>
            </a:r>
          </a:p>
          <a:p>
            <a:r>
              <a:rPr lang="en-US" dirty="0"/>
              <a:t>A machine learning model predicts the </a:t>
            </a:r>
            <a:r>
              <a:rPr lang="en-US" b="1" dirty="0"/>
              <a:t>intent category</a:t>
            </a:r>
            <a:r>
              <a:rPr lang="en-US" dirty="0"/>
              <a:t>.</a:t>
            </a:r>
          </a:p>
          <a:p>
            <a:r>
              <a:rPr lang="en-US" dirty="0"/>
              <a:t>Common models:</a:t>
            </a:r>
          </a:p>
          <a:p>
            <a:r>
              <a:rPr lang="en-US" dirty="0"/>
              <a:t>Logistic Regression</a:t>
            </a:r>
          </a:p>
          <a:p>
            <a:r>
              <a:rPr lang="en-US" dirty="0"/>
              <a:t>Naive Bayes</a:t>
            </a:r>
          </a:p>
          <a:p>
            <a:r>
              <a:rPr lang="en-US" dirty="0"/>
              <a:t>BERT-based models</a:t>
            </a:r>
          </a:p>
          <a:p>
            <a:r>
              <a:rPr lang="en-US" dirty="0"/>
              <a:t>Example prediction:</a:t>
            </a:r>
          </a:p>
          <a:p>
            <a:r>
              <a:rPr lang="en-US" dirty="0"/>
              <a:t>Intent = transaction dispute</a:t>
            </a:r>
          </a:p>
          <a:p>
            <a:endParaRPr lang="en-IN" dirty="0"/>
          </a:p>
        </p:txBody>
      </p:sp>
    </p:spTree>
    <p:extLst>
      <p:ext uri="{BB962C8B-B14F-4D97-AF65-F5344CB8AC3E}">
        <p14:creationId xmlns:p14="http://schemas.microsoft.com/office/powerpoint/2010/main" val="1963438671"/>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1A3B7-2B13-228D-BFCA-1EBC81F6B90E}"/>
              </a:ext>
            </a:extLst>
          </p:cNvPr>
          <p:cNvSpPr>
            <a:spLocks noGrp="1"/>
          </p:cNvSpPr>
          <p:nvPr>
            <p:ph type="title"/>
          </p:nvPr>
        </p:nvSpPr>
        <p:spPr/>
        <p:txBody>
          <a:bodyPr/>
          <a:lstStyle/>
          <a:p>
            <a:pPr algn="ctr"/>
            <a:r>
              <a:rPr lang="en-IN" b="1" dirty="0"/>
              <a:t>Step-by-Step Process</a:t>
            </a:r>
            <a:endParaRPr lang="en-IN" dirty="0"/>
          </a:p>
        </p:txBody>
      </p:sp>
      <p:sp>
        <p:nvSpPr>
          <p:cNvPr id="3" name="Content Placeholder 2">
            <a:extLst>
              <a:ext uri="{FF2B5EF4-FFF2-40B4-BE49-F238E27FC236}">
                <a16:creationId xmlns:a16="http://schemas.microsoft.com/office/drawing/2014/main" id="{DA67040D-FB93-6ADF-F139-CCBE5CFB01A2}"/>
              </a:ext>
            </a:extLst>
          </p:cNvPr>
          <p:cNvSpPr>
            <a:spLocks noGrp="1"/>
          </p:cNvSpPr>
          <p:nvPr>
            <p:ph idx="1"/>
          </p:nvPr>
        </p:nvSpPr>
        <p:spPr/>
        <p:txBody>
          <a:bodyPr/>
          <a:lstStyle/>
          <a:p>
            <a:r>
              <a:rPr lang="en-US" b="1" dirty="0"/>
              <a:t>System Triggers Workflow</a:t>
            </a:r>
          </a:p>
          <a:p>
            <a:r>
              <a:rPr lang="en-US" dirty="0"/>
              <a:t>Once the intent is identified, the system performs the next action.</a:t>
            </a:r>
          </a:p>
          <a:p>
            <a:pPr marL="0" indent="0">
              <a:buNone/>
            </a:pPr>
            <a:endParaRPr lang="en-IN" dirty="0"/>
          </a:p>
        </p:txBody>
      </p:sp>
    </p:spTree>
    <p:extLst>
      <p:ext uri="{BB962C8B-B14F-4D97-AF65-F5344CB8AC3E}">
        <p14:creationId xmlns:p14="http://schemas.microsoft.com/office/powerpoint/2010/main" val="4071336170"/>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23C5A-A608-86B9-02F2-9825695D9E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6E09D-E9F0-C6AA-3A77-550B307C232C}"/>
              </a:ext>
            </a:extLst>
          </p:cNvPr>
          <p:cNvSpPr>
            <a:spLocks noGrp="1"/>
          </p:cNvSpPr>
          <p:nvPr>
            <p:ph type="title"/>
          </p:nvPr>
        </p:nvSpPr>
        <p:spPr/>
        <p:txBody>
          <a:bodyPr/>
          <a:lstStyle/>
          <a:p>
            <a:pPr algn="ctr"/>
            <a:r>
              <a:rPr lang="en-IN" b="1" dirty="0"/>
              <a:t>Step-by-Step Process</a:t>
            </a:r>
            <a:endParaRPr lang="en-IN" dirty="0"/>
          </a:p>
        </p:txBody>
      </p:sp>
      <p:sp>
        <p:nvSpPr>
          <p:cNvPr id="3" name="Content Placeholder 2">
            <a:extLst>
              <a:ext uri="{FF2B5EF4-FFF2-40B4-BE49-F238E27FC236}">
                <a16:creationId xmlns:a16="http://schemas.microsoft.com/office/drawing/2014/main" id="{4BC30583-4981-91FA-2ED8-25540E3CF154}"/>
              </a:ext>
            </a:extLst>
          </p:cNvPr>
          <p:cNvSpPr>
            <a:spLocks noGrp="1"/>
          </p:cNvSpPr>
          <p:nvPr>
            <p:ph idx="1"/>
          </p:nvPr>
        </p:nvSpPr>
        <p:spPr/>
        <p:txBody>
          <a:bodyPr/>
          <a:lstStyle/>
          <a:p>
            <a:pPr>
              <a:lnSpc>
                <a:spcPct val="150000"/>
              </a:lnSpc>
            </a:pPr>
            <a:r>
              <a:rPr lang="en-US" dirty="0"/>
              <a:t>Intent detection improves </a:t>
            </a:r>
            <a:r>
              <a:rPr lang="en-US" b="1" dirty="0"/>
              <a:t>automation and routing</a:t>
            </a:r>
            <a:r>
              <a:rPr lang="en-US" dirty="0"/>
              <a:t>, but complex issues should still allow </a:t>
            </a:r>
            <a:r>
              <a:rPr lang="en-US" b="1" dirty="0"/>
              <a:t>human escalation</a:t>
            </a:r>
            <a:r>
              <a:rPr lang="en-US" dirty="0"/>
              <a:t>.</a:t>
            </a:r>
            <a:endParaRPr lang="en-IN" dirty="0"/>
          </a:p>
        </p:txBody>
      </p:sp>
    </p:spTree>
    <p:extLst>
      <p:ext uri="{BB962C8B-B14F-4D97-AF65-F5344CB8AC3E}">
        <p14:creationId xmlns:p14="http://schemas.microsoft.com/office/powerpoint/2010/main" val="1424984187"/>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FE619-C4DD-CB81-588E-E7A4831260F8}"/>
              </a:ext>
            </a:extLst>
          </p:cNvPr>
          <p:cNvSpPr>
            <a:spLocks noGrp="1"/>
          </p:cNvSpPr>
          <p:nvPr>
            <p:ph type="title"/>
          </p:nvPr>
        </p:nvSpPr>
        <p:spPr/>
        <p:txBody>
          <a:bodyPr/>
          <a:lstStyle/>
          <a:p>
            <a:pPr algn="ctr"/>
            <a:r>
              <a:rPr lang="en-IN" b="1" dirty="0"/>
              <a:t>Step-by-Step Process</a:t>
            </a:r>
            <a:endParaRPr lang="en-IN" dirty="0"/>
          </a:p>
        </p:txBody>
      </p:sp>
      <p:sp>
        <p:nvSpPr>
          <p:cNvPr id="3" name="Content Placeholder 2">
            <a:extLst>
              <a:ext uri="{FF2B5EF4-FFF2-40B4-BE49-F238E27FC236}">
                <a16:creationId xmlns:a16="http://schemas.microsoft.com/office/drawing/2014/main" id="{A6B4B682-C389-CC5E-D586-DA7373C145E6}"/>
              </a:ext>
            </a:extLst>
          </p:cNvPr>
          <p:cNvSpPr>
            <a:spLocks noGrp="1"/>
          </p:cNvSpPr>
          <p:nvPr>
            <p:ph idx="1"/>
          </p:nvPr>
        </p:nvSpPr>
        <p:spPr/>
        <p:txBody>
          <a:bodyPr>
            <a:normAutofit/>
          </a:bodyPr>
          <a:lstStyle/>
          <a:p>
            <a:r>
              <a:rPr lang="en-US" b="1" dirty="0"/>
              <a:t>Using LLM-Based Systems (Modern Approach)</a:t>
            </a:r>
          </a:p>
          <a:p>
            <a:r>
              <a:rPr lang="en-US" dirty="0"/>
              <a:t>With modern systems using LLMs like:</a:t>
            </a:r>
          </a:p>
          <a:p>
            <a:r>
              <a:rPr lang="en-US" dirty="0"/>
              <a:t>GPT-4</a:t>
            </a:r>
          </a:p>
          <a:p>
            <a:r>
              <a:rPr lang="en-US" dirty="0"/>
              <a:t>LLaMA</a:t>
            </a:r>
          </a:p>
          <a:p>
            <a:r>
              <a:rPr lang="en-US" dirty="0"/>
              <a:t>Mistral</a:t>
            </a:r>
          </a:p>
          <a:p>
            <a:endParaRPr lang="en-IN" dirty="0"/>
          </a:p>
        </p:txBody>
      </p:sp>
    </p:spTree>
    <p:extLst>
      <p:ext uri="{BB962C8B-B14F-4D97-AF65-F5344CB8AC3E}">
        <p14:creationId xmlns:p14="http://schemas.microsoft.com/office/powerpoint/2010/main" val="575537060"/>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CC14B-C69D-90C2-3A62-0425BFBA6786}"/>
              </a:ext>
            </a:extLst>
          </p:cNvPr>
          <p:cNvSpPr>
            <a:spLocks noGrp="1"/>
          </p:cNvSpPr>
          <p:nvPr>
            <p:ph type="title"/>
          </p:nvPr>
        </p:nvSpPr>
        <p:spPr/>
        <p:txBody>
          <a:bodyPr/>
          <a:lstStyle/>
          <a:p>
            <a:pPr algn="ctr"/>
            <a:r>
              <a:rPr lang="en-IN" b="1" dirty="0"/>
              <a:t>Step-by-Step Process</a:t>
            </a:r>
            <a:endParaRPr lang="en-IN" dirty="0"/>
          </a:p>
        </p:txBody>
      </p:sp>
      <p:sp>
        <p:nvSpPr>
          <p:cNvPr id="3" name="Content Placeholder 2">
            <a:extLst>
              <a:ext uri="{FF2B5EF4-FFF2-40B4-BE49-F238E27FC236}">
                <a16:creationId xmlns:a16="http://schemas.microsoft.com/office/drawing/2014/main" id="{EAAE0F5B-38D3-7781-3A12-348866B3DBFF}"/>
              </a:ext>
            </a:extLst>
          </p:cNvPr>
          <p:cNvSpPr>
            <a:spLocks noGrp="1"/>
          </p:cNvSpPr>
          <p:nvPr>
            <p:ph idx="1"/>
          </p:nvPr>
        </p:nvSpPr>
        <p:spPr/>
        <p:txBody>
          <a:bodyPr/>
          <a:lstStyle/>
          <a:p>
            <a:pPr marL="0" indent="0">
              <a:buNone/>
            </a:pPr>
            <a:r>
              <a:rPr lang="en-US" dirty="0"/>
              <a:t>Intent detection can be done </a:t>
            </a:r>
            <a:r>
              <a:rPr lang="en-US" b="1" dirty="0"/>
              <a:t>via prompting instead of training a model</a:t>
            </a:r>
            <a:r>
              <a:rPr lang="en-US" dirty="0"/>
              <a:t>.</a:t>
            </a:r>
          </a:p>
          <a:p>
            <a:pPr marL="0" indent="0">
              <a:buNone/>
            </a:pPr>
            <a:r>
              <a:rPr lang="en-US" dirty="0"/>
              <a:t>Example prompt:</a:t>
            </a:r>
          </a:p>
          <a:p>
            <a:r>
              <a:rPr lang="en-US" dirty="0"/>
              <a:t>Classify the user query into one of the intents:</a:t>
            </a:r>
            <a:br>
              <a:rPr lang="en-US" dirty="0"/>
            </a:br>
            <a:r>
              <a:rPr lang="en-US" dirty="0"/>
              <a:t>1. payment failure</a:t>
            </a:r>
            <a:br>
              <a:rPr lang="en-US" dirty="0"/>
            </a:br>
            <a:r>
              <a:rPr lang="en-US" dirty="0"/>
              <a:t>2. transaction dispute</a:t>
            </a:r>
            <a:br>
              <a:rPr lang="en-US" dirty="0"/>
            </a:br>
            <a:r>
              <a:rPr lang="en-US" dirty="0"/>
              <a:t>3. credit limit request</a:t>
            </a:r>
            <a:br>
              <a:rPr lang="en-US" dirty="0"/>
            </a:br>
            <a:br>
              <a:rPr lang="en-US" dirty="0"/>
            </a:br>
            <a:r>
              <a:rPr lang="en-US" dirty="0"/>
              <a:t>User query: "My payment failed yesterday"</a:t>
            </a:r>
          </a:p>
          <a:p>
            <a:pPr marL="0" indent="0">
              <a:buNone/>
            </a:pPr>
            <a:endParaRPr lang="en-IN" dirty="0"/>
          </a:p>
        </p:txBody>
      </p:sp>
    </p:spTree>
    <p:extLst>
      <p:ext uri="{BB962C8B-B14F-4D97-AF65-F5344CB8AC3E}">
        <p14:creationId xmlns:p14="http://schemas.microsoft.com/office/powerpoint/2010/main" val="1121000190"/>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D1763-0D82-91C5-FE6A-B1903E3DB0B5}"/>
              </a:ext>
            </a:extLst>
          </p:cNvPr>
          <p:cNvSpPr>
            <a:spLocks noGrp="1"/>
          </p:cNvSpPr>
          <p:nvPr>
            <p:ph type="title"/>
          </p:nvPr>
        </p:nvSpPr>
        <p:spPr/>
        <p:txBody>
          <a:bodyPr/>
          <a:lstStyle/>
          <a:p>
            <a:pPr algn="ctr"/>
            <a:r>
              <a:rPr lang="en-US" b="1" dirty="0"/>
              <a:t>How AI Detects Tone and Sentiment</a:t>
            </a:r>
            <a:endParaRPr lang="en-IN" b="1" dirty="0"/>
          </a:p>
        </p:txBody>
      </p:sp>
      <p:sp>
        <p:nvSpPr>
          <p:cNvPr id="3" name="Content Placeholder 2">
            <a:extLst>
              <a:ext uri="{FF2B5EF4-FFF2-40B4-BE49-F238E27FC236}">
                <a16:creationId xmlns:a16="http://schemas.microsoft.com/office/drawing/2014/main" id="{844A089C-7934-C0E5-AB60-17A38F91BD3B}"/>
              </a:ext>
            </a:extLst>
          </p:cNvPr>
          <p:cNvSpPr>
            <a:spLocks noGrp="1"/>
          </p:cNvSpPr>
          <p:nvPr>
            <p:ph idx="1"/>
          </p:nvPr>
        </p:nvSpPr>
        <p:spPr/>
        <p:txBody>
          <a:bodyPr/>
          <a:lstStyle/>
          <a:p>
            <a:r>
              <a:rPr lang="en-US" dirty="0"/>
              <a:t>Customer messages often contain </a:t>
            </a:r>
            <a:r>
              <a:rPr lang="en-US" b="1" dirty="0"/>
              <a:t>emotional signals</a:t>
            </a:r>
            <a:r>
              <a:rPr lang="en-US" dirty="0"/>
              <a:t> that indicate urgency or dissatisfaction.</a:t>
            </a:r>
          </a:p>
          <a:p>
            <a:r>
              <a:rPr lang="en-US" dirty="0"/>
              <a:t>Examples of emotional signals:</a:t>
            </a:r>
          </a:p>
          <a:p>
            <a:r>
              <a:rPr lang="en-US" dirty="0"/>
              <a:t>frustration</a:t>
            </a:r>
          </a:p>
          <a:p>
            <a:r>
              <a:rPr lang="en-US" dirty="0"/>
              <a:t>urgency</a:t>
            </a:r>
          </a:p>
          <a:p>
            <a:r>
              <a:rPr lang="en-US" dirty="0"/>
              <a:t>confusion</a:t>
            </a:r>
          </a:p>
          <a:p>
            <a:r>
              <a:rPr lang="en-US" dirty="0"/>
              <a:t>satisfaction</a:t>
            </a:r>
          </a:p>
          <a:p>
            <a:r>
              <a:rPr lang="en-US" dirty="0"/>
              <a:t>AI systems can analyze these signals and adjust responses accordingly.</a:t>
            </a:r>
          </a:p>
          <a:p>
            <a:endParaRPr lang="en-IN" dirty="0"/>
          </a:p>
        </p:txBody>
      </p:sp>
    </p:spTree>
    <p:extLst>
      <p:ext uri="{BB962C8B-B14F-4D97-AF65-F5344CB8AC3E}">
        <p14:creationId xmlns:p14="http://schemas.microsoft.com/office/powerpoint/2010/main" val="1273730919"/>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A4452-FA05-6466-6703-9F23F81FED1F}"/>
              </a:ext>
            </a:extLst>
          </p:cNvPr>
          <p:cNvSpPr>
            <a:spLocks noGrp="1"/>
          </p:cNvSpPr>
          <p:nvPr>
            <p:ph type="title"/>
          </p:nvPr>
        </p:nvSpPr>
        <p:spPr/>
        <p:txBody>
          <a:bodyPr/>
          <a:lstStyle/>
          <a:p>
            <a:pPr algn="ctr"/>
            <a:r>
              <a:rPr lang="en-US" b="1" dirty="0"/>
              <a:t>How AI Detects Tone and Sentiment</a:t>
            </a:r>
            <a:endParaRPr lang="en-IN" dirty="0"/>
          </a:p>
        </p:txBody>
      </p:sp>
      <p:sp>
        <p:nvSpPr>
          <p:cNvPr id="3" name="Content Placeholder 2">
            <a:extLst>
              <a:ext uri="{FF2B5EF4-FFF2-40B4-BE49-F238E27FC236}">
                <a16:creationId xmlns:a16="http://schemas.microsoft.com/office/drawing/2014/main" id="{687A4551-FC13-7511-B63C-F616D1189A21}"/>
              </a:ext>
            </a:extLst>
          </p:cNvPr>
          <p:cNvSpPr>
            <a:spLocks noGrp="1"/>
          </p:cNvSpPr>
          <p:nvPr>
            <p:ph idx="1"/>
          </p:nvPr>
        </p:nvSpPr>
        <p:spPr/>
        <p:txBody>
          <a:bodyPr/>
          <a:lstStyle/>
          <a:p>
            <a:r>
              <a:rPr lang="en-US" b="1" dirty="0"/>
              <a:t>Real Product Example</a:t>
            </a:r>
          </a:p>
          <a:p>
            <a:r>
              <a:rPr lang="en-US" dirty="0"/>
              <a:t>Customer message:</a:t>
            </a:r>
          </a:p>
          <a:p>
            <a:r>
              <a:rPr lang="en-US" i="1" dirty="0"/>
              <a:t>"I have contacted support three times and my refund is still not processed."</a:t>
            </a:r>
            <a:endParaRPr lang="en-US" dirty="0"/>
          </a:p>
          <a:p>
            <a:r>
              <a:rPr lang="en-US" dirty="0"/>
              <a:t>AI interpretation:</a:t>
            </a:r>
          </a:p>
          <a:p>
            <a:r>
              <a:rPr lang="en-US" dirty="0"/>
              <a:t>Intent: Refund inquiry</a:t>
            </a:r>
            <a:br>
              <a:rPr lang="en-US" dirty="0"/>
            </a:br>
            <a:r>
              <a:rPr lang="en-US" dirty="0"/>
              <a:t>Sentiment: Frustration</a:t>
            </a:r>
          </a:p>
          <a:p>
            <a:endParaRPr lang="en-IN" dirty="0"/>
          </a:p>
        </p:txBody>
      </p:sp>
    </p:spTree>
    <p:extLst>
      <p:ext uri="{BB962C8B-B14F-4D97-AF65-F5344CB8AC3E}">
        <p14:creationId xmlns:p14="http://schemas.microsoft.com/office/powerpoint/2010/main" val="2770823639"/>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DD273-940F-3D0C-D4A8-3F86691D3F3D}"/>
              </a:ext>
            </a:extLst>
          </p:cNvPr>
          <p:cNvSpPr>
            <a:spLocks noGrp="1"/>
          </p:cNvSpPr>
          <p:nvPr>
            <p:ph type="title"/>
          </p:nvPr>
        </p:nvSpPr>
        <p:spPr/>
        <p:txBody>
          <a:bodyPr/>
          <a:lstStyle/>
          <a:p>
            <a:pPr algn="ctr"/>
            <a:r>
              <a:rPr lang="en-US" b="1" dirty="0"/>
              <a:t>How AI Detects Tone and Sentiment</a:t>
            </a:r>
            <a:endParaRPr lang="en-IN" dirty="0"/>
          </a:p>
        </p:txBody>
      </p:sp>
      <p:sp>
        <p:nvSpPr>
          <p:cNvPr id="3" name="Content Placeholder 2">
            <a:extLst>
              <a:ext uri="{FF2B5EF4-FFF2-40B4-BE49-F238E27FC236}">
                <a16:creationId xmlns:a16="http://schemas.microsoft.com/office/drawing/2014/main" id="{BB76FA99-DCE5-CEB9-B22C-EB28A644F70D}"/>
              </a:ext>
            </a:extLst>
          </p:cNvPr>
          <p:cNvSpPr>
            <a:spLocks noGrp="1"/>
          </p:cNvSpPr>
          <p:nvPr>
            <p:ph idx="1"/>
          </p:nvPr>
        </p:nvSpPr>
        <p:spPr/>
        <p:txBody>
          <a:bodyPr/>
          <a:lstStyle/>
          <a:p>
            <a:r>
              <a:rPr lang="en-US" dirty="0"/>
              <a:t>System action:</a:t>
            </a:r>
          </a:p>
          <a:p>
            <a:r>
              <a:rPr lang="en-US" dirty="0"/>
              <a:t>prioritize ticket</a:t>
            </a:r>
          </a:p>
          <a:p>
            <a:r>
              <a:rPr lang="en-US" dirty="0"/>
              <a:t>generate empathetic response</a:t>
            </a:r>
          </a:p>
          <a:p>
            <a:r>
              <a:rPr lang="en-US" dirty="0"/>
              <a:t>escalate to support team</a:t>
            </a:r>
          </a:p>
          <a:p>
            <a:r>
              <a:rPr lang="en-US" b="1" dirty="0"/>
              <a:t>PM Design Consideration</a:t>
            </a:r>
          </a:p>
          <a:p>
            <a:r>
              <a:rPr lang="en-US" dirty="0"/>
              <a:t>Sentiment detection helps </a:t>
            </a:r>
            <a:r>
              <a:rPr lang="en-US" b="1" dirty="0"/>
              <a:t>prioritize customer issues</a:t>
            </a:r>
            <a:r>
              <a:rPr lang="en-US" dirty="0"/>
              <a:t>, improving service quality and retention.</a:t>
            </a:r>
          </a:p>
          <a:p>
            <a:endParaRPr lang="en-IN" dirty="0"/>
          </a:p>
        </p:txBody>
      </p:sp>
    </p:spTree>
    <p:extLst>
      <p:ext uri="{BB962C8B-B14F-4D97-AF65-F5344CB8AC3E}">
        <p14:creationId xmlns:p14="http://schemas.microsoft.com/office/powerpoint/2010/main" val="655672491"/>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AAF79-031F-94E1-07F4-81E4368E3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E353DA-D8E7-B1DE-3DE2-2B9953D9120B}"/>
              </a:ext>
            </a:extLst>
          </p:cNvPr>
          <p:cNvSpPr>
            <a:spLocks noGrp="1"/>
          </p:cNvSpPr>
          <p:nvPr>
            <p:ph type="title"/>
          </p:nvPr>
        </p:nvSpPr>
        <p:spPr/>
        <p:txBody>
          <a:bodyPr/>
          <a:lstStyle/>
          <a:p>
            <a:pPr algn="ctr"/>
            <a:r>
              <a:rPr lang="en-US" b="1" dirty="0"/>
              <a:t>How AI Uses Context to Understand Meaning</a:t>
            </a:r>
            <a:endParaRPr lang="en-IN" b="1" dirty="0"/>
          </a:p>
        </p:txBody>
      </p:sp>
      <p:sp>
        <p:nvSpPr>
          <p:cNvPr id="3" name="Content Placeholder 2">
            <a:extLst>
              <a:ext uri="{FF2B5EF4-FFF2-40B4-BE49-F238E27FC236}">
                <a16:creationId xmlns:a16="http://schemas.microsoft.com/office/drawing/2014/main" id="{5A5E46BE-0785-CF7A-FE8B-49A1E7BD1C5A}"/>
              </a:ext>
            </a:extLst>
          </p:cNvPr>
          <p:cNvSpPr>
            <a:spLocks noGrp="1"/>
          </p:cNvSpPr>
          <p:nvPr>
            <p:ph idx="1"/>
          </p:nvPr>
        </p:nvSpPr>
        <p:spPr/>
        <p:txBody>
          <a:bodyPr/>
          <a:lstStyle/>
          <a:p>
            <a:r>
              <a:rPr lang="en-US" dirty="0"/>
              <a:t>Understanding language requires </a:t>
            </a:r>
            <a:r>
              <a:rPr lang="en-US" b="1" dirty="0"/>
              <a:t>context</a:t>
            </a:r>
            <a:r>
              <a:rPr lang="en-US" dirty="0"/>
              <a:t>, not just text.</a:t>
            </a:r>
          </a:p>
          <a:p>
            <a:r>
              <a:rPr lang="en-US" dirty="0"/>
              <a:t>Example message:</a:t>
            </a:r>
          </a:p>
          <a:p>
            <a:r>
              <a:rPr lang="en-US" i="1" dirty="0"/>
              <a:t>"Why was this charge applied?"</a:t>
            </a:r>
            <a:endParaRPr lang="en-US" dirty="0"/>
          </a:p>
          <a:p>
            <a:r>
              <a:rPr lang="en-US" dirty="0"/>
              <a:t>Without context, the system cannot determine the cause.</a:t>
            </a:r>
          </a:p>
          <a:p>
            <a:r>
              <a:rPr lang="en-US" dirty="0"/>
              <a:t>However, if the system accesses transaction history, it may identify:</a:t>
            </a:r>
          </a:p>
          <a:p>
            <a:r>
              <a:rPr lang="en-US" dirty="0"/>
              <a:t>subscription renewal</a:t>
            </a:r>
          </a:p>
          <a:p>
            <a:r>
              <a:rPr lang="en-US" dirty="0"/>
              <a:t>service charge</a:t>
            </a:r>
          </a:p>
          <a:p>
            <a:r>
              <a:rPr lang="en-US" dirty="0"/>
              <a:t>late payment fee</a:t>
            </a:r>
          </a:p>
          <a:p>
            <a:endParaRPr lang="en-IN" dirty="0"/>
          </a:p>
        </p:txBody>
      </p:sp>
    </p:spTree>
    <p:extLst>
      <p:ext uri="{BB962C8B-B14F-4D97-AF65-F5344CB8AC3E}">
        <p14:creationId xmlns:p14="http://schemas.microsoft.com/office/powerpoint/2010/main" val="1624915904"/>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C7180-CFBB-B97D-FE9C-085E31065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5E4A90-923C-5275-E0B2-6E3085B2A28A}"/>
              </a:ext>
            </a:extLst>
          </p:cNvPr>
          <p:cNvSpPr>
            <a:spLocks noGrp="1"/>
          </p:cNvSpPr>
          <p:nvPr>
            <p:ph type="title"/>
          </p:nvPr>
        </p:nvSpPr>
        <p:spPr/>
        <p:txBody>
          <a:bodyPr/>
          <a:lstStyle/>
          <a:p>
            <a:pPr algn="ctr"/>
            <a:r>
              <a:rPr lang="en-US" b="1" dirty="0"/>
              <a:t>How AI Detects Tone and Sentiment</a:t>
            </a:r>
            <a:endParaRPr lang="en-IN" dirty="0"/>
          </a:p>
        </p:txBody>
      </p:sp>
      <p:sp>
        <p:nvSpPr>
          <p:cNvPr id="3" name="Content Placeholder 2">
            <a:extLst>
              <a:ext uri="{FF2B5EF4-FFF2-40B4-BE49-F238E27FC236}">
                <a16:creationId xmlns:a16="http://schemas.microsoft.com/office/drawing/2014/main" id="{1C5BC152-8D09-F276-71A8-98C5FD7D672A}"/>
              </a:ext>
            </a:extLst>
          </p:cNvPr>
          <p:cNvSpPr>
            <a:spLocks noGrp="1"/>
          </p:cNvSpPr>
          <p:nvPr>
            <p:ph idx="1"/>
          </p:nvPr>
        </p:nvSpPr>
        <p:spPr/>
        <p:txBody>
          <a:bodyPr/>
          <a:lstStyle/>
          <a:p>
            <a:r>
              <a:rPr lang="en-US" b="1" dirty="0"/>
              <a:t>Real Product Example</a:t>
            </a:r>
          </a:p>
          <a:p>
            <a:r>
              <a:rPr lang="en-US" dirty="0"/>
              <a:t>Customer question:</a:t>
            </a:r>
          </a:p>
          <a:p>
            <a:r>
              <a:rPr lang="en-US" i="1" dirty="0"/>
              <a:t>"Why was ₹499 deducted?"</a:t>
            </a:r>
            <a:endParaRPr lang="en-US" dirty="0"/>
          </a:p>
          <a:p>
            <a:r>
              <a:rPr lang="en-US" dirty="0"/>
              <a:t>AI system checks account history and responds:</a:t>
            </a:r>
          </a:p>
          <a:p>
            <a:r>
              <a:rPr lang="en-US" i="1" dirty="0"/>
              <a:t>"The ₹499 charge corresponds to your monthly subscription for the premium account service."</a:t>
            </a:r>
            <a:endParaRPr lang="en-US" dirty="0"/>
          </a:p>
          <a:p>
            <a:r>
              <a:rPr lang="en-US" b="1" dirty="0"/>
              <a:t>PM Design Consideration</a:t>
            </a:r>
          </a:p>
          <a:p>
            <a:r>
              <a:rPr lang="en-US" dirty="0"/>
              <a:t>Language AI works best when combined with </a:t>
            </a:r>
            <a:r>
              <a:rPr lang="en-US" b="1" dirty="0"/>
              <a:t>product data and transaction history</a:t>
            </a:r>
            <a:r>
              <a:rPr lang="en-US" dirty="0"/>
              <a:t>.</a:t>
            </a:r>
          </a:p>
          <a:p>
            <a:endParaRPr lang="en-IN" dirty="0"/>
          </a:p>
        </p:txBody>
      </p:sp>
    </p:spTree>
    <p:extLst>
      <p:ext uri="{BB962C8B-B14F-4D97-AF65-F5344CB8AC3E}">
        <p14:creationId xmlns:p14="http://schemas.microsoft.com/office/powerpoint/2010/main" val="3779282017"/>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DFFA7-C767-B8E4-10F5-75A0238F49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A588E-53E8-1164-22A6-C4AC996529FF}"/>
              </a:ext>
            </a:extLst>
          </p:cNvPr>
          <p:cNvSpPr>
            <a:spLocks noGrp="1"/>
          </p:cNvSpPr>
          <p:nvPr>
            <p:ph type="title"/>
          </p:nvPr>
        </p:nvSpPr>
        <p:spPr/>
        <p:txBody>
          <a:bodyPr/>
          <a:lstStyle/>
          <a:p>
            <a:pPr algn="ctr"/>
            <a:r>
              <a:rPr lang="en-US" b="1" dirty="0"/>
              <a:t>Strengths of Language AI in Financial Products</a:t>
            </a:r>
            <a:endParaRPr lang="en-IN" b="1" dirty="0"/>
          </a:p>
        </p:txBody>
      </p:sp>
      <p:sp>
        <p:nvSpPr>
          <p:cNvPr id="3" name="Content Placeholder 2">
            <a:extLst>
              <a:ext uri="{FF2B5EF4-FFF2-40B4-BE49-F238E27FC236}">
                <a16:creationId xmlns:a16="http://schemas.microsoft.com/office/drawing/2014/main" id="{911EBEE7-7E24-FA54-63AB-D78C5CBE42CE}"/>
              </a:ext>
            </a:extLst>
          </p:cNvPr>
          <p:cNvSpPr>
            <a:spLocks noGrp="1"/>
          </p:cNvSpPr>
          <p:nvPr>
            <p:ph idx="1"/>
          </p:nvPr>
        </p:nvSpPr>
        <p:spPr/>
        <p:txBody>
          <a:bodyPr/>
          <a:lstStyle/>
          <a:p>
            <a:r>
              <a:rPr lang="en-US" dirty="0"/>
              <a:t>Language AI is particularly useful for tasks involving </a:t>
            </a:r>
            <a:r>
              <a:rPr lang="en-US" b="1" dirty="0"/>
              <a:t>large volumes of text and communication</a:t>
            </a:r>
            <a:r>
              <a:rPr lang="en-US" dirty="0"/>
              <a:t>.</a:t>
            </a:r>
          </a:p>
          <a:p>
            <a:r>
              <a:rPr lang="en-US" dirty="0"/>
              <a:t>Key strengths include:</a:t>
            </a:r>
          </a:p>
          <a:p>
            <a:r>
              <a:rPr lang="en-US" b="1" dirty="0"/>
              <a:t>Document processing</a:t>
            </a:r>
            <a:br>
              <a:rPr lang="en-US" dirty="0"/>
            </a:br>
            <a:r>
              <a:rPr lang="en-US" dirty="0"/>
              <a:t>Extracting information from contracts, invoices, and forms.</a:t>
            </a:r>
          </a:p>
          <a:p>
            <a:r>
              <a:rPr lang="en-US" b="1" dirty="0"/>
              <a:t>Knowledge retrieval</a:t>
            </a:r>
            <a:br>
              <a:rPr lang="en-US" dirty="0"/>
            </a:br>
            <a:r>
              <a:rPr lang="en-US" dirty="0"/>
              <a:t>Answering questions from policy or compliance documentation.</a:t>
            </a:r>
          </a:p>
          <a:p>
            <a:r>
              <a:rPr lang="en-US" b="1" dirty="0"/>
              <a:t>Customer support automation</a:t>
            </a:r>
            <a:br>
              <a:rPr lang="en-US" dirty="0"/>
            </a:br>
            <a:r>
              <a:rPr lang="en-US" dirty="0"/>
              <a:t>Handling common service queries automatically.</a:t>
            </a:r>
          </a:p>
          <a:p>
            <a:endParaRPr lang="en-IN" dirty="0"/>
          </a:p>
        </p:txBody>
      </p:sp>
    </p:spTree>
    <p:extLst>
      <p:ext uri="{BB962C8B-B14F-4D97-AF65-F5344CB8AC3E}">
        <p14:creationId xmlns:p14="http://schemas.microsoft.com/office/powerpoint/2010/main" val="2353883052"/>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EA7AB-A2A6-2868-2932-25BE2E87D78B}"/>
              </a:ext>
            </a:extLst>
          </p:cNvPr>
          <p:cNvSpPr>
            <a:spLocks noGrp="1"/>
          </p:cNvSpPr>
          <p:nvPr>
            <p:ph type="title"/>
          </p:nvPr>
        </p:nvSpPr>
        <p:spPr/>
        <p:txBody>
          <a:bodyPr/>
          <a:lstStyle/>
          <a:p>
            <a:pPr algn="ctr"/>
            <a:r>
              <a:rPr lang="en-US" b="1" dirty="0"/>
              <a:t>How AI Detects Tone and Sentiment</a:t>
            </a:r>
            <a:endParaRPr lang="en-IN" dirty="0"/>
          </a:p>
        </p:txBody>
      </p:sp>
      <p:sp>
        <p:nvSpPr>
          <p:cNvPr id="3" name="Content Placeholder 2">
            <a:extLst>
              <a:ext uri="{FF2B5EF4-FFF2-40B4-BE49-F238E27FC236}">
                <a16:creationId xmlns:a16="http://schemas.microsoft.com/office/drawing/2014/main" id="{D9D44005-0DB5-5500-5DAA-E4B3B3A39EDC}"/>
              </a:ext>
            </a:extLst>
          </p:cNvPr>
          <p:cNvSpPr>
            <a:spLocks noGrp="1"/>
          </p:cNvSpPr>
          <p:nvPr>
            <p:ph idx="1"/>
          </p:nvPr>
        </p:nvSpPr>
        <p:spPr/>
        <p:txBody>
          <a:bodyPr/>
          <a:lstStyle/>
          <a:p>
            <a:r>
              <a:rPr lang="en-US" b="1" dirty="0"/>
              <a:t>Financial explanation</a:t>
            </a:r>
            <a:br>
              <a:rPr lang="en-US" dirty="0"/>
            </a:br>
            <a:r>
              <a:rPr lang="en-US" dirty="0"/>
              <a:t>Helping users understand transactions, fees, or statements.</a:t>
            </a:r>
          </a:p>
          <a:p>
            <a:r>
              <a:rPr lang="en-US" b="1" dirty="0"/>
              <a:t>Example Product Features</a:t>
            </a:r>
          </a:p>
          <a:p>
            <a:r>
              <a:rPr lang="en-US" dirty="0"/>
              <a:t>AI policy assistant for employees</a:t>
            </a:r>
          </a:p>
          <a:p>
            <a:r>
              <a:rPr lang="en-US" dirty="0"/>
              <a:t>automated invoice processing</a:t>
            </a:r>
          </a:p>
          <a:p>
            <a:r>
              <a:rPr lang="en-US" dirty="0"/>
              <a:t>AI-powered customer helpdesk</a:t>
            </a:r>
          </a:p>
          <a:p>
            <a:r>
              <a:rPr lang="en-US" dirty="0"/>
              <a:t>financial explanation assistants</a:t>
            </a:r>
          </a:p>
          <a:p>
            <a:endParaRPr lang="en-IN" dirty="0"/>
          </a:p>
        </p:txBody>
      </p:sp>
    </p:spTree>
    <p:extLst>
      <p:ext uri="{BB962C8B-B14F-4D97-AF65-F5344CB8AC3E}">
        <p14:creationId xmlns:p14="http://schemas.microsoft.com/office/powerpoint/2010/main" val="2289682224"/>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C9B71-CC58-930E-672E-068F18023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DFD29-4F24-89EA-90F1-C581497AD3DC}"/>
              </a:ext>
            </a:extLst>
          </p:cNvPr>
          <p:cNvSpPr>
            <a:spLocks noGrp="1"/>
          </p:cNvSpPr>
          <p:nvPr>
            <p:ph type="title"/>
          </p:nvPr>
        </p:nvSpPr>
        <p:spPr/>
        <p:txBody>
          <a:bodyPr/>
          <a:lstStyle/>
          <a:p>
            <a:pPr algn="ctr"/>
            <a:r>
              <a:rPr lang="en-US" b="1" dirty="0"/>
              <a:t>Limitations Financial PMs Must Understand</a:t>
            </a:r>
            <a:br>
              <a:rPr lang="en-US" b="1" dirty="0"/>
            </a:br>
            <a:endParaRPr lang="en-IN" dirty="0"/>
          </a:p>
        </p:txBody>
      </p:sp>
      <p:sp>
        <p:nvSpPr>
          <p:cNvPr id="3" name="Content Placeholder 2">
            <a:extLst>
              <a:ext uri="{FF2B5EF4-FFF2-40B4-BE49-F238E27FC236}">
                <a16:creationId xmlns:a16="http://schemas.microsoft.com/office/drawing/2014/main" id="{15768215-FDD4-6888-BDE4-AC1E7E3944A3}"/>
              </a:ext>
            </a:extLst>
          </p:cNvPr>
          <p:cNvSpPr>
            <a:spLocks noGrp="1"/>
          </p:cNvSpPr>
          <p:nvPr>
            <p:ph idx="1"/>
          </p:nvPr>
        </p:nvSpPr>
        <p:spPr/>
        <p:txBody>
          <a:bodyPr/>
          <a:lstStyle/>
          <a:p>
            <a:r>
              <a:rPr lang="en-US" dirty="0"/>
              <a:t>Despite its capabilities, language AI has several limitations.</a:t>
            </a:r>
          </a:p>
          <a:p>
            <a:r>
              <a:rPr lang="en-US" b="1" dirty="0"/>
              <a:t>Hallucination Risk</a:t>
            </a:r>
          </a:p>
          <a:p>
            <a:r>
              <a:rPr lang="en-US" dirty="0"/>
              <a:t>AI may generate responses that sound correct but are factually wrong.</a:t>
            </a:r>
          </a:p>
          <a:p>
            <a:r>
              <a:rPr lang="en-US" dirty="0"/>
              <a:t>Example risk:</a:t>
            </a:r>
          </a:p>
          <a:p>
            <a:r>
              <a:rPr lang="en-US" dirty="0"/>
              <a:t>AI incorrectly explaining a </a:t>
            </a:r>
            <a:r>
              <a:rPr lang="en-US" b="1" dirty="0"/>
              <a:t>loan eligibility rule</a:t>
            </a:r>
            <a:r>
              <a:rPr lang="en-US" dirty="0"/>
              <a:t>.</a:t>
            </a:r>
          </a:p>
          <a:p>
            <a:endParaRPr lang="en-IN" dirty="0"/>
          </a:p>
        </p:txBody>
      </p:sp>
    </p:spTree>
    <p:extLst>
      <p:ext uri="{BB962C8B-B14F-4D97-AF65-F5344CB8AC3E}">
        <p14:creationId xmlns:p14="http://schemas.microsoft.com/office/powerpoint/2010/main" val="671307852"/>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9AF25-AD62-F318-3118-A6118B7679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4E4276-C9A1-7E59-C1AD-705B85A38A62}"/>
              </a:ext>
            </a:extLst>
          </p:cNvPr>
          <p:cNvSpPr>
            <a:spLocks noGrp="1"/>
          </p:cNvSpPr>
          <p:nvPr>
            <p:ph idx="1"/>
          </p:nvPr>
        </p:nvSpPr>
        <p:spPr/>
        <p:txBody>
          <a:bodyPr/>
          <a:lstStyle/>
          <a:p>
            <a:r>
              <a:rPr lang="en-US" b="1" dirty="0"/>
              <a:t>Regulatory Risk</a:t>
            </a:r>
          </a:p>
          <a:p>
            <a:r>
              <a:rPr lang="en-US" dirty="0"/>
              <a:t>Incorrect financial explanations may violate compliance guidelines.</a:t>
            </a:r>
          </a:p>
          <a:p>
            <a:r>
              <a:rPr lang="en-US" dirty="0"/>
              <a:t>Example risk:</a:t>
            </a:r>
          </a:p>
          <a:p>
            <a:r>
              <a:rPr lang="en-US" dirty="0"/>
              <a:t>AI giving incorrect advice about </a:t>
            </a:r>
            <a:r>
              <a:rPr lang="en-US" b="1" dirty="0"/>
              <a:t>investment eligibility</a:t>
            </a:r>
            <a:r>
              <a:rPr lang="en-US" dirty="0"/>
              <a:t>.</a:t>
            </a:r>
          </a:p>
          <a:p>
            <a:endParaRPr lang="en-IN" dirty="0"/>
          </a:p>
        </p:txBody>
      </p:sp>
    </p:spTree>
    <p:extLst>
      <p:ext uri="{BB962C8B-B14F-4D97-AF65-F5344CB8AC3E}">
        <p14:creationId xmlns:p14="http://schemas.microsoft.com/office/powerpoint/2010/main" val="3467726478"/>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6D827-B659-0B64-5D98-05405CD0F47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A1FD64-9036-CFE5-4AD6-52A9DDE28F8D}"/>
              </a:ext>
            </a:extLst>
          </p:cNvPr>
          <p:cNvSpPr>
            <a:spLocks noGrp="1"/>
          </p:cNvSpPr>
          <p:nvPr>
            <p:ph idx="1"/>
          </p:nvPr>
        </p:nvSpPr>
        <p:spPr/>
        <p:txBody>
          <a:bodyPr/>
          <a:lstStyle/>
          <a:p>
            <a:r>
              <a:rPr lang="en-US" b="1" dirty="0"/>
              <a:t>Ambiguity in Language</a:t>
            </a:r>
          </a:p>
          <a:p>
            <a:r>
              <a:rPr lang="en-US" dirty="0"/>
              <a:t>Human instructions are often unclear.</a:t>
            </a:r>
          </a:p>
          <a:p>
            <a:r>
              <a:rPr lang="en-US" dirty="0"/>
              <a:t>Example:</a:t>
            </a:r>
          </a:p>
          <a:p>
            <a:r>
              <a:rPr lang="en-US" dirty="0"/>
              <a:t>"Approve high-value customers quickly."</a:t>
            </a:r>
          </a:p>
          <a:p>
            <a:r>
              <a:rPr lang="en-US" dirty="0"/>
              <a:t>AI cannot interpret such rules without </a:t>
            </a:r>
            <a:r>
              <a:rPr lang="en-US" b="1" dirty="0"/>
              <a:t>clear definitions</a:t>
            </a:r>
            <a:r>
              <a:rPr lang="en-US" dirty="0"/>
              <a:t>.</a:t>
            </a:r>
          </a:p>
          <a:p>
            <a:endParaRPr lang="en-IN" dirty="0"/>
          </a:p>
        </p:txBody>
      </p:sp>
    </p:spTree>
    <p:extLst>
      <p:ext uri="{BB962C8B-B14F-4D97-AF65-F5344CB8AC3E}">
        <p14:creationId xmlns:p14="http://schemas.microsoft.com/office/powerpoint/2010/main" val="3782664187"/>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A996C-FF24-76C8-8986-25B9C90622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9C96C-C1F0-F192-5CC8-BFE9A6B2F974}"/>
              </a:ext>
            </a:extLst>
          </p:cNvPr>
          <p:cNvSpPr>
            <a:spLocks noGrp="1"/>
          </p:cNvSpPr>
          <p:nvPr>
            <p:ph type="title"/>
          </p:nvPr>
        </p:nvSpPr>
        <p:spPr/>
        <p:txBody>
          <a:bodyPr/>
          <a:lstStyle/>
          <a:p>
            <a:pPr algn="ctr"/>
            <a:r>
              <a:rPr lang="en-US" b="1" dirty="0"/>
              <a:t>Practical Design Guidelines for Financial PMs</a:t>
            </a:r>
            <a:endParaRPr lang="en-IN" b="1" dirty="0"/>
          </a:p>
        </p:txBody>
      </p:sp>
      <p:sp>
        <p:nvSpPr>
          <p:cNvPr id="3" name="Content Placeholder 2">
            <a:extLst>
              <a:ext uri="{FF2B5EF4-FFF2-40B4-BE49-F238E27FC236}">
                <a16:creationId xmlns:a16="http://schemas.microsoft.com/office/drawing/2014/main" id="{2A2F5FD0-36BA-F730-B06E-002411F20D5A}"/>
              </a:ext>
            </a:extLst>
          </p:cNvPr>
          <p:cNvSpPr>
            <a:spLocks noGrp="1"/>
          </p:cNvSpPr>
          <p:nvPr>
            <p:ph idx="1"/>
          </p:nvPr>
        </p:nvSpPr>
        <p:spPr/>
        <p:txBody>
          <a:bodyPr/>
          <a:lstStyle/>
          <a:p>
            <a:r>
              <a:rPr lang="en-US" dirty="0"/>
              <a:t>When building language AI features, PMs should follow several principles.</a:t>
            </a:r>
          </a:p>
          <a:p>
            <a:r>
              <a:rPr lang="en-US" b="1" dirty="0"/>
              <a:t>Use Verified Knowledge Sources</a:t>
            </a:r>
          </a:p>
          <a:p>
            <a:r>
              <a:rPr lang="en-US" dirty="0"/>
              <a:t>Restrict AI responses to trusted policy documents.</a:t>
            </a:r>
          </a:p>
          <a:p>
            <a:r>
              <a:rPr lang="en-US" b="1" dirty="0"/>
              <a:t>Combine AI with Rules</a:t>
            </a:r>
          </a:p>
          <a:p>
            <a:r>
              <a:rPr lang="en-US" dirty="0"/>
              <a:t>Critical financial decisions should rely on both </a:t>
            </a:r>
            <a:r>
              <a:rPr lang="en-US" b="1" dirty="0"/>
              <a:t>AI insights and deterministic rules</a:t>
            </a:r>
            <a:r>
              <a:rPr lang="en-US" dirty="0"/>
              <a:t>.</a:t>
            </a:r>
          </a:p>
          <a:p>
            <a:r>
              <a:rPr lang="en-US" b="1" dirty="0"/>
              <a:t>Design Human Escalation Paths</a:t>
            </a:r>
          </a:p>
          <a:p>
            <a:r>
              <a:rPr lang="en-US" dirty="0"/>
              <a:t>High-risk queries should be routed to human experts.</a:t>
            </a:r>
          </a:p>
          <a:p>
            <a:endParaRPr lang="en-IN" dirty="0"/>
          </a:p>
        </p:txBody>
      </p:sp>
    </p:spTree>
    <p:extLst>
      <p:ext uri="{BB962C8B-B14F-4D97-AF65-F5344CB8AC3E}">
        <p14:creationId xmlns:p14="http://schemas.microsoft.com/office/powerpoint/2010/main" val="2911262415"/>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587D0-E55F-BB65-3530-65116075E86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01C1EF-9D2C-4AE4-AB8B-90D7780F1ACC}"/>
              </a:ext>
            </a:extLst>
          </p:cNvPr>
          <p:cNvSpPr>
            <a:spLocks noGrp="1"/>
          </p:cNvSpPr>
          <p:nvPr>
            <p:ph idx="1"/>
          </p:nvPr>
        </p:nvSpPr>
        <p:spPr/>
        <p:txBody>
          <a:bodyPr/>
          <a:lstStyle/>
          <a:p>
            <a:r>
              <a:rPr lang="en-US" b="1" dirty="0"/>
              <a:t>Monitor AI Performance</a:t>
            </a:r>
          </a:p>
          <a:p>
            <a:r>
              <a:rPr lang="en-US" dirty="0"/>
              <a:t>Track metrics such as:</a:t>
            </a:r>
          </a:p>
          <a:p>
            <a:r>
              <a:rPr lang="en-US" dirty="0"/>
              <a:t>response accuracy</a:t>
            </a:r>
          </a:p>
          <a:p>
            <a:r>
              <a:rPr lang="en-US" dirty="0"/>
              <a:t>incorrect explanations</a:t>
            </a:r>
          </a:p>
          <a:p>
            <a:r>
              <a:rPr lang="en-US" dirty="0"/>
              <a:t>escalation frequency</a:t>
            </a:r>
          </a:p>
          <a:p>
            <a:endParaRPr lang="en-IN" dirty="0"/>
          </a:p>
        </p:txBody>
      </p:sp>
    </p:spTree>
    <p:extLst>
      <p:ext uri="{BB962C8B-B14F-4D97-AF65-F5344CB8AC3E}">
        <p14:creationId xmlns:p14="http://schemas.microsoft.com/office/powerpoint/2010/main" val="2462362747"/>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6CA95-C331-B948-BD03-45A850D17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1D2AA-7153-0446-1218-0C86163F8C4E}"/>
              </a:ext>
            </a:extLst>
          </p:cNvPr>
          <p:cNvSpPr>
            <a:spLocks noGrp="1"/>
          </p:cNvSpPr>
          <p:nvPr>
            <p:ph type="title"/>
          </p:nvPr>
        </p:nvSpPr>
        <p:spPr/>
        <p:txBody>
          <a:bodyPr/>
          <a:lstStyle/>
          <a:p>
            <a:pPr algn="ctr"/>
            <a:r>
              <a:rPr lang="en-US" b="1" dirty="0"/>
              <a:t>Key Takeaway for Product Managers</a:t>
            </a:r>
            <a:endParaRPr lang="en-IN" b="1" dirty="0"/>
          </a:p>
        </p:txBody>
      </p:sp>
      <p:sp>
        <p:nvSpPr>
          <p:cNvPr id="3" name="Content Placeholder 2">
            <a:extLst>
              <a:ext uri="{FF2B5EF4-FFF2-40B4-BE49-F238E27FC236}">
                <a16:creationId xmlns:a16="http://schemas.microsoft.com/office/drawing/2014/main" id="{CBF768F6-7C1B-5E75-C792-9B6F105E9954}"/>
              </a:ext>
            </a:extLst>
          </p:cNvPr>
          <p:cNvSpPr>
            <a:spLocks noGrp="1"/>
          </p:cNvSpPr>
          <p:nvPr>
            <p:ph idx="1"/>
          </p:nvPr>
        </p:nvSpPr>
        <p:spPr/>
        <p:txBody>
          <a:bodyPr/>
          <a:lstStyle/>
          <a:p>
            <a:r>
              <a:rPr lang="en-IN" dirty="0"/>
              <a:t>Language AI enables financial products to:</a:t>
            </a:r>
          </a:p>
          <a:p>
            <a:r>
              <a:rPr lang="en-IN" dirty="0"/>
              <a:t>interpret documents</a:t>
            </a:r>
          </a:p>
          <a:p>
            <a:r>
              <a:rPr lang="en-IN" dirty="0"/>
              <a:t>understand customer requests</a:t>
            </a:r>
          </a:p>
          <a:p>
            <a:r>
              <a:rPr lang="en-IN" dirty="0"/>
              <a:t>automate communication</a:t>
            </a:r>
          </a:p>
          <a:p>
            <a:r>
              <a:rPr lang="en-IN" dirty="0"/>
              <a:t>provide explanations</a:t>
            </a:r>
          </a:p>
          <a:p>
            <a:endParaRPr lang="en-IN" dirty="0"/>
          </a:p>
        </p:txBody>
      </p:sp>
    </p:spTree>
    <p:extLst>
      <p:ext uri="{BB962C8B-B14F-4D97-AF65-F5344CB8AC3E}">
        <p14:creationId xmlns:p14="http://schemas.microsoft.com/office/powerpoint/2010/main" val="2333834848"/>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48B8C-E034-497A-95FE-E14EDAD17E9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8464A-45B6-7280-248B-13ADBC9919E6}"/>
              </a:ext>
            </a:extLst>
          </p:cNvPr>
          <p:cNvSpPr>
            <a:spLocks noGrp="1"/>
          </p:cNvSpPr>
          <p:nvPr>
            <p:ph idx="1"/>
          </p:nvPr>
        </p:nvSpPr>
        <p:spPr>
          <a:xfrm>
            <a:off x="944216" y="924339"/>
            <a:ext cx="10409583" cy="5252624"/>
          </a:xfrm>
        </p:spPr>
        <p:txBody>
          <a:bodyPr/>
          <a:lstStyle/>
          <a:p>
            <a:r>
              <a:rPr lang="en-US" dirty="0"/>
              <a:t>However, successful implementation requires careful attention to:</a:t>
            </a:r>
          </a:p>
          <a:p>
            <a:r>
              <a:rPr lang="en-US" dirty="0"/>
              <a:t>regulatory compliance</a:t>
            </a:r>
          </a:p>
          <a:p>
            <a:r>
              <a:rPr lang="en-US" dirty="0"/>
              <a:t>reliable knowledge sources</a:t>
            </a:r>
          </a:p>
          <a:p>
            <a:r>
              <a:rPr lang="en-US" dirty="0"/>
              <a:t>human oversight</a:t>
            </a:r>
          </a:p>
          <a:p>
            <a:r>
              <a:rPr lang="en-US" dirty="0"/>
              <a:t>product context integration</a:t>
            </a:r>
          </a:p>
          <a:p>
            <a:pPr marL="0" indent="0">
              <a:buNone/>
            </a:pPr>
            <a:endParaRPr lang="en-US" dirty="0"/>
          </a:p>
          <a:p>
            <a:r>
              <a:rPr lang="en-US" dirty="0"/>
              <a:t>The role of a Product Manager is to ensure that AI systems </a:t>
            </a:r>
            <a:r>
              <a:rPr lang="en-US" b="1" dirty="0"/>
              <a:t>enhance decision-making while maintaining safety and trust in financial products</a:t>
            </a:r>
            <a:r>
              <a:rPr lang="en-US" dirty="0"/>
              <a:t>.</a:t>
            </a:r>
          </a:p>
          <a:p>
            <a:endParaRPr lang="en-IN" dirty="0"/>
          </a:p>
        </p:txBody>
      </p:sp>
    </p:spTree>
    <p:extLst>
      <p:ext uri="{BB962C8B-B14F-4D97-AF65-F5344CB8AC3E}">
        <p14:creationId xmlns:p14="http://schemas.microsoft.com/office/powerpoint/2010/main" val="3035890793"/>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9A06B-2CE1-05AD-9155-7E96AECB24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19411-8875-2F5F-3A61-9954EDADDC9B}"/>
              </a:ext>
            </a:extLst>
          </p:cNvPr>
          <p:cNvSpPr>
            <a:spLocks noGrp="1"/>
          </p:cNvSpPr>
          <p:nvPr>
            <p:ph type="title"/>
          </p:nvPr>
        </p:nvSpPr>
        <p:spPr>
          <a:xfrm>
            <a:off x="838200" y="365126"/>
            <a:ext cx="10515600" cy="907084"/>
          </a:xfrm>
        </p:spPr>
        <p:txBody>
          <a:bodyPr/>
          <a:lstStyle/>
          <a:p>
            <a:pPr algn="ctr"/>
            <a:r>
              <a:rPr lang="en-US" b="1" dirty="0"/>
              <a:t>Where LLMs Can Be Used in Financial Products</a:t>
            </a:r>
            <a:endParaRPr lang="en-IN" b="1" dirty="0"/>
          </a:p>
        </p:txBody>
      </p:sp>
      <p:sp>
        <p:nvSpPr>
          <p:cNvPr id="3" name="Content Placeholder 2">
            <a:extLst>
              <a:ext uri="{FF2B5EF4-FFF2-40B4-BE49-F238E27FC236}">
                <a16:creationId xmlns:a16="http://schemas.microsoft.com/office/drawing/2014/main" id="{EBBB0327-F508-D549-9B58-3ECB516C5A1B}"/>
              </a:ext>
            </a:extLst>
          </p:cNvPr>
          <p:cNvSpPr>
            <a:spLocks noGrp="1"/>
          </p:cNvSpPr>
          <p:nvPr>
            <p:ph idx="1"/>
          </p:nvPr>
        </p:nvSpPr>
        <p:spPr/>
        <p:txBody>
          <a:bodyPr>
            <a:normAutofit fontScale="92500" lnSpcReduction="20000"/>
          </a:bodyPr>
          <a:lstStyle/>
          <a:p>
            <a:r>
              <a:rPr lang="en-US" dirty="0"/>
              <a:t>Policy &amp; Compliance Knowledge Assistants</a:t>
            </a:r>
          </a:p>
          <a:p>
            <a:r>
              <a:rPr lang="en-US" dirty="0"/>
              <a:t>Document Reading and Information Extraction</a:t>
            </a:r>
          </a:p>
          <a:p>
            <a:r>
              <a:rPr lang="en-US" dirty="0"/>
              <a:t>Customer Support and Query Handling</a:t>
            </a:r>
          </a:p>
          <a:p>
            <a:r>
              <a:rPr lang="en-US" dirty="0"/>
              <a:t>Financial Explanation Assistants</a:t>
            </a:r>
          </a:p>
          <a:p>
            <a:r>
              <a:rPr lang="en-US" dirty="0"/>
              <a:t>Customer Complaint and Feedback Analysis</a:t>
            </a:r>
          </a:p>
          <a:p>
            <a:r>
              <a:rPr lang="en-US" dirty="0"/>
              <a:t>Internal Employee Helpdesk Assistants</a:t>
            </a:r>
          </a:p>
          <a:p>
            <a:r>
              <a:rPr lang="en-US" dirty="0"/>
              <a:t>Contract and Agreement Summarization</a:t>
            </a:r>
          </a:p>
          <a:p>
            <a:r>
              <a:rPr lang="en-US" dirty="0"/>
              <a:t>Intelligent Knowledge Search Across Documents</a:t>
            </a:r>
          </a:p>
          <a:p>
            <a:r>
              <a:rPr lang="en-US" dirty="0"/>
              <a:t>Customer Communication Generation</a:t>
            </a:r>
          </a:p>
          <a:p>
            <a:r>
              <a:rPr lang="en-US" dirty="0"/>
              <a:t>Workflow Assistance and Process Guidance</a:t>
            </a:r>
          </a:p>
          <a:p>
            <a:endParaRPr lang="en-IN" dirty="0"/>
          </a:p>
        </p:txBody>
      </p:sp>
    </p:spTree>
    <p:extLst>
      <p:ext uri="{BB962C8B-B14F-4D97-AF65-F5344CB8AC3E}">
        <p14:creationId xmlns:p14="http://schemas.microsoft.com/office/powerpoint/2010/main" val="1720595417"/>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A69AF-EF37-A7CA-2C09-B98CC35F98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72972E-60EA-64B0-58E1-C494EB64A108}"/>
              </a:ext>
            </a:extLst>
          </p:cNvPr>
          <p:cNvSpPr>
            <a:spLocks noGrp="1"/>
          </p:cNvSpPr>
          <p:nvPr>
            <p:ph type="title"/>
          </p:nvPr>
        </p:nvSpPr>
        <p:spPr/>
        <p:txBody>
          <a:bodyPr>
            <a:normAutofit fontScale="90000"/>
          </a:bodyPr>
          <a:lstStyle/>
          <a:p>
            <a:r>
              <a:rPr lang="en-US" b="1" dirty="0"/>
              <a:t>Where LLMs Should Not Be Used in Financial Products</a:t>
            </a:r>
            <a:br>
              <a:rPr lang="en-US" b="1" dirty="0"/>
            </a:br>
            <a:endParaRPr lang="en-IN" dirty="0"/>
          </a:p>
        </p:txBody>
      </p:sp>
      <p:sp>
        <p:nvSpPr>
          <p:cNvPr id="3" name="Content Placeholder 2">
            <a:extLst>
              <a:ext uri="{FF2B5EF4-FFF2-40B4-BE49-F238E27FC236}">
                <a16:creationId xmlns:a16="http://schemas.microsoft.com/office/drawing/2014/main" id="{AFB04A16-AD30-E607-911E-60D25BB747FF}"/>
              </a:ext>
            </a:extLst>
          </p:cNvPr>
          <p:cNvSpPr>
            <a:spLocks noGrp="1"/>
          </p:cNvSpPr>
          <p:nvPr>
            <p:ph idx="1"/>
          </p:nvPr>
        </p:nvSpPr>
        <p:spPr/>
        <p:txBody>
          <a:bodyPr>
            <a:normAutofit fontScale="92500" lnSpcReduction="20000"/>
          </a:bodyPr>
          <a:lstStyle/>
          <a:p>
            <a:r>
              <a:rPr lang="en-US" dirty="0"/>
              <a:t>Final Loan Approval or Credit Decisions</a:t>
            </a:r>
          </a:p>
          <a:p>
            <a:r>
              <a:rPr lang="en-US" dirty="0"/>
              <a:t>Exact Financial Calculations</a:t>
            </a:r>
          </a:p>
          <a:p>
            <a:r>
              <a:rPr lang="en-US" dirty="0"/>
              <a:t>Regulatory Interpretation Without Guardrails</a:t>
            </a:r>
          </a:p>
          <a:p>
            <a:r>
              <a:rPr lang="en-US" dirty="0"/>
              <a:t>Investment or Financial Advice Generation</a:t>
            </a:r>
          </a:p>
          <a:p>
            <a:r>
              <a:rPr lang="en-US" dirty="0"/>
              <a:t>Fraud Confirmation Decisions</a:t>
            </a:r>
          </a:p>
          <a:p>
            <a:r>
              <a:rPr lang="en-US" dirty="0"/>
              <a:t>Compliance Enforcement Decisions</a:t>
            </a:r>
          </a:p>
          <a:p>
            <a:r>
              <a:rPr lang="en-US" dirty="0"/>
              <a:t>High-Risk Transaction Authorization</a:t>
            </a:r>
          </a:p>
          <a:p>
            <a:r>
              <a:rPr lang="en-US" dirty="0"/>
              <a:t>Risk Scoring Without Validation Models</a:t>
            </a:r>
          </a:p>
          <a:p>
            <a:r>
              <a:rPr lang="en-US" dirty="0"/>
              <a:t>Decisions Based on Incomplete Context</a:t>
            </a:r>
          </a:p>
          <a:p>
            <a:r>
              <a:rPr lang="en-US" dirty="0"/>
              <a:t>Any Fully Autonomous Financial Decision Making</a:t>
            </a:r>
          </a:p>
          <a:p>
            <a:endParaRPr lang="en-IN" dirty="0"/>
          </a:p>
        </p:txBody>
      </p:sp>
    </p:spTree>
    <p:extLst>
      <p:ext uri="{BB962C8B-B14F-4D97-AF65-F5344CB8AC3E}">
        <p14:creationId xmlns:p14="http://schemas.microsoft.com/office/powerpoint/2010/main" val="2534941376"/>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1B1B2-DE1B-E096-A2B8-ECDE75970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BBA88-EEA9-7BDF-FED6-882582CCFBD2}"/>
              </a:ext>
            </a:extLst>
          </p:cNvPr>
          <p:cNvSpPr>
            <a:spLocks noGrp="1"/>
          </p:cNvSpPr>
          <p:nvPr>
            <p:ph type="title"/>
          </p:nvPr>
        </p:nvSpPr>
        <p:spPr/>
        <p:txBody>
          <a:bodyPr>
            <a:normAutofit/>
          </a:bodyPr>
          <a:lstStyle/>
          <a:p>
            <a:pPr algn="ctr" fontAlgn="base"/>
            <a:r>
              <a:rPr lang="en-US" b="1" dirty="0"/>
              <a:t>Ethical and Responsible AI in Finance</a:t>
            </a:r>
          </a:p>
        </p:txBody>
      </p:sp>
      <p:sp>
        <p:nvSpPr>
          <p:cNvPr id="3" name="Content Placeholder 2">
            <a:extLst>
              <a:ext uri="{FF2B5EF4-FFF2-40B4-BE49-F238E27FC236}">
                <a16:creationId xmlns:a16="http://schemas.microsoft.com/office/drawing/2014/main" id="{865B3FC1-348F-9145-7679-7041ACBB5FCC}"/>
              </a:ext>
            </a:extLst>
          </p:cNvPr>
          <p:cNvSpPr>
            <a:spLocks noGrp="1"/>
          </p:cNvSpPr>
          <p:nvPr>
            <p:ph idx="1"/>
          </p:nvPr>
        </p:nvSpPr>
        <p:spPr/>
        <p:txBody>
          <a:bodyPr/>
          <a:lstStyle/>
          <a:p>
            <a:pPr fontAlgn="base">
              <a:lnSpc>
                <a:spcPct val="150000"/>
              </a:lnSpc>
            </a:pPr>
            <a:r>
              <a:rPr lang="en-US" dirty="0"/>
              <a:t>Artificial Intelligence has transformed financial services. From credit scoring and fraud detection to portfolio optimization and customer segmentation, AI systems increasingly influence high-stakes decisions.</a:t>
            </a:r>
          </a:p>
          <a:p>
            <a:pPr fontAlgn="base">
              <a:lnSpc>
                <a:spcPct val="150000"/>
              </a:lnSpc>
            </a:pPr>
            <a:r>
              <a:rPr lang="en-US" dirty="0"/>
              <a:t>However, a fundamental question arises:</a:t>
            </a:r>
          </a:p>
          <a:p>
            <a:pPr fontAlgn="base">
              <a:lnSpc>
                <a:spcPct val="150000"/>
              </a:lnSpc>
            </a:pPr>
            <a:r>
              <a:rPr lang="en-US" dirty="0"/>
              <a:t>If an AI system denies someone a mortgage, who is accountable?</a:t>
            </a:r>
          </a:p>
          <a:p>
            <a:pPr marL="0" indent="0">
              <a:lnSpc>
                <a:spcPct val="150000"/>
              </a:lnSpc>
              <a:buNone/>
            </a:pPr>
            <a:endParaRPr lang="en-IN" dirty="0"/>
          </a:p>
        </p:txBody>
      </p:sp>
    </p:spTree>
    <p:extLst>
      <p:ext uri="{BB962C8B-B14F-4D97-AF65-F5344CB8AC3E}">
        <p14:creationId xmlns:p14="http://schemas.microsoft.com/office/powerpoint/2010/main" val="1388090789"/>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F397-3D54-3F24-5184-55ADEDAF135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A6CFAF-C6BC-075E-B82E-1059BC4151A6}"/>
              </a:ext>
            </a:extLst>
          </p:cNvPr>
          <p:cNvSpPr>
            <a:spLocks noGrp="1"/>
          </p:cNvSpPr>
          <p:nvPr>
            <p:ph idx="1"/>
          </p:nvPr>
        </p:nvSpPr>
        <p:spPr/>
        <p:txBody>
          <a:bodyPr/>
          <a:lstStyle/>
          <a:p>
            <a:pPr marL="0" indent="0" fontAlgn="base">
              <a:buNone/>
            </a:pPr>
            <a:r>
              <a:rPr lang="en-US" dirty="0"/>
              <a:t>Is it:</a:t>
            </a:r>
          </a:p>
          <a:p>
            <a:pPr fontAlgn="base"/>
            <a:r>
              <a:rPr lang="en-US" dirty="0"/>
              <a:t>The algorithm?</a:t>
            </a:r>
          </a:p>
          <a:p>
            <a:pPr fontAlgn="base"/>
            <a:r>
              <a:rPr lang="en-US" dirty="0"/>
              <a:t>The data scientist?</a:t>
            </a:r>
          </a:p>
          <a:p>
            <a:pPr fontAlgn="base"/>
            <a:r>
              <a:rPr lang="en-US" dirty="0"/>
              <a:t>The bank?</a:t>
            </a:r>
          </a:p>
          <a:p>
            <a:pPr fontAlgn="base"/>
            <a:r>
              <a:rPr lang="en-US" dirty="0"/>
              <a:t>The regulator?</a:t>
            </a:r>
          </a:p>
          <a:p>
            <a:endParaRPr lang="en-IN" dirty="0"/>
          </a:p>
        </p:txBody>
      </p:sp>
    </p:spTree>
    <p:extLst>
      <p:ext uri="{BB962C8B-B14F-4D97-AF65-F5344CB8AC3E}">
        <p14:creationId xmlns:p14="http://schemas.microsoft.com/office/powerpoint/2010/main" val="1145011609"/>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45362-F241-A296-110C-5920C6DBEB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8F6671-A15C-B8A2-ED88-FB598FCE2962}"/>
              </a:ext>
            </a:extLst>
          </p:cNvPr>
          <p:cNvSpPr>
            <a:spLocks noGrp="1"/>
          </p:cNvSpPr>
          <p:nvPr>
            <p:ph idx="1"/>
          </p:nvPr>
        </p:nvSpPr>
        <p:spPr>
          <a:xfrm>
            <a:off x="775252" y="626165"/>
            <a:ext cx="10578548" cy="5550798"/>
          </a:xfrm>
        </p:spPr>
        <p:txBody>
          <a:bodyPr/>
          <a:lstStyle/>
          <a:p>
            <a:pPr marL="0" indent="0" fontAlgn="base">
              <a:lnSpc>
                <a:spcPct val="150000"/>
              </a:lnSpc>
              <a:buNone/>
            </a:pPr>
            <a:r>
              <a:rPr lang="en-US" dirty="0"/>
              <a:t>In finance, AI ethics is not speculative. It directly affects:</a:t>
            </a:r>
          </a:p>
          <a:p>
            <a:pPr fontAlgn="base">
              <a:lnSpc>
                <a:spcPct val="150000"/>
              </a:lnSpc>
            </a:pPr>
            <a:r>
              <a:rPr lang="en-US" dirty="0"/>
              <a:t>Access to credit</a:t>
            </a:r>
          </a:p>
          <a:p>
            <a:pPr fontAlgn="base">
              <a:lnSpc>
                <a:spcPct val="150000"/>
              </a:lnSpc>
            </a:pPr>
            <a:r>
              <a:rPr lang="en-US" dirty="0"/>
              <a:t>Financial inclusion</a:t>
            </a:r>
          </a:p>
          <a:p>
            <a:pPr fontAlgn="base">
              <a:lnSpc>
                <a:spcPct val="150000"/>
              </a:lnSpc>
            </a:pPr>
            <a:r>
              <a:rPr lang="en-US" dirty="0"/>
              <a:t>Consumer protection</a:t>
            </a:r>
          </a:p>
          <a:p>
            <a:pPr fontAlgn="base">
              <a:lnSpc>
                <a:spcPct val="150000"/>
              </a:lnSpc>
            </a:pPr>
            <a:r>
              <a:rPr lang="en-US" dirty="0"/>
              <a:t>Institutional trust</a:t>
            </a:r>
          </a:p>
          <a:p>
            <a:pPr marL="0" indent="0" fontAlgn="base">
              <a:lnSpc>
                <a:spcPct val="150000"/>
              </a:lnSpc>
              <a:buNone/>
            </a:pPr>
            <a:r>
              <a:rPr lang="en-US" b="1" dirty="0"/>
              <a:t>Ethical AI in finance is therefore not only a technological challenge — it is a governance, regulatory, and strategic imperative</a:t>
            </a:r>
            <a:r>
              <a:rPr lang="en-US" dirty="0"/>
              <a:t>.</a:t>
            </a:r>
          </a:p>
          <a:p>
            <a:pPr>
              <a:lnSpc>
                <a:spcPct val="150000"/>
              </a:lnSpc>
            </a:pPr>
            <a:endParaRPr lang="en-IN" dirty="0"/>
          </a:p>
        </p:txBody>
      </p:sp>
    </p:spTree>
    <p:extLst>
      <p:ext uri="{BB962C8B-B14F-4D97-AF65-F5344CB8AC3E}">
        <p14:creationId xmlns:p14="http://schemas.microsoft.com/office/powerpoint/2010/main" val="3837571610"/>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AF516-6425-FA5D-8F03-DE1182FF8F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5ABC2-E9F3-5300-9CDF-D1505D43BC8C}"/>
              </a:ext>
            </a:extLst>
          </p:cNvPr>
          <p:cNvSpPr>
            <a:spLocks noGrp="1"/>
          </p:cNvSpPr>
          <p:nvPr>
            <p:ph type="title"/>
          </p:nvPr>
        </p:nvSpPr>
        <p:spPr/>
        <p:txBody>
          <a:bodyPr/>
          <a:lstStyle/>
          <a:p>
            <a:r>
              <a:rPr lang="en-US" b="1" dirty="0"/>
              <a:t> Why Ethical AI Is Different in Finance</a:t>
            </a:r>
            <a:br>
              <a:rPr lang="en-US" b="1" dirty="0"/>
            </a:br>
            <a:endParaRPr lang="en-IN" dirty="0"/>
          </a:p>
        </p:txBody>
      </p:sp>
      <p:sp>
        <p:nvSpPr>
          <p:cNvPr id="3" name="Content Placeholder 2">
            <a:extLst>
              <a:ext uri="{FF2B5EF4-FFF2-40B4-BE49-F238E27FC236}">
                <a16:creationId xmlns:a16="http://schemas.microsoft.com/office/drawing/2014/main" id="{79BD8996-C0EC-E245-DE84-3A42E74ACDA3}"/>
              </a:ext>
            </a:extLst>
          </p:cNvPr>
          <p:cNvSpPr>
            <a:spLocks noGrp="1"/>
          </p:cNvSpPr>
          <p:nvPr>
            <p:ph idx="1"/>
          </p:nvPr>
        </p:nvSpPr>
        <p:spPr/>
        <p:txBody>
          <a:bodyPr/>
          <a:lstStyle/>
          <a:p>
            <a:pPr fontAlgn="base"/>
            <a:r>
              <a:rPr lang="en-US" dirty="0"/>
              <a:t>AI applications in social media or entertainment may tolerate minor errors. Financial AI cannot.</a:t>
            </a:r>
          </a:p>
          <a:p>
            <a:pPr marL="0" indent="0" fontAlgn="base">
              <a:buNone/>
            </a:pPr>
            <a:endParaRPr lang="en-US" dirty="0"/>
          </a:p>
          <a:p>
            <a:pPr marL="0" indent="0" fontAlgn="base">
              <a:buNone/>
            </a:pPr>
            <a:r>
              <a:rPr lang="en-US" dirty="0"/>
              <a:t>Finance is:</a:t>
            </a:r>
          </a:p>
          <a:p>
            <a:pPr fontAlgn="base"/>
            <a:r>
              <a:rPr lang="en-US" dirty="0"/>
              <a:t>Highly regulated</a:t>
            </a:r>
          </a:p>
          <a:p>
            <a:pPr fontAlgn="base"/>
            <a:r>
              <a:rPr lang="en-US" dirty="0"/>
              <a:t>Trust-dependent</a:t>
            </a:r>
          </a:p>
          <a:p>
            <a:pPr fontAlgn="base"/>
            <a:r>
              <a:rPr lang="en-US" dirty="0"/>
              <a:t>Data-intensive</a:t>
            </a:r>
          </a:p>
          <a:p>
            <a:pPr fontAlgn="base"/>
            <a:r>
              <a:rPr lang="en-US" dirty="0"/>
              <a:t>Socially impactful</a:t>
            </a:r>
          </a:p>
          <a:p>
            <a:endParaRPr lang="en-IN" dirty="0"/>
          </a:p>
        </p:txBody>
      </p:sp>
    </p:spTree>
    <p:extLst>
      <p:ext uri="{BB962C8B-B14F-4D97-AF65-F5344CB8AC3E}">
        <p14:creationId xmlns:p14="http://schemas.microsoft.com/office/powerpoint/2010/main" val="299404330"/>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59B54-A94D-6560-C20A-FFECBBFFE2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6C516-4967-3588-6EFD-1AFA66C31954}"/>
              </a:ext>
            </a:extLst>
          </p:cNvPr>
          <p:cNvSpPr>
            <a:spLocks noGrp="1"/>
          </p:cNvSpPr>
          <p:nvPr>
            <p:ph type="title"/>
          </p:nvPr>
        </p:nvSpPr>
        <p:spPr/>
        <p:txBody>
          <a:bodyPr/>
          <a:lstStyle/>
          <a:p>
            <a:r>
              <a:rPr lang="en-US" b="1" dirty="0"/>
              <a:t> Why Ethical AI Is Different in Finance</a:t>
            </a:r>
            <a:br>
              <a:rPr lang="en-US" b="1" dirty="0"/>
            </a:br>
            <a:endParaRPr lang="en-IN" dirty="0"/>
          </a:p>
        </p:txBody>
      </p:sp>
      <p:sp>
        <p:nvSpPr>
          <p:cNvPr id="3" name="Content Placeholder 2">
            <a:extLst>
              <a:ext uri="{FF2B5EF4-FFF2-40B4-BE49-F238E27FC236}">
                <a16:creationId xmlns:a16="http://schemas.microsoft.com/office/drawing/2014/main" id="{99D22473-B9D2-715F-5CF3-A602DCB53624}"/>
              </a:ext>
            </a:extLst>
          </p:cNvPr>
          <p:cNvSpPr>
            <a:spLocks noGrp="1"/>
          </p:cNvSpPr>
          <p:nvPr>
            <p:ph idx="1"/>
          </p:nvPr>
        </p:nvSpPr>
        <p:spPr/>
        <p:txBody>
          <a:bodyPr/>
          <a:lstStyle/>
          <a:p>
            <a:pPr marL="0" indent="0" fontAlgn="base">
              <a:buNone/>
            </a:pPr>
            <a:r>
              <a:rPr lang="en-US" dirty="0"/>
              <a:t>An AI error in finance can lead to:</a:t>
            </a:r>
          </a:p>
          <a:p>
            <a:pPr fontAlgn="base"/>
            <a:r>
              <a:rPr lang="en-US" dirty="0"/>
              <a:t>Regulatory fines</a:t>
            </a:r>
          </a:p>
          <a:p>
            <a:pPr fontAlgn="base"/>
            <a:r>
              <a:rPr lang="en-US" dirty="0"/>
              <a:t>Lawsuits</a:t>
            </a:r>
          </a:p>
          <a:p>
            <a:pPr fontAlgn="base"/>
            <a:r>
              <a:rPr lang="en-US" dirty="0"/>
              <a:t>Reputational damage</a:t>
            </a:r>
          </a:p>
          <a:p>
            <a:pPr fontAlgn="base"/>
            <a:r>
              <a:rPr lang="en-US" dirty="0"/>
              <a:t>Financial exclusion</a:t>
            </a:r>
          </a:p>
          <a:p>
            <a:pPr fontAlgn="base"/>
            <a:r>
              <a:rPr lang="en-US" dirty="0"/>
              <a:t>Systemic risk</a:t>
            </a:r>
          </a:p>
          <a:p>
            <a:endParaRPr lang="en-IN" dirty="0"/>
          </a:p>
        </p:txBody>
      </p:sp>
    </p:spTree>
    <p:extLst>
      <p:ext uri="{BB962C8B-B14F-4D97-AF65-F5344CB8AC3E}">
        <p14:creationId xmlns:p14="http://schemas.microsoft.com/office/powerpoint/2010/main" val="3770794814"/>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02DA8-A721-6E4A-16B1-BD452BEDC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E5FBAD-55FA-9E0D-DF47-95270CB8092D}"/>
              </a:ext>
            </a:extLst>
          </p:cNvPr>
          <p:cNvSpPr>
            <a:spLocks noGrp="1"/>
          </p:cNvSpPr>
          <p:nvPr>
            <p:ph type="title"/>
          </p:nvPr>
        </p:nvSpPr>
        <p:spPr/>
        <p:txBody>
          <a:bodyPr/>
          <a:lstStyle/>
          <a:p>
            <a:r>
              <a:rPr lang="en-US" b="1" dirty="0"/>
              <a:t> Why Ethical AI Is Different in Finance</a:t>
            </a:r>
            <a:br>
              <a:rPr lang="en-US" b="1" dirty="0"/>
            </a:br>
            <a:endParaRPr lang="en-IN" dirty="0"/>
          </a:p>
        </p:txBody>
      </p:sp>
      <p:sp>
        <p:nvSpPr>
          <p:cNvPr id="3" name="Content Placeholder 2">
            <a:extLst>
              <a:ext uri="{FF2B5EF4-FFF2-40B4-BE49-F238E27FC236}">
                <a16:creationId xmlns:a16="http://schemas.microsoft.com/office/drawing/2014/main" id="{57E0F0CD-3F6C-11D1-1083-968F31AE12AE}"/>
              </a:ext>
            </a:extLst>
          </p:cNvPr>
          <p:cNvSpPr>
            <a:spLocks noGrp="1"/>
          </p:cNvSpPr>
          <p:nvPr>
            <p:ph idx="1"/>
          </p:nvPr>
        </p:nvSpPr>
        <p:spPr/>
        <p:txBody>
          <a:bodyPr/>
          <a:lstStyle/>
          <a:p>
            <a:pPr marL="0" indent="0" fontAlgn="base">
              <a:lnSpc>
                <a:spcPct val="150000"/>
              </a:lnSpc>
              <a:buNone/>
            </a:pPr>
            <a:r>
              <a:rPr lang="en-US" dirty="0"/>
              <a:t>Unlike other industries, financial AI decisions affect credit access, wealth distribution, and economic opportunity. Therefore, ethical standards must be stronger and more structured.</a:t>
            </a:r>
          </a:p>
          <a:p>
            <a:pPr marL="0" indent="0">
              <a:lnSpc>
                <a:spcPct val="150000"/>
              </a:lnSpc>
              <a:buNone/>
            </a:pPr>
            <a:br>
              <a:rPr lang="en-US" dirty="0"/>
            </a:br>
            <a:endParaRPr lang="en-IN" dirty="0"/>
          </a:p>
        </p:txBody>
      </p:sp>
    </p:spTree>
    <p:extLst>
      <p:ext uri="{BB962C8B-B14F-4D97-AF65-F5344CB8AC3E}">
        <p14:creationId xmlns:p14="http://schemas.microsoft.com/office/powerpoint/2010/main" val="3811972543"/>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545AD-358F-3ACE-5535-2D16B6AD27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336E2D-731A-292C-75E5-6BF264138939}"/>
              </a:ext>
            </a:extLst>
          </p:cNvPr>
          <p:cNvSpPr>
            <a:spLocks noGrp="1"/>
          </p:cNvSpPr>
          <p:nvPr>
            <p:ph type="title"/>
          </p:nvPr>
        </p:nvSpPr>
        <p:spPr/>
        <p:txBody>
          <a:bodyPr/>
          <a:lstStyle/>
          <a:p>
            <a:pPr algn="ctr"/>
            <a:r>
              <a:rPr lang="en-US" b="1" dirty="0"/>
              <a:t> Core Ethical Risk Areas in Financial AI</a:t>
            </a:r>
            <a:br>
              <a:rPr lang="en-US" b="1" dirty="0"/>
            </a:br>
            <a:endParaRPr lang="en-IN" dirty="0"/>
          </a:p>
        </p:txBody>
      </p:sp>
      <p:sp>
        <p:nvSpPr>
          <p:cNvPr id="3" name="Content Placeholder 2">
            <a:extLst>
              <a:ext uri="{FF2B5EF4-FFF2-40B4-BE49-F238E27FC236}">
                <a16:creationId xmlns:a16="http://schemas.microsoft.com/office/drawing/2014/main" id="{9DD934D6-EDEF-D7AE-25BE-C15598924873}"/>
              </a:ext>
            </a:extLst>
          </p:cNvPr>
          <p:cNvSpPr>
            <a:spLocks noGrp="1"/>
          </p:cNvSpPr>
          <p:nvPr>
            <p:ph idx="1"/>
          </p:nvPr>
        </p:nvSpPr>
        <p:spPr/>
        <p:txBody>
          <a:bodyPr>
            <a:normAutofit lnSpcReduction="10000"/>
          </a:bodyPr>
          <a:lstStyle/>
          <a:p>
            <a:pPr marL="0" indent="0" fontAlgn="base">
              <a:lnSpc>
                <a:spcPct val="150000"/>
              </a:lnSpc>
              <a:buNone/>
            </a:pPr>
            <a:r>
              <a:rPr lang="en-US" dirty="0"/>
              <a:t>Ethical risks in finance typically fall into four major categories:</a:t>
            </a:r>
          </a:p>
          <a:p>
            <a:pPr fontAlgn="base">
              <a:lnSpc>
                <a:spcPct val="150000"/>
              </a:lnSpc>
            </a:pPr>
            <a:r>
              <a:rPr lang="en-US" dirty="0"/>
              <a:t>Bias and Fairness</a:t>
            </a:r>
          </a:p>
          <a:p>
            <a:pPr fontAlgn="base">
              <a:lnSpc>
                <a:spcPct val="150000"/>
              </a:lnSpc>
            </a:pPr>
            <a:r>
              <a:rPr lang="en-US" dirty="0"/>
              <a:t>Privacy and Data Governance</a:t>
            </a:r>
          </a:p>
          <a:p>
            <a:pPr fontAlgn="base">
              <a:lnSpc>
                <a:spcPct val="150000"/>
              </a:lnSpc>
            </a:pPr>
            <a:r>
              <a:rPr lang="en-US" dirty="0"/>
              <a:t>Explainability and Transparency</a:t>
            </a:r>
          </a:p>
          <a:p>
            <a:pPr fontAlgn="base">
              <a:lnSpc>
                <a:spcPct val="150000"/>
              </a:lnSpc>
            </a:pPr>
            <a:r>
              <a:rPr lang="en-US" dirty="0"/>
              <a:t>Model Security and Emerging Risks</a:t>
            </a:r>
          </a:p>
          <a:p>
            <a:pPr marL="0" indent="0" fontAlgn="base">
              <a:lnSpc>
                <a:spcPct val="150000"/>
              </a:lnSpc>
              <a:buNone/>
            </a:pPr>
            <a:r>
              <a:rPr lang="en-US" dirty="0"/>
              <a:t>Each risk area carries both legal and strategic implications.</a:t>
            </a:r>
          </a:p>
          <a:p>
            <a:pPr>
              <a:lnSpc>
                <a:spcPct val="150000"/>
              </a:lnSpc>
            </a:pPr>
            <a:endParaRPr lang="en-IN" dirty="0"/>
          </a:p>
        </p:txBody>
      </p:sp>
    </p:spTree>
    <p:extLst>
      <p:ext uri="{BB962C8B-B14F-4D97-AF65-F5344CB8AC3E}">
        <p14:creationId xmlns:p14="http://schemas.microsoft.com/office/powerpoint/2010/main" val="1825096142"/>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1BB7D-6DA0-606A-DEDD-8EAD27C324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F9BA32-2875-05D6-FE2F-F9AEF0F1D0EC}"/>
              </a:ext>
            </a:extLst>
          </p:cNvPr>
          <p:cNvSpPr>
            <a:spLocks noGrp="1"/>
          </p:cNvSpPr>
          <p:nvPr>
            <p:ph type="title"/>
          </p:nvPr>
        </p:nvSpPr>
        <p:spPr/>
        <p:txBody>
          <a:bodyPr/>
          <a:lstStyle/>
          <a:p>
            <a:pPr algn="ctr"/>
            <a:r>
              <a:rPr lang="en-IN" b="1" dirty="0"/>
              <a:t>How Bias Enters AI Systems</a:t>
            </a:r>
            <a:br>
              <a:rPr lang="en-IN" b="1" dirty="0"/>
            </a:br>
            <a:endParaRPr lang="en-IN" dirty="0"/>
          </a:p>
        </p:txBody>
      </p:sp>
      <p:sp>
        <p:nvSpPr>
          <p:cNvPr id="3" name="Content Placeholder 2">
            <a:extLst>
              <a:ext uri="{FF2B5EF4-FFF2-40B4-BE49-F238E27FC236}">
                <a16:creationId xmlns:a16="http://schemas.microsoft.com/office/drawing/2014/main" id="{17E2100A-3E32-A7E5-0235-6E27EA1CC85D}"/>
              </a:ext>
            </a:extLst>
          </p:cNvPr>
          <p:cNvSpPr>
            <a:spLocks noGrp="1"/>
          </p:cNvSpPr>
          <p:nvPr>
            <p:ph idx="1"/>
          </p:nvPr>
        </p:nvSpPr>
        <p:spPr/>
        <p:txBody>
          <a:bodyPr>
            <a:normAutofit fontScale="92500" lnSpcReduction="20000"/>
          </a:bodyPr>
          <a:lstStyle/>
          <a:p>
            <a:pPr fontAlgn="base">
              <a:lnSpc>
                <a:spcPct val="150000"/>
              </a:lnSpc>
            </a:pPr>
            <a:r>
              <a:rPr lang="en-IN" dirty="0"/>
              <a:t>AI models learn from historical data. If historical decisions contain bias, the model may inherit or amplify it.</a:t>
            </a:r>
          </a:p>
          <a:p>
            <a:pPr marL="0" indent="0" fontAlgn="base">
              <a:lnSpc>
                <a:spcPct val="150000"/>
              </a:lnSpc>
              <a:buNone/>
            </a:pPr>
            <a:r>
              <a:rPr lang="en-IN" dirty="0"/>
              <a:t>Bias can enter through:</a:t>
            </a:r>
          </a:p>
          <a:p>
            <a:pPr fontAlgn="base">
              <a:lnSpc>
                <a:spcPct val="150000"/>
              </a:lnSpc>
            </a:pPr>
            <a:r>
              <a:rPr lang="en-IN" dirty="0"/>
              <a:t>Historical discrimination</a:t>
            </a:r>
          </a:p>
          <a:p>
            <a:pPr fontAlgn="base">
              <a:lnSpc>
                <a:spcPct val="150000"/>
              </a:lnSpc>
            </a:pPr>
            <a:r>
              <a:rPr lang="en-IN" dirty="0"/>
              <a:t>Proxy variables (e.g., ZIP code, education)</a:t>
            </a:r>
          </a:p>
          <a:p>
            <a:pPr fontAlgn="base">
              <a:lnSpc>
                <a:spcPct val="150000"/>
              </a:lnSpc>
            </a:pPr>
            <a:r>
              <a:rPr lang="en-IN" dirty="0"/>
              <a:t>Imbalanced datasets</a:t>
            </a:r>
          </a:p>
          <a:p>
            <a:pPr fontAlgn="base">
              <a:lnSpc>
                <a:spcPct val="150000"/>
              </a:lnSpc>
            </a:pPr>
            <a:r>
              <a:rPr lang="en-IN" dirty="0"/>
              <a:t>Biased labels</a:t>
            </a:r>
          </a:p>
          <a:p>
            <a:pPr>
              <a:lnSpc>
                <a:spcPct val="150000"/>
              </a:lnSpc>
            </a:pPr>
            <a:endParaRPr lang="en-IN" dirty="0"/>
          </a:p>
        </p:txBody>
      </p:sp>
    </p:spTree>
    <p:extLst>
      <p:ext uri="{BB962C8B-B14F-4D97-AF65-F5344CB8AC3E}">
        <p14:creationId xmlns:p14="http://schemas.microsoft.com/office/powerpoint/2010/main" val="3664627909"/>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326D5-B652-CC32-DA30-C63CB71905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9A2150-6C7D-5389-49AB-A6317F909D2F}"/>
              </a:ext>
            </a:extLst>
          </p:cNvPr>
          <p:cNvSpPr>
            <a:spLocks noGrp="1"/>
          </p:cNvSpPr>
          <p:nvPr>
            <p:ph type="title"/>
          </p:nvPr>
        </p:nvSpPr>
        <p:spPr/>
        <p:txBody>
          <a:bodyPr/>
          <a:lstStyle/>
          <a:p>
            <a:pPr fontAlgn="base"/>
            <a:r>
              <a:rPr lang="en-US" b="1" dirty="0"/>
              <a:t>Equal Opportunity and False Positive Gaps</a:t>
            </a:r>
          </a:p>
        </p:txBody>
      </p:sp>
      <p:sp>
        <p:nvSpPr>
          <p:cNvPr id="3" name="Content Placeholder 2">
            <a:extLst>
              <a:ext uri="{FF2B5EF4-FFF2-40B4-BE49-F238E27FC236}">
                <a16:creationId xmlns:a16="http://schemas.microsoft.com/office/drawing/2014/main" id="{30217F6F-CBCF-92C5-FB00-93A9E7BC57DD}"/>
              </a:ext>
            </a:extLst>
          </p:cNvPr>
          <p:cNvSpPr>
            <a:spLocks noGrp="1"/>
          </p:cNvSpPr>
          <p:nvPr>
            <p:ph idx="1"/>
          </p:nvPr>
        </p:nvSpPr>
        <p:spPr/>
        <p:txBody>
          <a:bodyPr/>
          <a:lstStyle/>
          <a:p>
            <a:pPr fontAlgn="base"/>
            <a:r>
              <a:rPr lang="en-US" dirty="0"/>
              <a:t>Another fairness metric evaluates </a:t>
            </a:r>
            <a:r>
              <a:rPr lang="en-US" b="1" dirty="0"/>
              <a:t>True Positive Rate (TPR)</a:t>
            </a:r>
            <a:r>
              <a:rPr lang="en-US" dirty="0"/>
              <a:t> differences:</a:t>
            </a:r>
          </a:p>
          <a:p>
            <a:pPr fontAlgn="base"/>
            <a:r>
              <a:rPr lang="en-US" dirty="0"/>
              <a:t>If TPR differs significantly across groups, one group may be unfairly denied credit despite being qualified.</a:t>
            </a:r>
          </a:p>
          <a:p>
            <a:pPr fontAlgn="base"/>
            <a:r>
              <a:rPr lang="en-US" dirty="0"/>
              <a:t>Similarly, </a:t>
            </a:r>
            <a:r>
              <a:rPr lang="en-US" b="1" dirty="0"/>
              <a:t>False Positive Rate (FPR)</a:t>
            </a:r>
            <a:r>
              <a:rPr lang="en-US" dirty="0"/>
              <a:t> gaps measure whether one group is incorrectly classified at higher rates.</a:t>
            </a:r>
          </a:p>
          <a:p>
            <a:pPr fontAlgn="base"/>
            <a:r>
              <a:rPr lang="en-US" dirty="0"/>
              <a:t>Fairness evaluation therefore requires multi-dimensional assessment beyond aggregate performance.</a:t>
            </a:r>
          </a:p>
          <a:p>
            <a:endParaRPr lang="en-IN" dirty="0"/>
          </a:p>
        </p:txBody>
      </p:sp>
    </p:spTree>
    <p:extLst>
      <p:ext uri="{BB962C8B-B14F-4D97-AF65-F5344CB8AC3E}">
        <p14:creationId xmlns:p14="http://schemas.microsoft.com/office/powerpoint/2010/main" val="2873456848"/>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9759E-BB28-A1CE-FA7E-C002C7F87F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BAC76-C3C0-BE0A-A69E-3D478433E3A8}"/>
              </a:ext>
            </a:extLst>
          </p:cNvPr>
          <p:cNvSpPr>
            <a:spLocks noGrp="1"/>
          </p:cNvSpPr>
          <p:nvPr>
            <p:ph type="title"/>
          </p:nvPr>
        </p:nvSpPr>
        <p:spPr/>
        <p:txBody>
          <a:bodyPr/>
          <a:lstStyle/>
          <a:p>
            <a:pPr algn="ctr"/>
            <a:r>
              <a:rPr lang="en-IN" b="1" dirty="0"/>
              <a:t>Strategic Question</a:t>
            </a:r>
            <a:br>
              <a:rPr lang="en-IN" b="1" dirty="0"/>
            </a:br>
            <a:endParaRPr lang="en-IN" dirty="0"/>
          </a:p>
        </p:txBody>
      </p:sp>
      <p:sp>
        <p:nvSpPr>
          <p:cNvPr id="3" name="Content Placeholder 2">
            <a:extLst>
              <a:ext uri="{FF2B5EF4-FFF2-40B4-BE49-F238E27FC236}">
                <a16:creationId xmlns:a16="http://schemas.microsoft.com/office/drawing/2014/main" id="{4A0D67F1-8BA3-95A9-4773-2727CE9F049C}"/>
              </a:ext>
            </a:extLst>
          </p:cNvPr>
          <p:cNvSpPr>
            <a:spLocks noGrp="1"/>
          </p:cNvSpPr>
          <p:nvPr>
            <p:ph idx="1"/>
          </p:nvPr>
        </p:nvSpPr>
        <p:spPr/>
        <p:txBody>
          <a:bodyPr/>
          <a:lstStyle/>
          <a:p>
            <a:pPr fontAlgn="base"/>
            <a:r>
              <a:rPr lang="en-US" dirty="0"/>
              <a:t>From a purely predictive perspective, the model performs well. From an ethical and regulatory perspective, it may expose the institution to risk.</a:t>
            </a:r>
          </a:p>
          <a:p>
            <a:pPr fontAlgn="base"/>
            <a:r>
              <a:rPr lang="en-US" dirty="0"/>
              <a:t>Ethical AI requires balancing predictive performance with fairness compliance.</a:t>
            </a:r>
          </a:p>
          <a:p>
            <a:endParaRPr lang="en-IN" dirty="0"/>
          </a:p>
        </p:txBody>
      </p:sp>
    </p:spTree>
    <p:extLst>
      <p:ext uri="{BB962C8B-B14F-4D97-AF65-F5344CB8AC3E}">
        <p14:creationId xmlns:p14="http://schemas.microsoft.com/office/powerpoint/2010/main" val="3000344469"/>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51BCD-11B2-549D-F75A-E8402C59DE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D032BC-08DF-CC6E-9FB8-EF634A2E15EA}"/>
              </a:ext>
            </a:extLst>
          </p:cNvPr>
          <p:cNvSpPr>
            <a:spLocks noGrp="1"/>
          </p:cNvSpPr>
          <p:nvPr>
            <p:ph type="title"/>
          </p:nvPr>
        </p:nvSpPr>
        <p:spPr/>
        <p:txBody>
          <a:bodyPr>
            <a:normAutofit fontScale="90000"/>
          </a:bodyPr>
          <a:lstStyle/>
          <a:p>
            <a:pPr algn="ctr"/>
            <a:br>
              <a:rPr lang="en-IN" b="1" dirty="0"/>
            </a:br>
            <a:r>
              <a:rPr lang="en-IN" b="1" dirty="0"/>
              <a:t>Privacy and Data Governance</a:t>
            </a:r>
            <a:br>
              <a:rPr lang="en-IN" b="1" dirty="0"/>
            </a:br>
            <a:endParaRPr lang="en-IN" dirty="0"/>
          </a:p>
        </p:txBody>
      </p:sp>
      <p:sp>
        <p:nvSpPr>
          <p:cNvPr id="3" name="Content Placeholder 2">
            <a:extLst>
              <a:ext uri="{FF2B5EF4-FFF2-40B4-BE49-F238E27FC236}">
                <a16:creationId xmlns:a16="http://schemas.microsoft.com/office/drawing/2014/main" id="{4FEA2EAC-5447-71FC-9CD1-12D00ADEDE4B}"/>
              </a:ext>
            </a:extLst>
          </p:cNvPr>
          <p:cNvSpPr>
            <a:spLocks noGrp="1"/>
          </p:cNvSpPr>
          <p:nvPr>
            <p:ph idx="1"/>
          </p:nvPr>
        </p:nvSpPr>
        <p:spPr/>
        <p:txBody>
          <a:bodyPr/>
          <a:lstStyle/>
          <a:p>
            <a:pPr fontAlgn="base"/>
            <a:r>
              <a:rPr lang="en-US" dirty="0"/>
              <a:t>Privacy and Data Governance refers to the policies, controls, and safeguards ensuring that financial data is:</a:t>
            </a:r>
          </a:p>
          <a:p>
            <a:pPr fontAlgn="base"/>
            <a:r>
              <a:rPr lang="en-US" dirty="0"/>
              <a:t>Collected lawfully</a:t>
            </a:r>
          </a:p>
          <a:p>
            <a:pPr fontAlgn="base"/>
            <a:r>
              <a:rPr lang="en-US" dirty="0"/>
              <a:t>Stored securely</a:t>
            </a:r>
          </a:p>
          <a:p>
            <a:pPr fontAlgn="base"/>
            <a:r>
              <a:rPr lang="en-US" dirty="0"/>
              <a:t>Accessed appropriately</a:t>
            </a:r>
          </a:p>
          <a:p>
            <a:pPr fontAlgn="base"/>
            <a:r>
              <a:rPr lang="en-US" dirty="0"/>
              <a:t>Used responsibly</a:t>
            </a:r>
          </a:p>
          <a:p>
            <a:pPr fontAlgn="base"/>
            <a:r>
              <a:rPr lang="en-US" dirty="0"/>
              <a:t>Retained for legitimate purposes</a:t>
            </a:r>
          </a:p>
          <a:p>
            <a:endParaRPr lang="en-IN" dirty="0"/>
          </a:p>
        </p:txBody>
      </p:sp>
    </p:spTree>
    <p:extLst>
      <p:ext uri="{BB962C8B-B14F-4D97-AF65-F5344CB8AC3E}">
        <p14:creationId xmlns:p14="http://schemas.microsoft.com/office/powerpoint/2010/main" val="3584873651"/>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52458-0B52-71C8-4887-81084A7EF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C5AE49-4CAE-6F97-C8FA-525D0EF15D78}"/>
              </a:ext>
            </a:extLst>
          </p:cNvPr>
          <p:cNvSpPr>
            <a:spLocks noGrp="1"/>
          </p:cNvSpPr>
          <p:nvPr>
            <p:ph type="title"/>
          </p:nvPr>
        </p:nvSpPr>
        <p:spPr/>
        <p:txBody>
          <a:bodyPr>
            <a:normAutofit fontScale="90000"/>
          </a:bodyPr>
          <a:lstStyle/>
          <a:p>
            <a:pPr algn="ctr"/>
            <a:br>
              <a:rPr lang="en-IN" b="1" dirty="0"/>
            </a:br>
            <a:r>
              <a:rPr lang="en-IN" b="1" dirty="0"/>
              <a:t>Privacy and Data Governance</a:t>
            </a:r>
            <a:br>
              <a:rPr lang="en-IN" b="1" dirty="0"/>
            </a:br>
            <a:endParaRPr lang="en-IN" dirty="0"/>
          </a:p>
        </p:txBody>
      </p:sp>
      <p:sp>
        <p:nvSpPr>
          <p:cNvPr id="3" name="Content Placeholder 2">
            <a:extLst>
              <a:ext uri="{FF2B5EF4-FFF2-40B4-BE49-F238E27FC236}">
                <a16:creationId xmlns:a16="http://schemas.microsoft.com/office/drawing/2014/main" id="{E53127A3-28FC-281F-5C9E-43C299756DF7}"/>
              </a:ext>
            </a:extLst>
          </p:cNvPr>
          <p:cNvSpPr>
            <a:spLocks noGrp="1"/>
          </p:cNvSpPr>
          <p:nvPr>
            <p:ph idx="1"/>
          </p:nvPr>
        </p:nvSpPr>
        <p:spPr/>
        <p:txBody>
          <a:bodyPr/>
          <a:lstStyle/>
          <a:p>
            <a:pPr marL="0" indent="0" fontAlgn="base">
              <a:buNone/>
            </a:pPr>
            <a:endParaRPr lang="en-US" dirty="0"/>
          </a:p>
          <a:p>
            <a:pPr fontAlgn="base"/>
            <a:r>
              <a:rPr lang="en-US" dirty="0"/>
              <a:t>What data is collected?</a:t>
            </a:r>
          </a:p>
          <a:p>
            <a:pPr fontAlgn="base"/>
            <a:r>
              <a:rPr lang="en-US" dirty="0"/>
              <a:t>Who can access it?</a:t>
            </a:r>
          </a:p>
          <a:p>
            <a:pPr fontAlgn="base"/>
            <a:r>
              <a:rPr lang="en-US" dirty="0"/>
              <a:t>How it is used in models?</a:t>
            </a:r>
          </a:p>
          <a:p>
            <a:pPr fontAlgn="base"/>
            <a:r>
              <a:rPr lang="en-US" dirty="0"/>
              <a:t>How long it is retained?</a:t>
            </a:r>
          </a:p>
          <a:p>
            <a:endParaRPr lang="en-IN" dirty="0"/>
          </a:p>
        </p:txBody>
      </p:sp>
    </p:spTree>
    <p:extLst>
      <p:ext uri="{BB962C8B-B14F-4D97-AF65-F5344CB8AC3E}">
        <p14:creationId xmlns:p14="http://schemas.microsoft.com/office/powerpoint/2010/main" val="4189554673"/>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B0494-AD5A-8243-FB79-22A47A615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349B7E-9CB4-9F29-7753-400F202F003A}"/>
              </a:ext>
            </a:extLst>
          </p:cNvPr>
          <p:cNvSpPr>
            <a:spLocks noGrp="1"/>
          </p:cNvSpPr>
          <p:nvPr>
            <p:ph type="title"/>
          </p:nvPr>
        </p:nvSpPr>
        <p:spPr/>
        <p:txBody>
          <a:bodyPr>
            <a:normAutofit fontScale="90000"/>
          </a:bodyPr>
          <a:lstStyle/>
          <a:p>
            <a:pPr algn="ctr"/>
            <a:br>
              <a:rPr lang="en-IN" b="1" dirty="0"/>
            </a:br>
            <a:r>
              <a:rPr lang="en-IN" b="1" dirty="0"/>
              <a:t>Privacy and Data Governance</a:t>
            </a:r>
            <a:br>
              <a:rPr lang="en-IN" b="1" dirty="0"/>
            </a:br>
            <a:endParaRPr lang="en-IN" dirty="0"/>
          </a:p>
        </p:txBody>
      </p:sp>
      <p:sp>
        <p:nvSpPr>
          <p:cNvPr id="3" name="Content Placeholder 2">
            <a:extLst>
              <a:ext uri="{FF2B5EF4-FFF2-40B4-BE49-F238E27FC236}">
                <a16:creationId xmlns:a16="http://schemas.microsoft.com/office/drawing/2014/main" id="{04D15286-6C17-70F8-0A0C-AA56E7A5A49D}"/>
              </a:ext>
            </a:extLst>
          </p:cNvPr>
          <p:cNvSpPr>
            <a:spLocks noGrp="1"/>
          </p:cNvSpPr>
          <p:nvPr>
            <p:ph idx="1"/>
          </p:nvPr>
        </p:nvSpPr>
        <p:spPr/>
        <p:txBody>
          <a:bodyPr/>
          <a:lstStyle/>
          <a:p>
            <a:pPr fontAlgn="base"/>
            <a:r>
              <a:rPr lang="en-US" b="1" dirty="0"/>
              <a:t>Why It Matters in AI Systems</a:t>
            </a:r>
          </a:p>
          <a:p>
            <a:pPr fontAlgn="base"/>
            <a:r>
              <a:rPr lang="en-US" dirty="0"/>
              <a:t>AI models often aggregate:</a:t>
            </a:r>
          </a:p>
          <a:p>
            <a:pPr fontAlgn="base"/>
            <a:r>
              <a:rPr lang="en-US" dirty="0"/>
              <a:t>Transaction histories</a:t>
            </a:r>
          </a:p>
          <a:p>
            <a:pPr fontAlgn="base"/>
            <a:r>
              <a:rPr lang="en-US" dirty="0"/>
              <a:t>Behavioral data</a:t>
            </a:r>
          </a:p>
          <a:p>
            <a:pPr fontAlgn="base"/>
            <a:r>
              <a:rPr lang="en-US" dirty="0"/>
              <a:t>Geolocation patterns</a:t>
            </a:r>
          </a:p>
          <a:p>
            <a:pPr fontAlgn="base"/>
            <a:r>
              <a:rPr lang="en-US" dirty="0"/>
              <a:t>Alternative credit data</a:t>
            </a:r>
          </a:p>
          <a:p>
            <a:endParaRPr lang="en-IN" dirty="0"/>
          </a:p>
        </p:txBody>
      </p:sp>
    </p:spTree>
    <p:extLst>
      <p:ext uri="{BB962C8B-B14F-4D97-AF65-F5344CB8AC3E}">
        <p14:creationId xmlns:p14="http://schemas.microsoft.com/office/powerpoint/2010/main" val="1655010230"/>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F3E12-8A48-C5CB-E1E2-F988175A412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C558B9-7F1E-B0E5-ED5E-B146CBD1AAA8}"/>
              </a:ext>
            </a:extLst>
          </p:cNvPr>
          <p:cNvSpPr>
            <a:spLocks noGrp="1"/>
          </p:cNvSpPr>
          <p:nvPr>
            <p:ph idx="1"/>
          </p:nvPr>
        </p:nvSpPr>
        <p:spPr/>
        <p:txBody>
          <a:bodyPr/>
          <a:lstStyle/>
          <a:p>
            <a:pPr marL="0" indent="0" fontAlgn="base">
              <a:buNone/>
            </a:pPr>
            <a:r>
              <a:rPr lang="en-US" dirty="0"/>
              <a:t>Improper handling can lead to:</a:t>
            </a:r>
          </a:p>
          <a:p>
            <a:pPr marL="0" indent="0" fontAlgn="base">
              <a:buNone/>
            </a:pPr>
            <a:endParaRPr lang="en-US" dirty="0"/>
          </a:p>
          <a:p>
            <a:pPr fontAlgn="base"/>
            <a:r>
              <a:rPr lang="en-US" dirty="0"/>
              <a:t>Privacy violations</a:t>
            </a:r>
          </a:p>
          <a:p>
            <a:pPr fontAlgn="base"/>
            <a:r>
              <a:rPr lang="en-US" dirty="0"/>
              <a:t>Regulatory penalties</a:t>
            </a:r>
          </a:p>
          <a:p>
            <a:pPr fontAlgn="base"/>
            <a:r>
              <a:rPr lang="en-US" dirty="0"/>
              <a:t>Loss of customer trust</a:t>
            </a:r>
          </a:p>
          <a:p>
            <a:pPr fontAlgn="base"/>
            <a:r>
              <a:rPr lang="en-US" dirty="0"/>
              <a:t>Financial data is not just information — it represents economic identity.</a:t>
            </a:r>
          </a:p>
          <a:p>
            <a:endParaRPr lang="en-IN" dirty="0"/>
          </a:p>
        </p:txBody>
      </p:sp>
    </p:spTree>
    <p:extLst>
      <p:ext uri="{BB962C8B-B14F-4D97-AF65-F5344CB8AC3E}">
        <p14:creationId xmlns:p14="http://schemas.microsoft.com/office/powerpoint/2010/main" val="884760820"/>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807CF-770B-EB63-32B2-E1F80DC861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9BE7FD-3EB7-1AD7-47FC-BC1FC3ECA1A4}"/>
              </a:ext>
            </a:extLst>
          </p:cNvPr>
          <p:cNvSpPr>
            <a:spLocks noGrp="1"/>
          </p:cNvSpPr>
          <p:nvPr>
            <p:ph type="title"/>
          </p:nvPr>
        </p:nvSpPr>
        <p:spPr/>
        <p:txBody>
          <a:bodyPr/>
          <a:lstStyle/>
          <a:p>
            <a:pPr algn="ctr"/>
            <a:r>
              <a:rPr lang="en-IN" b="1" dirty="0"/>
              <a:t>Privacy Mitigation Strategies</a:t>
            </a:r>
            <a:br>
              <a:rPr lang="en-IN" b="1" dirty="0"/>
            </a:br>
            <a:endParaRPr lang="en-IN" dirty="0"/>
          </a:p>
        </p:txBody>
      </p:sp>
      <p:sp>
        <p:nvSpPr>
          <p:cNvPr id="3" name="Content Placeholder 2">
            <a:extLst>
              <a:ext uri="{FF2B5EF4-FFF2-40B4-BE49-F238E27FC236}">
                <a16:creationId xmlns:a16="http://schemas.microsoft.com/office/drawing/2014/main" id="{F72BA63E-C1B6-0732-21C6-B7735F9F55F3}"/>
              </a:ext>
            </a:extLst>
          </p:cNvPr>
          <p:cNvSpPr>
            <a:spLocks noGrp="1"/>
          </p:cNvSpPr>
          <p:nvPr>
            <p:ph idx="1"/>
          </p:nvPr>
        </p:nvSpPr>
        <p:spPr/>
        <p:txBody>
          <a:bodyPr/>
          <a:lstStyle/>
          <a:p>
            <a:pPr marL="0" indent="0" fontAlgn="base">
              <a:buNone/>
            </a:pPr>
            <a:r>
              <a:rPr lang="en-IN" dirty="0"/>
              <a:t>Mitigation mechanisms include:</a:t>
            </a:r>
          </a:p>
          <a:p>
            <a:pPr marL="0" indent="0" fontAlgn="base">
              <a:buNone/>
            </a:pPr>
            <a:endParaRPr lang="en-IN" dirty="0"/>
          </a:p>
          <a:p>
            <a:pPr fontAlgn="base"/>
            <a:r>
              <a:rPr lang="en-IN" dirty="0"/>
              <a:t>Data minimization</a:t>
            </a:r>
          </a:p>
          <a:p>
            <a:pPr fontAlgn="base"/>
            <a:r>
              <a:rPr lang="en-IN" dirty="0"/>
              <a:t>Encryption</a:t>
            </a:r>
          </a:p>
          <a:p>
            <a:pPr fontAlgn="base"/>
            <a:r>
              <a:rPr lang="en-IN" dirty="0"/>
              <a:t>Access control systems</a:t>
            </a:r>
          </a:p>
          <a:p>
            <a:pPr fontAlgn="base"/>
            <a:r>
              <a:rPr lang="en-IN" dirty="0"/>
              <a:t>Anonymization and pseudonymization</a:t>
            </a:r>
          </a:p>
          <a:p>
            <a:pPr fontAlgn="base"/>
            <a:r>
              <a:rPr lang="en-IN" dirty="0"/>
              <a:t>Differential privacy techniques</a:t>
            </a:r>
          </a:p>
          <a:p>
            <a:endParaRPr lang="en-IN" dirty="0"/>
          </a:p>
        </p:txBody>
      </p:sp>
    </p:spTree>
    <p:extLst>
      <p:ext uri="{BB962C8B-B14F-4D97-AF65-F5344CB8AC3E}">
        <p14:creationId xmlns:p14="http://schemas.microsoft.com/office/powerpoint/2010/main" val="18460536"/>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39473-3E7B-BA64-A384-2E8B32C4FF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82462-52B7-049E-EE1F-E305A89D352F}"/>
              </a:ext>
            </a:extLst>
          </p:cNvPr>
          <p:cNvSpPr>
            <a:spLocks noGrp="1"/>
          </p:cNvSpPr>
          <p:nvPr>
            <p:ph type="title"/>
          </p:nvPr>
        </p:nvSpPr>
        <p:spPr/>
        <p:txBody>
          <a:bodyPr>
            <a:normAutofit fontScale="90000"/>
          </a:bodyPr>
          <a:lstStyle/>
          <a:p>
            <a:pPr algn="ctr"/>
            <a:br>
              <a:rPr lang="en-IN" b="1" dirty="0"/>
            </a:br>
            <a:r>
              <a:rPr lang="en-IN" b="1" dirty="0"/>
              <a:t>Explainability and Transparency</a:t>
            </a:r>
            <a:br>
              <a:rPr lang="en-IN" b="1" dirty="0"/>
            </a:br>
            <a:endParaRPr lang="en-IN" dirty="0"/>
          </a:p>
        </p:txBody>
      </p:sp>
      <p:sp>
        <p:nvSpPr>
          <p:cNvPr id="3" name="Content Placeholder 2">
            <a:extLst>
              <a:ext uri="{FF2B5EF4-FFF2-40B4-BE49-F238E27FC236}">
                <a16:creationId xmlns:a16="http://schemas.microsoft.com/office/drawing/2014/main" id="{C999D322-A2B9-6EEA-233A-12F065F8E947}"/>
              </a:ext>
            </a:extLst>
          </p:cNvPr>
          <p:cNvSpPr>
            <a:spLocks noGrp="1"/>
          </p:cNvSpPr>
          <p:nvPr>
            <p:ph idx="1"/>
          </p:nvPr>
        </p:nvSpPr>
        <p:spPr/>
        <p:txBody>
          <a:bodyPr>
            <a:normAutofit fontScale="92500" lnSpcReduction="10000"/>
          </a:bodyPr>
          <a:lstStyle/>
          <a:p>
            <a:pPr marL="0" indent="0" fontAlgn="base">
              <a:buNone/>
            </a:pPr>
            <a:r>
              <a:rPr lang="en-US" b="1" dirty="0"/>
              <a:t>Definitions</a:t>
            </a:r>
          </a:p>
          <a:p>
            <a:pPr fontAlgn="base"/>
            <a:r>
              <a:rPr lang="en-US" dirty="0"/>
              <a:t>Explainability is the ability to describe how an AI model generates predictions.</a:t>
            </a:r>
          </a:p>
          <a:p>
            <a:pPr fontAlgn="base"/>
            <a:r>
              <a:rPr lang="en-US" dirty="0"/>
              <a:t>Transparency refers to openness about:</a:t>
            </a:r>
          </a:p>
          <a:p>
            <a:pPr fontAlgn="base"/>
            <a:r>
              <a:rPr lang="en-US" dirty="0"/>
              <a:t>Data sources</a:t>
            </a:r>
          </a:p>
          <a:p>
            <a:pPr fontAlgn="base"/>
            <a:r>
              <a:rPr lang="en-US" dirty="0"/>
              <a:t>Model logic</a:t>
            </a:r>
          </a:p>
          <a:p>
            <a:pPr fontAlgn="base"/>
            <a:r>
              <a:rPr lang="en-US" dirty="0"/>
              <a:t>Assumptions</a:t>
            </a:r>
          </a:p>
          <a:p>
            <a:pPr fontAlgn="base"/>
            <a:r>
              <a:rPr lang="en-US" dirty="0"/>
              <a:t>Governance processes</a:t>
            </a:r>
          </a:p>
          <a:p>
            <a:pPr marL="0" indent="0">
              <a:buNone/>
            </a:pPr>
            <a:br>
              <a:rPr lang="en-US" dirty="0"/>
            </a:br>
            <a:endParaRPr lang="en-IN" dirty="0"/>
          </a:p>
        </p:txBody>
      </p:sp>
    </p:spTree>
    <p:extLst>
      <p:ext uri="{BB962C8B-B14F-4D97-AF65-F5344CB8AC3E}">
        <p14:creationId xmlns:p14="http://schemas.microsoft.com/office/powerpoint/2010/main" val="458684011"/>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0574A-850A-C129-B2EF-60B068E852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CD0F01-491C-61F9-FDA1-500E335E72B3}"/>
              </a:ext>
            </a:extLst>
          </p:cNvPr>
          <p:cNvSpPr>
            <a:spLocks noGrp="1"/>
          </p:cNvSpPr>
          <p:nvPr>
            <p:ph type="title"/>
          </p:nvPr>
        </p:nvSpPr>
        <p:spPr/>
        <p:txBody>
          <a:bodyPr/>
          <a:lstStyle/>
          <a:p>
            <a:r>
              <a:rPr lang="en-US" b="1" dirty="0"/>
              <a:t>Why Explainability Is Critical in Finance</a:t>
            </a:r>
            <a:br>
              <a:rPr lang="en-US" b="1" dirty="0"/>
            </a:br>
            <a:endParaRPr lang="en-IN" dirty="0"/>
          </a:p>
        </p:txBody>
      </p:sp>
      <p:sp>
        <p:nvSpPr>
          <p:cNvPr id="3" name="Content Placeholder 2">
            <a:extLst>
              <a:ext uri="{FF2B5EF4-FFF2-40B4-BE49-F238E27FC236}">
                <a16:creationId xmlns:a16="http://schemas.microsoft.com/office/drawing/2014/main" id="{DCAA500B-8996-4350-4309-AC696A266F20}"/>
              </a:ext>
            </a:extLst>
          </p:cNvPr>
          <p:cNvSpPr>
            <a:spLocks noGrp="1"/>
          </p:cNvSpPr>
          <p:nvPr>
            <p:ph idx="1"/>
          </p:nvPr>
        </p:nvSpPr>
        <p:spPr/>
        <p:txBody>
          <a:bodyPr/>
          <a:lstStyle/>
          <a:p>
            <a:pPr fontAlgn="base"/>
            <a:r>
              <a:rPr lang="en-US" dirty="0"/>
              <a:t>If a loan application is denied, the applicant has the right to understand why.</a:t>
            </a:r>
          </a:p>
          <a:p>
            <a:pPr fontAlgn="base"/>
            <a:r>
              <a:rPr lang="en-US" dirty="0"/>
              <a:t>Explainability supports:</a:t>
            </a:r>
          </a:p>
          <a:p>
            <a:pPr fontAlgn="base"/>
            <a:r>
              <a:rPr lang="en-US" dirty="0"/>
              <a:t>Regulatory compliance</a:t>
            </a:r>
          </a:p>
          <a:p>
            <a:pPr fontAlgn="base"/>
            <a:r>
              <a:rPr lang="en-US" dirty="0"/>
              <a:t>Customer trust</a:t>
            </a:r>
          </a:p>
          <a:p>
            <a:pPr fontAlgn="base"/>
            <a:r>
              <a:rPr lang="en-US" dirty="0"/>
              <a:t>Appeals processes</a:t>
            </a:r>
          </a:p>
          <a:p>
            <a:pPr fontAlgn="base"/>
            <a:r>
              <a:rPr lang="en-US" dirty="0"/>
              <a:t>Internal risk oversight</a:t>
            </a:r>
          </a:p>
          <a:p>
            <a:endParaRPr lang="en-IN" dirty="0"/>
          </a:p>
        </p:txBody>
      </p:sp>
    </p:spTree>
    <p:extLst>
      <p:ext uri="{BB962C8B-B14F-4D97-AF65-F5344CB8AC3E}">
        <p14:creationId xmlns:p14="http://schemas.microsoft.com/office/powerpoint/2010/main" val="3582498413"/>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28916-FE9C-DF4C-C5FD-D15AD3C457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695EAE-48E7-04CB-4CD4-499338F50B97}"/>
              </a:ext>
            </a:extLst>
          </p:cNvPr>
          <p:cNvSpPr>
            <a:spLocks noGrp="1"/>
          </p:cNvSpPr>
          <p:nvPr>
            <p:ph type="title"/>
          </p:nvPr>
        </p:nvSpPr>
        <p:spPr/>
        <p:txBody>
          <a:bodyPr/>
          <a:lstStyle/>
          <a:p>
            <a:r>
              <a:rPr lang="en-US" b="1" dirty="0"/>
              <a:t>Global vs Local Explainability</a:t>
            </a:r>
            <a:br>
              <a:rPr lang="en-US" b="1" dirty="0"/>
            </a:br>
            <a:endParaRPr lang="en-IN" dirty="0"/>
          </a:p>
        </p:txBody>
      </p:sp>
      <p:sp>
        <p:nvSpPr>
          <p:cNvPr id="3" name="Content Placeholder 2">
            <a:extLst>
              <a:ext uri="{FF2B5EF4-FFF2-40B4-BE49-F238E27FC236}">
                <a16:creationId xmlns:a16="http://schemas.microsoft.com/office/drawing/2014/main" id="{D837EE71-05DD-7D1A-ADF7-2A73026B3CE4}"/>
              </a:ext>
            </a:extLst>
          </p:cNvPr>
          <p:cNvSpPr>
            <a:spLocks noGrp="1"/>
          </p:cNvSpPr>
          <p:nvPr>
            <p:ph idx="1"/>
          </p:nvPr>
        </p:nvSpPr>
        <p:spPr/>
        <p:txBody>
          <a:bodyPr/>
          <a:lstStyle/>
          <a:p>
            <a:pPr marL="0" indent="0" fontAlgn="base">
              <a:buNone/>
            </a:pPr>
            <a:r>
              <a:rPr lang="en-US" b="1" dirty="0"/>
              <a:t>Global Explainability</a:t>
            </a:r>
          </a:p>
          <a:p>
            <a:pPr fontAlgn="base"/>
            <a:r>
              <a:rPr lang="en-US" dirty="0"/>
              <a:t>Explains overall model behavior.</a:t>
            </a:r>
          </a:p>
          <a:p>
            <a:pPr fontAlgn="base"/>
            <a:r>
              <a:rPr lang="en-US" dirty="0"/>
              <a:t>Example questions:</a:t>
            </a:r>
          </a:p>
          <a:p>
            <a:pPr fontAlgn="base"/>
            <a:r>
              <a:rPr lang="en-US" dirty="0"/>
              <a:t>Which variables matter most?</a:t>
            </a:r>
          </a:p>
          <a:p>
            <a:pPr fontAlgn="base"/>
            <a:r>
              <a:rPr lang="en-US" dirty="0"/>
              <a:t>How does income affect approval probability?</a:t>
            </a:r>
          </a:p>
          <a:p>
            <a:pPr marL="0" indent="0" fontAlgn="base">
              <a:buNone/>
            </a:pPr>
            <a:r>
              <a:rPr lang="en-US" b="1" dirty="0"/>
              <a:t>Local Explainability</a:t>
            </a:r>
          </a:p>
          <a:p>
            <a:pPr fontAlgn="base"/>
            <a:r>
              <a:rPr lang="en-US" dirty="0"/>
              <a:t>Explains a single prediction.</a:t>
            </a:r>
          </a:p>
          <a:p>
            <a:pPr fontAlgn="base"/>
            <a:r>
              <a:rPr lang="en-US" dirty="0"/>
              <a:t>Example: Why was this individual denied?</a:t>
            </a:r>
          </a:p>
          <a:p>
            <a:endParaRPr lang="en-IN" dirty="0"/>
          </a:p>
        </p:txBody>
      </p:sp>
    </p:spTree>
    <p:extLst>
      <p:ext uri="{BB962C8B-B14F-4D97-AF65-F5344CB8AC3E}">
        <p14:creationId xmlns:p14="http://schemas.microsoft.com/office/powerpoint/2010/main" val="3484096031"/>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768FF-F003-863E-D1EE-7289817631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EDE8E3-1B83-44A7-8850-6E3D65E27B57}"/>
              </a:ext>
            </a:extLst>
          </p:cNvPr>
          <p:cNvSpPr>
            <a:spLocks noGrp="1"/>
          </p:cNvSpPr>
          <p:nvPr>
            <p:ph type="title"/>
          </p:nvPr>
        </p:nvSpPr>
        <p:spPr/>
        <p:txBody>
          <a:bodyPr/>
          <a:lstStyle/>
          <a:p>
            <a:pPr algn="ctr"/>
            <a:r>
              <a:rPr lang="en-US" b="1" dirty="0"/>
              <a:t>Governance and Accountability</a:t>
            </a:r>
            <a:br>
              <a:rPr lang="en-US" b="1" dirty="0"/>
            </a:br>
            <a:endParaRPr lang="en-IN" dirty="0"/>
          </a:p>
        </p:txBody>
      </p:sp>
      <p:sp>
        <p:nvSpPr>
          <p:cNvPr id="3" name="Content Placeholder 2">
            <a:extLst>
              <a:ext uri="{FF2B5EF4-FFF2-40B4-BE49-F238E27FC236}">
                <a16:creationId xmlns:a16="http://schemas.microsoft.com/office/drawing/2014/main" id="{3165CC41-36B5-0741-D8F7-3E2235B86B27}"/>
              </a:ext>
            </a:extLst>
          </p:cNvPr>
          <p:cNvSpPr>
            <a:spLocks noGrp="1"/>
          </p:cNvSpPr>
          <p:nvPr>
            <p:ph idx="1"/>
          </p:nvPr>
        </p:nvSpPr>
        <p:spPr/>
        <p:txBody>
          <a:bodyPr/>
          <a:lstStyle/>
          <a:p>
            <a:pPr marL="0" indent="0" fontAlgn="base">
              <a:buNone/>
            </a:pPr>
            <a:r>
              <a:rPr lang="en-US" b="1" dirty="0"/>
              <a:t> Who Is Responsible?</a:t>
            </a:r>
          </a:p>
          <a:p>
            <a:pPr fontAlgn="base"/>
            <a:r>
              <a:rPr lang="en-US" dirty="0"/>
              <a:t>Corporates are accountable.</a:t>
            </a:r>
          </a:p>
          <a:p>
            <a:pPr fontAlgn="base"/>
            <a:r>
              <a:rPr lang="en-US" dirty="0"/>
              <a:t>Responsibility cannot be delegated to algorithms.</a:t>
            </a:r>
          </a:p>
          <a:p>
            <a:pPr fontAlgn="base"/>
            <a:r>
              <a:rPr lang="en-US" dirty="0"/>
              <a:t>AI is a tool. Institutions own its consequences.</a:t>
            </a:r>
          </a:p>
          <a:p>
            <a:endParaRPr lang="en-IN" dirty="0"/>
          </a:p>
        </p:txBody>
      </p:sp>
    </p:spTree>
    <p:extLst>
      <p:ext uri="{BB962C8B-B14F-4D97-AF65-F5344CB8AC3E}">
        <p14:creationId xmlns:p14="http://schemas.microsoft.com/office/powerpoint/2010/main" val="2790578915"/>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7B936-F8E2-D24F-DD3C-F37895A1FA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12EAC-A2F5-7987-49FD-D4FB1DDB5BA9}"/>
              </a:ext>
            </a:extLst>
          </p:cNvPr>
          <p:cNvSpPr>
            <a:spLocks noGrp="1"/>
          </p:cNvSpPr>
          <p:nvPr>
            <p:ph type="title"/>
          </p:nvPr>
        </p:nvSpPr>
        <p:spPr/>
        <p:txBody>
          <a:bodyPr/>
          <a:lstStyle/>
          <a:p>
            <a:r>
              <a:rPr lang="en-IN" b="1" dirty="0"/>
              <a:t>AI Governance Framework</a:t>
            </a:r>
            <a:br>
              <a:rPr lang="en-IN" b="1" dirty="0"/>
            </a:br>
            <a:endParaRPr lang="en-IN" dirty="0"/>
          </a:p>
        </p:txBody>
      </p:sp>
      <p:sp>
        <p:nvSpPr>
          <p:cNvPr id="3" name="Content Placeholder 2">
            <a:extLst>
              <a:ext uri="{FF2B5EF4-FFF2-40B4-BE49-F238E27FC236}">
                <a16:creationId xmlns:a16="http://schemas.microsoft.com/office/drawing/2014/main" id="{0C781209-5D4E-1A57-E8FE-B4822CD5C0DE}"/>
              </a:ext>
            </a:extLst>
          </p:cNvPr>
          <p:cNvSpPr>
            <a:spLocks noGrp="1"/>
          </p:cNvSpPr>
          <p:nvPr>
            <p:ph idx="1"/>
          </p:nvPr>
        </p:nvSpPr>
        <p:spPr/>
        <p:txBody>
          <a:bodyPr/>
          <a:lstStyle/>
          <a:p>
            <a:pPr fontAlgn="base"/>
            <a:r>
              <a:rPr lang="en-IN" dirty="0"/>
              <a:t>Effective governance includes:</a:t>
            </a:r>
          </a:p>
          <a:p>
            <a:pPr fontAlgn="base"/>
            <a:r>
              <a:rPr lang="en-IN" dirty="0"/>
              <a:t>AI Ethics Review Board</a:t>
            </a:r>
          </a:p>
          <a:p>
            <a:pPr fontAlgn="base"/>
            <a:r>
              <a:rPr lang="en-IN" dirty="0"/>
              <a:t>Model validation committees</a:t>
            </a:r>
          </a:p>
          <a:p>
            <a:pPr fontAlgn="base"/>
            <a:r>
              <a:rPr lang="en-IN" dirty="0"/>
              <a:t>Fairness testing protocols</a:t>
            </a:r>
          </a:p>
          <a:p>
            <a:pPr fontAlgn="base"/>
            <a:r>
              <a:rPr lang="en-IN" dirty="0"/>
              <a:t>Documentation standards</a:t>
            </a:r>
          </a:p>
          <a:p>
            <a:endParaRPr lang="en-IN" dirty="0"/>
          </a:p>
        </p:txBody>
      </p:sp>
    </p:spTree>
    <p:extLst>
      <p:ext uri="{BB962C8B-B14F-4D97-AF65-F5344CB8AC3E}">
        <p14:creationId xmlns:p14="http://schemas.microsoft.com/office/powerpoint/2010/main" val="3477871640"/>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18C80-7A12-7E86-1B7E-E0D6C5AB9939}"/>
              </a:ext>
            </a:extLst>
          </p:cNvPr>
          <p:cNvSpPr>
            <a:spLocks noGrp="1"/>
          </p:cNvSpPr>
          <p:nvPr>
            <p:ph type="title"/>
          </p:nvPr>
        </p:nvSpPr>
        <p:spPr/>
        <p:txBody>
          <a:bodyPr/>
          <a:lstStyle/>
          <a:p>
            <a:pPr algn="ctr"/>
            <a:r>
              <a:rPr lang="en-US" b="1" dirty="0"/>
              <a:t>Human-in-the-Loop</a:t>
            </a:r>
            <a:br>
              <a:rPr lang="en-US" b="1" dirty="0"/>
            </a:br>
            <a:endParaRPr lang="en-IN" dirty="0"/>
          </a:p>
        </p:txBody>
      </p:sp>
      <p:sp>
        <p:nvSpPr>
          <p:cNvPr id="3" name="Content Placeholder 2">
            <a:extLst>
              <a:ext uri="{FF2B5EF4-FFF2-40B4-BE49-F238E27FC236}">
                <a16:creationId xmlns:a16="http://schemas.microsoft.com/office/drawing/2014/main" id="{995A4C0C-131E-9086-F596-151739825B93}"/>
              </a:ext>
            </a:extLst>
          </p:cNvPr>
          <p:cNvSpPr>
            <a:spLocks noGrp="1"/>
          </p:cNvSpPr>
          <p:nvPr>
            <p:ph idx="1"/>
          </p:nvPr>
        </p:nvSpPr>
        <p:spPr/>
        <p:txBody>
          <a:bodyPr/>
          <a:lstStyle/>
          <a:p>
            <a:pPr fontAlgn="base"/>
            <a:r>
              <a:rPr lang="en-US" dirty="0"/>
              <a:t>Mandatory review for:</a:t>
            </a:r>
          </a:p>
          <a:p>
            <a:pPr fontAlgn="base"/>
            <a:r>
              <a:rPr lang="en-US" dirty="0"/>
              <a:t>Loan denials</a:t>
            </a:r>
          </a:p>
          <a:p>
            <a:pPr fontAlgn="base"/>
            <a:r>
              <a:rPr lang="en-US" dirty="0"/>
              <a:t>Large credit exposures</a:t>
            </a:r>
          </a:p>
          <a:p>
            <a:pPr fontAlgn="base"/>
            <a:r>
              <a:rPr lang="en-US" dirty="0"/>
              <a:t>Fraud edge cases</a:t>
            </a:r>
          </a:p>
          <a:p>
            <a:pPr fontAlgn="base"/>
            <a:r>
              <a:rPr lang="en-US" dirty="0"/>
              <a:t>Automation does not eliminate accountability.</a:t>
            </a:r>
          </a:p>
          <a:p>
            <a:endParaRPr lang="en-IN" dirty="0"/>
          </a:p>
        </p:txBody>
      </p:sp>
    </p:spTree>
    <p:extLst>
      <p:ext uri="{BB962C8B-B14F-4D97-AF65-F5344CB8AC3E}">
        <p14:creationId xmlns:p14="http://schemas.microsoft.com/office/powerpoint/2010/main" val="1393299788"/>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1FCED-458A-0A01-E161-5E2E974D8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73913-C3CF-C2A2-77BE-42BB39D0B99B}"/>
              </a:ext>
            </a:extLst>
          </p:cNvPr>
          <p:cNvSpPr>
            <a:spLocks noGrp="1"/>
          </p:cNvSpPr>
          <p:nvPr>
            <p:ph type="title"/>
          </p:nvPr>
        </p:nvSpPr>
        <p:spPr/>
        <p:txBody>
          <a:bodyPr/>
          <a:lstStyle/>
          <a:p>
            <a:pPr algn="ctr"/>
            <a:r>
              <a:rPr lang="en-US" b="1" dirty="0"/>
              <a:t>Documentation and Audit</a:t>
            </a:r>
            <a:br>
              <a:rPr lang="en-US" b="1" dirty="0"/>
            </a:br>
            <a:endParaRPr lang="en-IN" dirty="0"/>
          </a:p>
        </p:txBody>
      </p:sp>
      <p:sp>
        <p:nvSpPr>
          <p:cNvPr id="3" name="Content Placeholder 2">
            <a:extLst>
              <a:ext uri="{FF2B5EF4-FFF2-40B4-BE49-F238E27FC236}">
                <a16:creationId xmlns:a16="http://schemas.microsoft.com/office/drawing/2014/main" id="{3767B9B1-7928-FF4E-F8EF-16D3C08A243F}"/>
              </a:ext>
            </a:extLst>
          </p:cNvPr>
          <p:cNvSpPr>
            <a:spLocks noGrp="1"/>
          </p:cNvSpPr>
          <p:nvPr>
            <p:ph idx="1"/>
          </p:nvPr>
        </p:nvSpPr>
        <p:spPr/>
        <p:txBody>
          <a:bodyPr>
            <a:normAutofit/>
          </a:bodyPr>
          <a:lstStyle/>
          <a:p>
            <a:pPr fontAlgn="base"/>
            <a:r>
              <a:rPr lang="en-US" dirty="0"/>
              <a:t>Institutions must document:</a:t>
            </a:r>
          </a:p>
          <a:p>
            <a:pPr fontAlgn="base"/>
            <a:r>
              <a:rPr lang="en-US" dirty="0"/>
              <a:t>Training data sources</a:t>
            </a:r>
          </a:p>
          <a:p>
            <a:pPr fontAlgn="base"/>
            <a:r>
              <a:rPr lang="en-US" dirty="0"/>
              <a:t>Data lineage</a:t>
            </a:r>
          </a:p>
          <a:p>
            <a:pPr fontAlgn="base"/>
            <a:r>
              <a:rPr lang="en-US" dirty="0"/>
              <a:t>Model assumptions</a:t>
            </a:r>
          </a:p>
          <a:p>
            <a:pPr fontAlgn="base"/>
            <a:r>
              <a:rPr lang="en-US" dirty="0"/>
              <a:t>Performance metrics</a:t>
            </a:r>
          </a:p>
          <a:p>
            <a:pPr fontAlgn="base"/>
            <a:r>
              <a:rPr lang="en-US" dirty="0"/>
              <a:t>Fairness results</a:t>
            </a:r>
          </a:p>
          <a:p>
            <a:pPr fontAlgn="base"/>
            <a:r>
              <a:rPr lang="en-US" dirty="0"/>
              <a:t>Version history</a:t>
            </a:r>
          </a:p>
          <a:p>
            <a:pPr fontAlgn="base"/>
            <a:r>
              <a:rPr lang="en-US" dirty="0"/>
              <a:t>Transparency protects both customers and institutions.</a:t>
            </a:r>
          </a:p>
          <a:p>
            <a:endParaRPr lang="en-IN" dirty="0"/>
          </a:p>
        </p:txBody>
      </p:sp>
    </p:spTree>
    <p:extLst>
      <p:ext uri="{BB962C8B-B14F-4D97-AF65-F5344CB8AC3E}">
        <p14:creationId xmlns:p14="http://schemas.microsoft.com/office/powerpoint/2010/main" val="2032675512"/>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2E277-F454-7332-024E-1F067C24C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AFEF91-B9D7-02B0-BCF5-0D856275254C}"/>
              </a:ext>
            </a:extLst>
          </p:cNvPr>
          <p:cNvSpPr>
            <a:spLocks noGrp="1"/>
          </p:cNvSpPr>
          <p:nvPr>
            <p:ph type="title"/>
          </p:nvPr>
        </p:nvSpPr>
        <p:spPr/>
        <p:txBody>
          <a:bodyPr/>
          <a:lstStyle/>
          <a:p>
            <a:pPr algn="ctr"/>
            <a:r>
              <a:rPr lang="en-US" b="1" dirty="0"/>
              <a:t>Ethical AI as Strategic Advantage</a:t>
            </a:r>
            <a:br>
              <a:rPr lang="en-US" b="1" dirty="0"/>
            </a:br>
            <a:endParaRPr lang="en-IN" dirty="0"/>
          </a:p>
        </p:txBody>
      </p:sp>
      <p:sp>
        <p:nvSpPr>
          <p:cNvPr id="3" name="Content Placeholder 2">
            <a:extLst>
              <a:ext uri="{FF2B5EF4-FFF2-40B4-BE49-F238E27FC236}">
                <a16:creationId xmlns:a16="http://schemas.microsoft.com/office/drawing/2014/main" id="{D279B932-3A32-84E4-F262-C392359E5DF9}"/>
              </a:ext>
            </a:extLst>
          </p:cNvPr>
          <p:cNvSpPr>
            <a:spLocks noGrp="1"/>
          </p:cNvSpPr>
          <p:nvPr>
            <p:ph idx="1"/>
          </p:nvPr>
        </p:nvSpPr>
        <p:spPr/>
        <p:txBody>
          <a:bodyPr>
            <a:normAutofit/>
          </a:bodyPr>
          <a:lstStyle/>
          <a:p>
            <a:pPr fontAlgn="base"/>
            <a:r>
              <a:rPr lang="en-US" dirty="0"/>
              <a:t>Ethical AI is not merely risk avoidance.</a:t>
            </a:r>
          </a:p>
          <a:p>
            <a:pPr fontAlgn="base"/>
            <a:r>
              <a:rPr lang="en-US" dirty="0"/>
              <a:t>It can become competitive advantage through:</a:t>
            </a:r>
          </a:p>
          <a:p>
            <a:pPr fontAlgn="base"/>
            <a:r>
              <a:rPr lang="en-US" dirty="0"/>
              <a:t>Increased customer trust</a:t>
            </a:r>
          </a:p>
          <a:p>
            <a:pPr fontAlgn="base"/>
            <a:r>
              <a:rPr lang="en-US" dirty="0"/>
              <a:t>Reduced regulatory exposure</a:t>
            </a:r>
          </a:p>
          <a:p>
            <a:pPr fontAlgn="base"/>
            <a:r>
              <a:rPr lang="en-US" dirty="0"/>
              <a:t>Stronger brand reputation</a:t>
            </a:r>
          </a:p>
          <a:p>
            <a:pPr fontAlgn="base"/>
            <a:r>
              <a:rPr lang="en-US" dirty="0"/>
              <a:t>Sustainable AI deployment</a:t>
            </a:r>
          </a:p>
          <a:p>
            <a:pPr fontAlgn="base"/>
            <a:r>
              <a:rPr lang="en-US" dirty="0"/>
              <a:t>In finance, trust is currency. Ethical AI strengthens institutional capital.</a:t>
            </a:r>
          </a:p>
          <a:p>
            <a:endParaRPr lang="en-IN" dirty="0"/>
          </a:p>
        </p:txBody>
      </p:sp>
    </p:spTree>
    <p:extLst>
      <p:ext uri="{BB962C8B-B14F-4D97-AF65-F5344CB8AC3E}">
        <p14:creationId xmlns:p14="http://schemas.microsoft.com/office/powerpoint/2010/main" val="3855455832"/>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D2356-9AB3-0A62-0FA2-EAA5B9A10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F244DF-274C-4EA0-B876-DE8D894CD525}"/>
              </a:ext>
            </a:extLst>
          </p:cNvPr>
          <p:cNvSpPr>
            <a:spLocks noGrp="1"/>
          </p:cNvSpPr>
          <p:nvPr>
            <p:ph type="title"/>
          </p:nvPr>
        </p:nvSpPr>
        <p:spPr/>
        <p:txBody>
          <a:bodyPr>
            <a:normAutofit fontScale="90000"/>
          </a:bodyPr>
          <a:lstStyle/>
          <a:p>
            <a:pPr algn="ctr"/>
            <a:br>
              <a:rPr lang="en-IN" b="1" dirty="0"/>
            </a:br>
            <a:r>
              <a:rPr lang="en-IN" b="1" dirty="0"/>
              <a:t>What are AI Guardrails?</a:t>
            </a:r>
            <a:br>
              <a:rPr lang="en-IN" b="1" dirty="0"/>
            </a:br>
            <a:endParaRPr lang="en-IN" dirty="0"/>
          </a:p>
        </p:txBody>
      </p:sp>
      <p:sp>
        <p:nvSpPr>
          <p:cNvPr id="3" name="Content Placeholder 2">
            <a:extLst>
              <a:ext uri="{FF2B5EF4-FFF2-40B4-BE49-F238E27FC236}">
                <a16:creationId xmlns:a16="http://schemas.microsoft.com/office/drawing/2014/main" id="{A5DF2197-0FEB-E90B-6241-C7EFB6EE113A}"/>
              </a:ext>
            </a:extLst>
          </p:cNvPr>
          <p:cNvSpPr>
            <a:spLocks noGrp="1"/>
          </p:cNvSpPr>
          <p:nvPr>
            <p:ph idx="1"/>
          </p:nvPr>
        </p:nvSpPr>
        <p:spPr/>
        <p:txBody>
          <a:bodyPr>
            <a:normAutofit fontScale="92500"/>
          </a:bodyPr>
          <a:lstStyle/>
          <a:p>
            <a:pPr fontAlgn="base">
              <a:lnSpc>
                <a:spcPct val="150000"/>
              </a:lnSpc>
            </a:pPr>
            <a:r>
              <a:rPr lang="en-US" dirty="0"/>
              <a:t>AI guardrails are safety barriers designed to keep AI systems on track and ensuring they behave responsibly and safely. </a:t>
            </a:r>
          </a:p>
          <a:p>
            <a:pPr fontAlgn="base">
              <a:lnSpc>
                <a:spcPct val="150000"/>
              </a:lnSpc>
            </a:pPr>
            <a:r>
              <a:rPr lang="en-US" dirty="0"/>
              <a:t>Think of them as a set of policies, controls and technical measures that sit between AI model and the user interface. </a:t>
            </a:r>
          </a:p>
          <a:p>
            <a:pPr fontAlgn="base">
              <a:lnSpc>
                <a:spcPct val="150000"/>
              </a:lnSpc>
            </a:pPr>
            <a:r>
              <a:rPr lang="en-US" dirty="0"/>
              <a:t>Their primary function is to intercept, block and mitigate risks in real time.</a:t>
            </a:r>
          </a:p>
          <a:p>
            <a:pPr fontAlgn="base">
              <a:lnSpc>
                <a:spcPct val="150000"/>
              </a:lnSpc>
            </a:pPr>
            <a:r>
              <a:rPr lang="en-US" dirty="0"/>
              <a:t>It protects organizations from issues like:</a:t>
            </a:r>
          </a:p>
          <a:p>
            <a:pPr>
              <a:lnSpc>
                <a:spcPct val="150000"/>
              </a:lnSpc>
            </a:pPr>
            <a:endParaRPr lang="en-IN" dirty="0"/>
          </a:p>
        </p:txBody>
      </p:sp>
    </p:spTree>
    <p:extLst>
      <p:ext uri="{BB962C8B-B14F-4D97-AF65-F5344CB8AC3E}">
        <p14:creationId xmlns:p14="http://schemas.microsoft.com/office/powerpoint/2010/main" val="23614147"/>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62825-DA96-C3C3-A5B4-E1EF45598EEF}"/>
              </a:ext>
            </a:extLst>
          </p:cNvPr>
          <p:cNvSpPr>
            <a:spLocks noGrp="1"/>
          </p:cNvSpPr>
          <p:nvPr>
            <p:ph type="title"/>
          </p:nvPr>
        </p:nvSpPr>
        <p:spPr/>
        <p:txBody>
          <a:bodyPr>
            <a:normAutofit fontScale="90000"/>
          </a:bodyPr>
          <a:lstStyle/>
          <a:p>
            <a:pPr algn="ctr"/>
            <a:br>
              <a:rPr lang="en-IN" b="1" dirty="0"/>
            </a:br>
            <a:r>
              <a:rPr lang="en-IN" b="1" dirty="0"/>
              <a:t>What are AI Guardrails?</a:t>
            </a:r>
            <a:br>
              <a:rPr lang="en-IN" b="1" dirty="0"/>
            </a:br>
            <a:endParaRPr lang="en-IN" dirty="0"/>
          </a:p>
        </p:txBody>
      </p:sp>
      <p:sp>
        <p:nvSpPr>
          <p:cNvPr id="3" name="Content Placeholder 2">
            <a:extLst>
              <a:ext uri="{FF2B5EF4-FFF2-40B4-BE49-F238E27FC236}">
                <a16:creationId xmlns:a16="http://schemas.microsoft.com/office/drawing/2014/main" id="{440A6024-706B-61EC-AA1E-FE248E943B08}"/>
              </a:ext>
            </a:extLst>
          </p:cNvPr>
          <p:cNvSpPr>
            <a:spLocks noGrp="1"/>
          </p:cNvSpPr>
          <p:nvPr>
            <p:ph idx="1"/>
          </p:nvPr>
        </p:nvSpPr>
        <p:spPr/>
        <p:txBody>
          <a:bodyPr/>
          <a:lstStyle/>
          <a:p>
            <a:pPr marL="0" indent="0" fontAlgn="base">
              <a:lnSpc>
                <a:spcPct val="150000"/>
              </a:lnSpc>
              <a:buNone/>
            </a:pPr>
            <a:r>
              <a:rPr lang="en-US" dirty="0"/>
              <a:t>It protects organizations from issues like:</a:t>
            </a:r>
          </a:p>
          <a:p>
            <a:pPr fontAlgn="base">
              <a:lnSpc>
                <a:spcPct val="150000"/>
              </a:lnSpc>
            </a:pPr>
            <a:r>
              <a:rPr lang="en-US" dirty="0"/>
              <a:t>Hallucinations (incorrect or nonsensical outputs)</a:t>
            </a:r>
          </a:p>
          <a:p>
            <a:pPr fontAlgn="base">
              <a:lnSpc>
                <a:spcPct val="150000"/>
              </a:lnSpc>
            </a:pPr>
            <a:r>
              <a:rPr lang="en-US" dirty="0"/>
              <a:t>Data leakage</a:t>
            </a:r>
          </a:p>
          <a:p>
            <a:pPr fontAlgn="base">
              <a:lnSpc>
                <a:spcPct val="150000"/>
              </a:lnSpc>
            </a:pPr>
            <a:r>
              <a:rPr lang="en-US" dirty="0"/>
              <a:t>Prompt injections</a:t>
            </a:r>
          </a:p>
          <a:p>
            <a:pPr>
              <a:lnSpc>
                <a:spcPct val="150000"/>
              </a:lnSpc>
            </a:pPr>
            <a:endParaRPr lang="en-IN" dirty="0"/>
          </a:p>
        </p:txBody>
      </p:sp>
    </p:spTree>
    <p:extLst>
      <p:ext uri="{BB962C8B-B14F-4D97-AF65-F5344CB8AC3E}">
        <p14:creationId xmlns:p14="http://schemas.microsoft.com/office/powerpoint/2010/main" val="722971782"/>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1FD405-66D6-C82E-02BD-B73E3293786E}"/>
              </a:ext>
            </a:extLst>
          </p:cNvPr>
          <p:cNvPicPr>
            <a:picLocks noChangeAspect="1"/>
          </p:cNvPicPr>
          <p:nvPr/>
        </p:nvPicPr>
        <p:blipFill>
          <a:blip r:embed="rId2"/>
          <a:stretch>
            <a:fillRect/>
          </a:stretch>
        </p:blipFill>
        <p:spPr>
          <a:xfrm>
            <a:off x="1743579" y="986195"/>
            <a:ext cx="9140119" cy="4530021"/>
          </a:xfrm>
          <a:prstGeom prst="rect">
            <a:avLst/>
          </a:prstGeom>
        </p:spPr>
      </p:pic>
    </p:spTree>
    <p:extLst>
      <p:ext uri="{BB962C8B-B14F-4D97-AF65-F5344CB8AC3E}">
        <p14:creationId xmlns:p14="http://schemas.microsoft.com/office/powerpoint/2010/main" val="187096298"/>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2B6FA-7819-01D7-4C6D-DAC362867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62AD9-99B2-35EB-B08B-4E5DD751847D}"/>
              </a:ext>
            </a:extLst>
          </p:cNvPr>
          <p:cNvSpPr>
            <a:spLocks noGrp="1"/>
          </p:cNvSpPr>
          <p:nvPr>
            <p:ph type="title"/>
          </p:nvPr>
        </p:nvSpPr>
        <p:spPr/>
        <p:txBody>
          <a:bodyPr/>
          <a:lstStyle/>
          <a:p>
            <a:r>
              <a:rPr lang="en-IN" b="1" dirty="0"/>
              <a:t>Is Prompt Engineering Enough?</a:t>
            </a:r>
            <a:br>
              <a:rPr lang="en-IN" b="1" dirty="0"/>
            </a:br>
            <a:endParaRPr lang="en-IN" dirty="0"/>
          </a:p>
        </p:txBody>
      </p:sp>
      <p:sp>
        <p:nvSpPr>
          <p:cNvPr id="3" name="Content Placeholder 2">
            <a:extLst>
              <a:ext uri="{FF2B5EF4-FFF2-40B4-BE49-F238E27FC236}">
                <a16:creationId xmlns:a16="http://schemas.microsoft.com/office/drawing/2014/main" id="{AD1EEBB1-0717-F5AF-EE85-35FBEA548C2D}"/>
              </a:ext>
            </a:extLst>
          </p:cNvPr>
          <p:cNvSpPr>
            <a:spLocks noGrp="1"/>
          </p:cNvSpPr>
          <p:nvPr>
            <p:ph idx="1"/>
          </p:nvPr>
        </p:nvSpPr>
        <p:spPr/>
        <p:txBody>
          <a:bodyPr>
            <a:normAutofit lnSpcReduction="10000"/>
          </a:bodyPr>
          <a:lstStyle/>
          <a:p>
            <a:pPr fontAlgn="base"/>
            <a:r>
              <a:rPr lang="en-US" dirty="0"/>
              <a:t>Prompt engineering, carefully designing inputs to steer AI outputs, can influence AI behavior but isn’t a full solution. It’s like giving a driver verbal directions but no road signs. Guardrails outperform prompt engineering by:</a:t>
            </a:r>
          </a:p>
          <a:p>
            <a:pPr fontAlgn="base"/>
            <a:r>
              <a:rPr lang="en-US" dirty="0"/>
              <a:t>Applying consistent rules across all inputs, not just specific prompts.</a:t>
            </a:r>
          </a:p>
          <a:p>
            <a:pPr fontAlgn="base"/>
            <a:r>
              <a:rPr lang="en-US" dirty="0"/>
              <a:t>Addressing systemic issues, like model biases, that prompts can’t resolve.</a:t>
            </a:r>
          </a:p>
          <a:p>
            <a:pPr fontAlgn="base"/>
            <a:r>
              <a:rPr lang="en-US" dirty="0"/>
              <a:t>Enforcing ethical and safety standards universally.</a:t>
            </a:r>
          </a:p>
          <a:p>
            <a:pPr fontAlgn="base"/>
            <a:r>
              <a:rPr lang="en-US" dirty="0"/>
              <a:t>While prompt engineering is a useful tool, guardrails provide the robust, scalable control AI systems need.</a:t>
            </a:r>
          </a:p>
          <a:p>
            <a:endParaRPr lang="en-IN" dirty="0"/>
          </a:p>
        </p:txBody>
      </p:sp>
    </p:spTree>
    <p:extLst>
      <p:ext uri="{BB962C8B-B14F-4D97-AF65-F5344CB8AC3E}">
        <p14:creationId xmlns:p14="http://schemas.microsoft.com/office/powerpoint/2010/main" val="269977114"/>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0EE26-7398-D16C-6A34-B3F38319BC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8B6AA-7EF6-FEF0-790C-A10060BCC637}"/>
              </a:ext>
            </a:extLst>
          </p:cNvPr>
          <p:cNvSpPr>
            <a:spLocks noGrp="1"/>
          </p:cNvSpPr>
          <p:nvPr>
            <p:ph type="title"/>
          </p:nvPr>
        </p:nvSpPr>
        <p:spPr/>
        <p:txBody>
          <a:bodyPr/>
          <a:lstStyle/>
          <a:p>
            <a:r>
              <a:rPr lang="en-US" b="1" dirty="0"/>
              <a:t>How Do AI Guardrails Work?</a:t>
            </a:r>
            <a:br>
              <a:rPr lang="en-US" b="1" dirty="0"/>
            </a:br>
            <a:endParaRPr lang="en-IN" dirty="0"/>
          </a:p>
        </p:txBody>
      </p:sp>
      <p:sp>
        <p:nvSpPr>
          <p:cNvPr id="3" name="Content Placeholder 2">
            <a:extLst>
              <a:ext uri="{FF2B5EF4-FFF2-40B4-BE49-F238E27FC236}">
                <a16:creationId xmlns:a16="http://schemas.microsoft.com/office/drawing/2014/main" id="{4B744FEC-6866-D77F-1775-197FBE3E5B07}"/>
              </a:ext>
            </a:extLst>
          </p:cNvPr>
          <p:cNvSpPr>
            <a:spLocks noGrp="1"/>
          </p:cNvSpPr>
          <p:nvPr>
            <p:ph idx="1"/>
          </p:nvPr>
        </p:nvSpPr>
        <p:spPr/>
        <p:txBody>
          <a:bodyPr/>
          <a:lstStyle/>
          <a:p>
            <a:r>
              <a:rPr lang="en-US" dirty="0"/>
              <a:t>AI guardrails constantly monitors both the input and output of AI systems.</a:t>
            </a:r>
          </a:p>
          <a:p>
            <a:r>
              <a:rPr lang="en-US" dirty="0"/>
              <a:t>They rely on predefined rules and algorithms such as finetuned models or pipelines to detect potentially problematic content or behavior. </a:t>
            </a:r>
          </a:p>
          <a:p>
            <a:r>
              <a:rPr lang="en-US" dirty="0"/>
              <a:t>This real time monitoring allows for immediate intervention when necessary, ensuring that the AI system operates within acceptable boundaries.</a:t>
            </a:r>
            <a:endParaRPr lang="en-IN" dirty="0"/>
          </a:p>
        </p:txBody>
      </p:sp>
    </p:spTree>
    <p:extLst>
      <p:ext uri="{BB962C8B-B14F-4D97-AF65-F5344CB8AC3E}">
        <p14:creationId xmlns:p14="http://schemas.microsoft.com/office/powerpoint/2010/main" val="1251637988"/>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2F968-747C-2198-A68B-F64AB39E94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E5D64A-63E1-CE7D-4A12-481A86EEFEF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FD7CC8A-5F95-C567-6BEC-01A364D10027}"/>
              </a:ext>
            </a:extLst>
          </p:cNvPr>
          <p:cNvSpPr>
            <a:spLocks noGrp="1"/>
          </p:cNvSpPr>
          <p:nvPr>
            <p:ph idx="1"/>
          </p:nvPr>
        </p:nvSpPr>
        <p:spPr/>
        <p:txBody>
          <a:bodyPr/>
          <a:lstStyle/>
          <a:p>
            <a:pPr fontAlgn="base"/>
            <a:r>
              <a:rPr lang="en-US" dirty="0"/>
              <a:t>AI guardrails can be implemented through a combination of:</a:t>
            </a:r>
          </a:p>
          <a:p>
            <a:pPr fontAlgn="base"/>
            <a:r>
              <a:rPr lang="en-US" b="1" dirty="0"/>
              <a:t>Rule-Based Filters:</a:t>
            </a:r>
            <a:r>
              <a:rPr lang="en-US" dirty="0"/>
              <a:t> Simple checks that block or flag specific words, phrases or patterns.</a:t>
            </a:r>
          </a:p>
          <a:p>
            <a:pPr fontAlgn="base"/>
            <a:r>
              <a:rPr lang="en-US" b="1" dirty="0"/>
              <a:t>Algorithmic Monitoring:</a:t>
            </a:r>
            <a:r>
              <a:rPr lang="en-US" dirty="0"/>
              <a:t> Machine learning models that detect anomalies or risky behavior in real time.</a:t>
            </a:r>
          </a:p>
          <a:p>
            <a:pPr fontAlgn="base"/>
            <a:r>
              <a:rPr lang="en-US" b="1" dirty="0"/>
              <a:t>Policy Integration:</a:t>
            </a:r>
            <a:r>
              <a:rPr lang="en-US" dirty="0"/>
              <a:t> Embedding organizational or regulatory guidelines into the AI’s operational logic.</a:t>
            </a:r>
          </a:p>
          <a:p>
            <a:pPr fontAlgn="base"/>
            <a:r>
              <a:rPr lang="en-US" b="1" dirty="0"/>
              <a:t>Human Oversight:</a:t>
            </a:r>
            <a:r>
              <a:rPr lang="en-US" dirty="0"/>
              <a:t> Involving human reviewers for edge cases or high-risk scenarios.</a:t>
            </a:r>
          </a:p>
          <a:p>
            <a:endParaRPr lang="en-IN" dirty="0"/>
          </a:p>
        </p:txBody>
      </p:sp>
    </p:spTree>
    <p:extLst>
      <p:ext uri="{BB962C8B-B14F-4D97-AF65-F5344CB8AC3E}">
        <p14:creationId xmlns:p14="http://schemas.microsoft.com/office/powerpoint/2010/main" val="3524804312"/>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48C19-8376-2D3D-ED6E-67C6BA6FE7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4A2A12-B131-2EDA-A335-B105517452FF}"/>
              </a:ext>
            </a:extLst>
          </p:cNvPr>
          <p:cNvSpPr>
            <a:spLocks noGrp="1"/>
          </p:cNvSpPr>
          <p:nvPr>
            <p:ph type="title"/>
          </p:nvPr>
        </p:nvSpPr>
        <p:spPr/>
        <p:txBody>
          <a:bodyPr>
            <a:normAutofit fontScale="90000"/>
          </a:bodyPr>
          <a:lstStyle/>
          <a:p>
            <a:pPr algn="ctr"/>
            <a:br>
              <a:rPr lang="en-IN" b="1" dirty="0"/>
            </a:br>
            <a:r>
              <a:rPr lang="en-IN" b="1" dirty="0"/>
              <a:t>Types of AI Guardrails</a:t>
            </a:r>
            <a:br>
              <a:rPr lang="en-IN" b="1" dirty="0"/>
            </a:br>
            <a:endParaRPr lang="en-IN" dirty="0"/>
          </a:p>
        </p:txBody>
      </p:sp>
      <p:pic>
        <p:nvPicPr>
          <p:cNvPr id="5" name="Content Placeholder 4">
            <a:extLst>
              <a:ext uri="{FF2B5EF4-FFF2-40B4-BE49-F238E27FC236}">
                <a16:creationId xmlns:a16="http://schemas.microsoft.com/office/drawing/2014/main" id="{DF07A5C4-1E0D-9270-5953-6515A1CABD68}"/>
              </a:ext>
            </a:extLst>
          </p:cNvPr>
          <p:cNvPicPr>
            <a:picLocks noGrp="1" noChangeAspect="1"/>
          </p:cNvPicPr>
          <p:nvPr>
            <p:ph idx="1"/>
          </p:nvPr>
        </p:nvPicPr>
        <p:blipFill>
          <a:blip r:embed="rId2"/>
          <a:stretch>
            <a:fillRect/>
          </a:stretch>
        </p:blipFill>
        <p:spPr>
          <a:xfrm>
            <a:off x="838200" y="1770323"/>
            <a:ext cx="10515600" cy="4582811"/>
          </a:xfrm>
          <a:prstGeom prst="rect">
            <a:avLst/>
          </a:prstGeom>
        </p:spPr>
      </p:pic>
    </p:spTree>
    <p:extLst>
      <p:ext uri="{BB962C8B-B14F-4D97-AF65-F5344CB8AC3E}">
        <p14:creationId xmlns:p14="http://schemas.microsoft.com/office/powerpoint/2010/main" val="2856796196"/>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3B8B9-68B3-7C5B-381C-6E204FB4F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94109A-A9A6-E62B-8955-22D671D08955}"/>
              </a:ext>
            </a:extLst>
          </p:cNvPr>
          <p:cNvSpPr>
            <a:spLocks noGrp="1"/>
          </p:cNvSpPr>
          <p:nvPr>
            <p:ph type="title"/>
          </p:nvPr>
        </p:nvSpPr>
        <p:spPr/>
        <p:txBody>
          <a:bodyPr>
            <a:normAutofit fontScale="90000"/>
          </a:bodyPr>
          <a:lstStyle/>
          <a:p>
            <a:pPr algn="ctr"/>
            <a:r>
              <a:rPr lang="en-IN" b="1" dirty="0"/>
              <a:t> </a:t>
            </a:r>
            <a:br>
              <a:rPr lang="en-IN" b="1" dirty="0"/>
            </a:br>
            <a:r>
              <a:rPr lang="en-IN" b="1" dirty="0"/>
              <a:t>Banking Industry</a:t>
            </a:r>
            <a:br>
              <a:rPr lang="en-IN" b="1" dirty="0"/>
            </a:br>
            <a:endParaRPr lang="en-IN" dirty="0"/>
          </a:p>
        </p:txBody>
      </p:sp>
      <p:sp>
        <p:nvSpPr>
          <p:cNvPr id="3" name="Content Placeholder 2">
            <a:extLst>
              <a:ext uri="{FF2B5EF4-FFF2-40B4-BE49-F238E27FC236}">
                <a16:creationId xmlns:a16="http://schemas.microsoft.com/office/drawing/2014/main" id="{B3D84556-5683-900C-AD42-54918B4F6EF0}"/>
              </a:ext>
            </a:extLst>
          </p:cNvPr>
          <p:cNvSpPr>
            <a:spLocks noGrp="1"/>
          </p:cNvSpPr>
          <p:nvPr>
            <p:ph idx="1"/>
          </p:nvPr>
        </p:nvSpPr>
        <p:spPr/>
        <p:txBody>
          <a:bodyPr/>
          <a:lstStyle/>
          <a:p>
            <a:pPr fontAlgn="base"/>
            <a:r>
              <a:rPr lang="en-US" dirty="0"/>
              <a:t>An American banking chatbot might be asked for investment advice. In this case:</a:t>
            </a:r>
          </a:p>
          <a:p>
            <a:pPr fontAlgn="base"/>
            <a:r>
              <a:rPr lang="en-US" b="1" dirty="0"/>
              <a:t>Ethical and legal guardrails</a:t>
            </a:r>
            <a:r>
              <a:rPr lang="en-US" dirty="0"/>
              <a:t> ensure the bot does not provide unauthorized financial advice.</a:t>
            </a:r>
          </a:p>
          <a:p>
            <a:pPr fontAlgn="base"/>
            <a:r>
              <a:rPr lang="en-US" dirty="0"/>
              <a:t>The system complies with financial regulations like FINRA preventing regulatory breaches.</a:t>
            </a:r>
          </a:p>
          <a:p>
            <a:endParaRPr lang="en-IN" dirty="0"/>
          </a:p>
        </p:txBody>
      </p:sp>
    </p:spTree>
    <p:extLst>
      <p:ext uri="{BB962C8B-B14F-4D97-AF65-F5344CB8AC3E}">
        <p14:creationId xmlns:p14="http://schemas.microsoft.com/office/powerpoint/2010/main" val="3563194956"/>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8D9D0-C263-A9C4-D782-B1F4224681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EAE95-EC97-145C-07BC-838B3BD3A008}"/>
              </a:ext>
            </a:extLst>
          </p:cNvPr>
          <p:cNvSpPr>
            <a:spLocks noGrp="1"/>
          </p:cNvSpPr>
          <p:nvPr>
            <p:ph type="title"/>
          </p:nvPr>
        </p:nvSpPr>
        <p:spPr/>
        <p:txBody>
          <a:bodyPr>
            <a:normAutofit fontScale="90000"/>
          </a:bodyPr>
          <a:lstStyle/>
          <a:p>
            <a:pPr algn="ctr"/>
            <a:br>
              <a:rPr lang="en-US" b="1" dirty="0"/>
            </a:br>
            <a:r>
              <a:rPr lang="en-US" b="1" dirty="0"/>
              <a:t>Types of AI Risks Protected by Guardrails</a:t>
            </a:r>
            <a:br>
              <a:rPr lang="en-US" b="1" dirty="0"/>
            </a:br>
            <a:endParaRPr lang="en-IN" dirty="0"/>
          </a:p>
        </p:txBody>
      </p:sp>
      <p:sp>
        <p:nvSpPr>
          <p:cNvPr id="3" name="Content Placeholder 2">
            <a:extLst>
              <a:ext uri="{FF2B5EF4-FFF2-40B4-BE49-F238E27FC236}">
                <a16:creationId xmlns:a16="http://schemas.microsoft.com/office/drawing/2014/main" id="{C3A762EB-278C-ED56-892A-4138BF1DB92E}"/>
              </a:ext>
            </a:extLst>
          </p:cNvPr>
          <p:cNvSpPr>
            <a:spLocks noGrp="1"/>
          </p:cNvSpPr>
          <p:nvPr>
            <p:ph idx="1"/>
          </p:nvPr>
        </p:nvSpPr>
        <p:spPr/>
        <p:txBody>
          <a:bodyPr>
            <a:normAutofit fontScale="92500"/>
          </a:bodyPr>
          <a:lstStyle/>
          <a:p>
            <a:pPr fontAlgn="base"/>
            <a:r>
              <a:rPr lang="en-US" dirty="0"/>
              <a:t>Guardrails address a spectrum of risks:</a:t>
            </a:r>
          </a:p>
          <a:p>
            <a:pPr fontAlgn="base"/>
            <a:r>
              <a:rPr lang="en-US" b="1" dirty="0"/>
              <a:t>Bias and Discrimination</a:t>
            </a:r>
            <a:r>
              <a:rPr lang="en-US" dirty="0"/>
              <a:t>: Prevent unfair outcomes, like rejecting loan applications based on gender or race.</a:t>
            </a:r>
          </a:p>
          <a:p>
            <a:pPr fontAlgn="base"/>
            <a:r>
              <a:rPr lang="en-US" b="1" dirty="0"/>
              <a:t>Misinformation</a:t>
            </a:r>
            <a:r>
              <a:rPr lang="en-US" dirty="0"/>
              <a:t>: Stop AI from generating or spreading false information.</a:t>
            </a:r>
          </a:p>
          <a:p>
            <a:pPr fontAlgn="base"/>
            <a:r>
              <a:rPr lang="en-US" b="1" dirty="0"/>
              <a:t>Safety Hazards</a:t>
            </a:r>
            <a:r>
              <a:rPr lang="en-US" dirty="0"/>
              <a:t>: Avoid dangerous recommendations, such as incorrect medical advice.</a:t>
            </a:r>
          </a:p>
          <a:p>
            <a:pPr fontAlgn="base"/>
            <a:r>
              <a:rPr lang="en-US" b="1" dirty="0"/>
              <a:t>Privacy Violations</a:t>
            </a:r>
            <a:r>
              <a:rPr lang="en-US" dirty="0"/>
              <a:t>: Protect user data from unauthorized access or leaks.</a:t>
            </a:r>
          </a:p>
          <a:p>
            <a:pPr fontAlgn="base"/>
            <a:r>
              <a:rPr lang="en-US" b="1" dirty="0"/>
              <a:t>Ethical Missteps</a:t>
            </a:r>
            <a:r>
              <a:rPr lang="en-US" dirty="0"/>
              <a:t>: Ensure AI doesn’t promote harmful ideologies or actions.</a:t>
            </a:r>
          </a:p>
          <a:p>
            <a:endParaRPr lang="en-IN" dirty="0"/>
          </a:p>
        </p:txBody>
      </p:sp>
    </p:spTree>
    <p:extLst>
      <p:ext uri="{BB962C8B-B14F-4D97-AF65-F5344CB8AC3E}">
        <p14:creationId xmlns:p14="http://schemas.microsoft.com/office/powerpoint/2010/main" val="3766588821"/>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3BB8F-0860-9D85-66BF-1FC42A34D7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91196-DCF4-0649-922C-7E9B2E0B9C4F}"/>
              </a:ext>
            </a:extLst>
          </p:cNvPr>
          <p:cNvSpPr>
            <a:spLocks noGrp="1"/>
          </p:cNvSpPr>
          <p:nvPr>
            <p:ph type="title"/>
          </p:nvPr>
        </p:nvSpPr>
        <p:spPr/>
        <p:txBody>
          <a:bodyPr>
            <a:normAutofit fontScale="90000"/>
          </a:bodyPr>
          <a:lstStyle/>
          <a:p>
            <a:pPr algn="ctr"/>
            <a:br>
              <a:rPr lang="en-US" b="1" dirty="0"/>
            </a:br>
            <a:r>
              <a:rPr lang="en-US" b="1" dirty="0"/>
              <a:t>Why Do AI Guardrails Matter for Businesses?</a:t>
            </a:r>
            <a:br>
              <a:rPr lang="en-US" b="1" dirty="0"/>
            </a:br>
            <a:endParaRPr lang="en-IN" dirty="0"/>
          </a:p>
        </p:txBody>
      </p:sp>
      <p:sp>
        <p:nvSpPr>
          <p:cNvPr id="3" name="Content Placeholder 2">
            <a:extLst>
              <a:ext uri="{FF2B5EF4-FFF2-40B4-BE49-F238E27FC236}">
                <a16:creationId xmlns:a16="http://schemas.microsoft.com/office/drawing/2014/main" id="{2703E604-8921-80D2-79B0-B1930C085358}"/>
              </a:ext>
            </a:extLst>
          </p:cNvPr>
          <p:cNvSpPr>
            <a:spLocks noGrp="1"/>
          </p:cNvSpPr>
          <p:nvPr>
            <p:ph idx="1"/>
          </p:nvPr>
        </p:nvSpPr>
        <p:spPr/>
        <p:txBody>
          <a:bodyPr>
            <a:normAutofit fontScale="92500" lnSpcReduction="10000"/>
          </a:bodyPr>
          <a:lstStyle/>
          <a:p>
            <a:pPr fontAlgn="base"/>
            <a:r>
              <a:rPr lang="en-US" dirty="0"/>
              <a:t>Implementing AI guardrails is crucial for several reasons:</a:t>
            </a:r>
          </a:p>
          <a:p>
            <a:pPr fontAlgn="base"/>
            <a:r>
              <a:rPr lang="en-US" b="1" dirty="0"/>
              <a:t>Risk Mitigation:</a:t>
            </a:r>
            <a:r>
              <a:rPr lang="en-US" dirty="0"/>
              <a:t> Prevents AI from generating harmful, biased or non-compliant outputs.</a:t>
            </a:r>
          </a:p>
          <a:p>
            <a:pPr fontAlgn="base"/>
            <a:r>
              <a:rPr lang="en-US" b="1" dirty="0"/>
              <a:t>Regulatory Compliance:</a:t>
            </a:r>
            <a:r>
              <a:rPr lang="en-US" dirty="0"/>
              <a:t> Ensures adherence to industry-specific regulations and reducing legal risks.</a:t>
            </a:r>
          </a:p>
          <a:p>
            <a:pPr fontAlgn="base"/>
            <a:r>
              <a:rPr lang="en-US" b="1" dirty="0"/>
              <a:t>Data Protection:</a:t>
            </a:r>
            <a:r>
              <a:rPr lang="en-US" dirty="0"/>
              <a:t> Safeguards sensitive and personal information from unauthorized exposure.</a:t>
            </a:r>
          </a:p>
          <a:p>
            <a:pPr fontAlgn="base"/>
            <a:r>
              <a:rPr lang="en-US" b="1" dirty="0"/>
              <a:t>Brand Protection:</a:t>
            </a:r>
            <a:r>
              <a:rPr lang="en-US" dirty="0"/>
              <a:t> Maintains consistency with company values and public image.</a:t>
            </a:r>
          </a:p>
          <a:p>
            <a:pPr fontAlgn="base"/>
            <a:r>
              <a:rPr lang="en-US" b="1" dirty="0"/>
              <a:t>Operational Efficiency:</a:t>
            </a:r>
            <a:r>
              <a:rPr lang="en-US" dirty="0"/>
              <a:t> Enables safe, reliable and scalable AI deployment leading to better business outcomes</a:t>
            </a:r>
          </a:p>
          <a:p>
            <a:endParaRPr lang="en-IN" dirty="0"/>
          </a:p>
        </p:txBody>
      </p:sp>
    </p:spTree>
    <p:extLst>
      <p:ext uri="{BB962C8B-B14F-4D97-AF65-F5344CB8AC3E}">
        <p14:creationId xmlns:p14="http://schemas.microsoft.com/office/powerpoint/2010/main" val="2742917799"/>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2ED34-E47D-46C8-73BB-B6BCF0973C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2F32C3-1315-16BE-76A3-2905298A548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9DB9FF6-875E-EF15-E694-DA935E94581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66522832"/>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1B859-364C-00A9-6C9E-A35C9720A9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C5F4AD-7001-A624-6B8E-AC4A9FE2D31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0614337-DA0F-730D-5509-4433CAAE022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980896265"/>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B2C5A-C62F-27AE-BB2E-975B2908A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76DFDA-27BB-FE7D-F816-11A97716893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D7F2CF4-5B46-92BB-D93A-B349DEFE64E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728286510"/>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8546A-3B6C-A40B-13C8-ADA2983F3B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941342-0908-A45E-1E3F-E0BAE193347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F791861-2CD9-9C69-1F34-41816CF1EA0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678315809"/>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B4169-300C-10BE-56DF-BA9442740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65F52F-0667-DA63-E208-ED8059CA3D3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8E371CF-CA66-3EC4-4133-4487D26AD98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094596858"/>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CD7AA-F101-4CFC-2892-9BE40FD8B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8FA995-E661-791F-FAB4-C7D874A3A93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07E6262-C14B-12B2-3FE8-16EE5BFDA62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365833646"/>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DC5CD-4347-615D-A6B7-312F2170FA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B180E4-D5B1-BBF1-1BC5-FC7B128F148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1E7AF9B-A9C6-112F-ACFF-DE7C8D41A26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21577865"/>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8003A-F5D5-33B6-4684-3C118448ED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90AFF-9F7C-1187-FE1E-EA2569CAC0A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AB6B921-C5FE-3B51-CA3D-937A012865D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9994278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2161</TotalTime>
  <Words>9539</Words>
  <Application>Microsoft Office PowerPoint</Application>
  <PresentationFormat>Widescreen</PresentationFormat>
  <Paragraphs>1567</Paragraphs>
  <Slides>294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294</vt:i4>
      </vt:variant>
    </vt:vector>
  </HeadingPairs>
  <TitlesOfParts>
    <vt:vector size="303" baseType="lpstr">
      <vt:lpstr>Algerian</vt:lpstr>
      <vt:lpstr>-apple-system</vt:lpstr>
      <vt:lpstr>Arial</vt:lpstr>
      <vt:lpstr>Calibri</vt:lpstr>
      <vt:lpstr>Calibri Light</vt:lpstr>
      <vt:lpstr>Google Sans</vt:lpstr>
      <vt:lpstr>Times New Roman</vt:lpstr>
      <vt:lpstr>Wingdings</vt:lpstr>
      <vt:lpstr>Office Theme</vt:lpstr>
      <vt:lpstr>AI in Finance</vt:lpstr>
      <vt:lpstr>WHO  AM I?</vt:lpstr>
      <vt:lpstr>Agenda</vt:lpstr>
      <vt:lpstr>What is Artificial Intelligence?</vt:lpstr>
      <vt:lpstr>Tasks </vt:lpstr>
      <vt:lpstr>AI Around Us</vt:lpstr>
      <vt:lpstr>How many AI applications have you already used before reaching office today</vt:lpstr>
      <vt:lpstr>AI is Like a Student</vt:lpstr>
      <vt:lpstr>AI is Like a Student</vt:lpstr>
      <vt:lpstr>Activity</vt:lpstr>
      <vt:lpstr>Create an image of a man  writing with Left hand</vt:lpstr>
      <vt:lpstr>Image Generation</vt:lpstr>
      <vt:lpstr>According to our communication sofar, Which hindi movie character do you relate me with? Justify.</vt:lpstr>
      <vt:lpstr>PowerPoint Presentation</vt:lpstr>
      <vt:lpstr>PowerPoint Presentation</vt:lpstr>
      <vt:lpstr>PowerPoint Presentation</vt:lpstr>
      <vt:lpstr>PowerPoint Presentation</vt:lpstr>
      <vt:lpstr>PowerPoint Presentation</vt:lpstr>
      <vt:lpstr>PowerPoint Presentation</vt:lpstr>
      <vt:lpstr>Why AI Sometimes Fails</vt:lpstr>
      <vt:lpstr>Why AI Sometimes Fails</vt:lpstr>
      <vt:lpstr>Narrow AI (Weak AI)</vt:lpstr>
      <vt:lpstr>Narrow AI (Weak AI)</vt:lpstr>
      <vt:lpstr>Artificial General Intelligence (AGI)</vt:lpstr>
      <vt:lpstr>Artificial General Intelligence (AGI)</vt:lpstr>
      <vt:lpstr>Agentic AI </vt:lpstr>
      <vt:lpstr>Activity: Travel Agent Example</vt:lpstr>
      <vt:lpstr>Agentic AI in Business</vt:lpstr>
      <vt:lpstr>Evolution of AI Systems</vt:lpstr>
      <vt:lpstr>Stage 1: Rule-Based AI (1950s–1990s)</vt:lpstr>
      <vt:lpstr>Stage 1: Rule-Based AI (1950s–1990s)</vt:lpstr>
      <vt:lpstr>Stage 2: Machine Learning</vt:lpstr>
      <vt:lpstr>Stage 3: Deep Learning</vt:lpstr>
      <vt:lpstr>Stage 3: Deep Learning</vt:lpstr>
      <vt:lpstr>Stage 4: Generative AI</vt:lpstr>
      <vt:lpstr>Stage 4: Generative AI</vt:lpstr>
      <vt:lpstr>Stage 4: Generative AI</vt:lpstr>
      <vt:lpstr>Stage 5: Agentic AI</vt:lpstr>
      <vt:lpstr>Stage 5: Agentic AI</vt:lpstr>
      <vt:lpstr>Hands-On Demonstration</vt:lpstr>
      <vt:lpstr> What is Data?  </vt:lpstr>
      <vt:lpstr>What is DATA?</vt:lpstr>
      <vt:lpstr>PowerPoint Presentation</vt:lpstr>
      <vt:lpstr>PowerPoint Presentation</vt:lpstr>
      <vt:lpstr>Structured or Unstructured?</vt:lpstr>
      <vt:lpstr>When to Use ML, CV, NLP, and DL? </vt:lpstr>
      <vt:lpstr>Machine Learning (ML) </vt:lpstr>
      <vt:lpstr>Computer Vision (CV)</vt:lpstr>
      <vt:lpstr>Natural Language Processing (NLP)</vt:lpstr>
      <vt:lpstr>Deep Learning (DL) </vt:lpstr>
      <vt:lpstr>Problem Statements</vt:lpstr>
      <vt:lpstr>PowerPoint Presentation</vt:lpstr>
      <vt:lpstr>AI vs ML vs DL vs Generative AI</vt:lpstr>
      <vt:lpstr>Types of Analytics</vt:lpstr>
      <vt:lpstr>PowerPoint Presentation</vt:lpstr>
      <vt:lpstr>PowerPoint Presentation</vt:lpstr>
      <vt:lpstr>Data Science/Machine Learning</vt:lpstr>
      <vt:lpstr>Problem Statement</vt:lpstr>
      <vt:lpstr>PowerPoint Presentation</vt:lpstr>
      <vt:lpstr>PowerPoint Presentation</vt:lpstr>
      <vt:lpstr>PowerPoint Presentation</vt:lpstr>
      <vt:lpstr>PowerPoint Presentation</vt:lpstr>
      <vt:lpstr>PowerPoint Presentation</vt:lpstr>
      <vt:lpstr>Analytic Approach</vt:lpstr>
      <vt:lpstr>Supervised Learning</vt:lpstr>
      <vt:lpstr>PowerPoint Presentation</vt:lpstr>
      <vt:lpstr>PowerPoint Presentation</vt:lpstr>
      <vt:lpstr>PowerPoint Presentation</vt:lpstr>
      <vt:lpstr>PowerPoint Presentation</vt:lpstr>
      <vt:lpstr>Data?</vt:lpstr>
      <vt:lpstr>Types of Analytics</vt:lpstr>
      <vt:lpstr>PowerPoint Presentation</vt:lpstr>
      <vt:lpstr>PowerPoint Presentation</vt:lpstr>
      <vt:lpstr>PowerPoint Presentation</vt:lpstr>
      <vt:lpstr>PowerPoint Presentation</vt:lpstr>
      <vt:lpstr>PowerPoint Presentation</vt:lpstr>
      <vt:lpstr>Data Science/Machine Learning</vt:lpstr>
      <vt:lpstr>Problem Statement</vt:lpstr>
      <vt:lpstr>Analytic Approach</vt:lpstr>
      <vt:lpstr>Analytic Approach</vt:lpstr>
      <vt:lpstr>Supervised Learning</vt:lpstr>
      <vt:lpstr>PowerPoint Presentation</vt:lpstr>
      <vt:lpstr>PowerPoint Presentation</vt:lpstr>
      <vt:lpstr>PowerPoint Presentation</vt:lpstr>
      <vt:lpstr>PowerPoint Presentation</vt:lpstr>
      <vt:lpstr>What is AI in Finance?</vt:lpstr>
      <vt:lpstr>Simple Example </vt:lpstr>
      <vt:lpstr>Pattern Recognition </vt:lpstr>
      <vt:lpstr>Automation </vt:lpstr>
      <vt:lpstr>Decision Support </vt:lpstr>
      <vt:lpstr>PowerPoint Presentation</vt:lpstr>
      <vt:lpstr>Key Changes in Financial Products</vt:lpstr>
      <vt:lpstr>PowerPoint Presentation</vt:lpstr>
      <vt:lpstr>Real-Time Decision Making</vt:lpstr>
      <vt:lpstr>Smarter Risk Management</vt:lpstr>
      <vt:lpstr>PowerPoint Presentation</vt:lpstr>
      <vt:lpstr>Intelligent Automation </vt:lpstr>
      <vt:lpstr>PowerPoint Presentation</vt:lpstr>
      <vt:lpstr>Proactive Financial Insights</vt:lpstr>
      <vt:lpstr>Role of an AI-Aware Finance Product Manager</vt:lpstr>
      <vt:lpstr>Key Responsibilities</vt:lpstr>
      <vt:lpstr>Key Responsibilities</vt:lpstr>
      <vt:lpstr>Key Responsibilities</vt:lpstr>
      <vt:lpstr>Key Responsibilities</vt:lpstr>
      <vt:lpstr>Key Responsibilities</vt:lpstr>
      <vt:lpstr>Key Responsibilities</vt:lpstr>
      <vt:lpstr>How AI Impacts Key Finance Functions</vt:lpstr>
      <vt:lpstr>Payments</vt:lpstr>
      <vt:lpstr>Risk Management</vt:lpstr>
      <vt:lpstr>Compliance</vt:lpstr>
      <vt:lpstr>Finance Operations</vt:lpstr>
      <vt:lpstr>As an AIPM</vt:lpstr>
      <vt:lpstr>Understanding AI Product Management</vt:lpstr>
      <vt:lpstr> Why Product Managers Need to Understand AI Behaviour </vt:lpstr>
      <vt:lpstr>Example in finance: </vt:lpstr>
      <vt:lpstr>Why PMs Must Understand AI Behaviour</vt:lpstr>
      <vt:lpstr>PowerPoint Presentation</vt:lpstr>
      <vt:lpstr>PowerPoint Presentation</vt:lpstr>
      <vt:lpstr>PowerPoint Presentation</vt:lpstr>
      <vt:lpstr>PowerPoint Presentation</vt:lpstr>
      <vt:lpstr>How AI Improves Understanding of Customers and Decisions</vt:lpstr>
      <vt:lpstr>Example 1: Customer Behavior Analysis </vt:lpstr>
      <vt:lpstr>PowerPoint Presentation</vt:lpstr>
      <vt:lpstr>Example 2: Risk Understanding </vt:lpstr>
      <vt:lpstr>PowerPoint Presentation</vt:lpstr>
      <vt:lpstr>Example 3: Operational Decision Support </vt:lpstr>
      <vt:lpstr>Evaluating Which Financial Problems  Require AI</vt:lpstr>
      <vt:lpstr>Step 1: Check If the Problem Involves Patterns </vt:lpstr>
      <vt:lpstr>PowerPoint Presentation</vt:lpstr>
      <vt:lpstr>Step 2: Check If Historical Data Exists </vt:lpstr>
      <vt:lpstr>Step 3: Check If the Problem Requires Prediction </vt:lpstr>
      <vt:lpstr>Step 4: Check If the Problem Involves Large Data </vt:lpstr>
      <vt:lpstr> Simple Decision Framework for PMs </vt:lpstr>
      <vt:lpstr>PowerPoint Presentation</vt:lpstr>
      <vt:lpstr>Machine Learning Thinking for Finance (Business Perspective)</vt:lpstr>
      <vt:lpstr>PowerPoint Presentation</vt:lpstr>
      <vt:lpstr>How AI Identifies Patterns (Fraud, Defaults) </vt:lpstr>
      <vt:lpstr> Example: Fraud Detection </vt:lpstr>
      <vt:lpstr>Example pattern</vt:lpstr>
      <vt:lpstr>PowerPoint Presentation</vt:lpstr>
      <vt:lpstr> Example: Loan Default Pattern </vt:lpstr>
      <vt:lpstr>How AI Predicts Outcomes (Risk, Cash Flow)</vt:lpstr>
      <vt:lpstr>PowerPoint Presentation</vt:lpstr>
      <vt:lpstr>PowerPoint Presentation</vt:lpstr>
      <vt:lpstr> Example: Cash Flow Forecasting </vt:lpstr>
      <vt:lpstr>Example insight</vt:lpstr>
      <vt:lpstr>How AI Classifies Customers  (Priority, Risk Levels)</vt:lpstr>
      <vt:lpstr>PowerPoint Presentation</vt:lpstr>
      <vt:lpstr>Example: Customer Priority Segmentation </vt:lpstr>
      <vt:lpstr>PowerPoint Presentation</vt:lpstr>
      <vt:lpstr>PowerPoint Presentation</vt:lpstr>
      <vt:lpstr>Examples from Finance Functions </vt:lpstr>
      <vt:lpstr>PowerPoint Presentation</vt:lpstr>
      <vt:lpstr>Payments </vt:lpstr>
      <vt:lpstr>Reconciliation </vt:lpstr>
      <vt:lpstr>PowerPoint Presentation</vt:lpstr>
      <vt:lpstr>Risk Management </vt:lpstr>
      <vt:lpstr>As an AIPM</vt:lpstr>
      <vt:lpstr>Working with Data as a Product Manager</vt:lpstr>
      <vt:lpstr>What “Useful Data” Means in Finance</vt:lpstr>
      <vt:lpstr>PowerPoint Presentation</vt:lpstr>
      <vt:lpstr>Relevant Data</vt:lpstr>
      <vt:lpstr>                          Accurate Data </vt:lpstr>
      <vt:lpstr>PowerPoint Presentation</vt:lpstr>
      <vt:lpstr> Sufficient Data </vt:lpstr>
      <vt:lpstr>Evaluating if Data is Good Enough for an AI Feature</vt:lpstr>
      <vt:lpstr>Is the Data Structured or Unstructured? </vt:lpstr>
      <vt:lpstr>PowerPoint Presentation</vt:lpstr>
      <vt:lpstr>PowerPoint Presentation</vt:lpstr>
      <vt:lpstr>PowerPoint Presentation</vt:lpstr>
      <vt:lpstr>Is the Data Biased?</vt:lpstr>
      <vt:lpstr>Aligning Business Outcomes with  Prediction or Automation</vt:lpstr>
      <vt:lpstr>Example 1: Lending </vt:lpstr>
      <vt:lpstr>Example 2: Payments </vt:lpstr>
      <vt:lpstr>Example 3: Finance Operations </vt:lpstr>
      <vt:lpstr>Key Idea for Product Managers </vt:lpstr>
      <vt:lpstr>Machine Learning (ML) &amp; Deep Learning </vt:lpstr>
      <vt:lpstr>  Robotic Process Automation (RPA)  Enhanced with AI </vt:lpstr>
      <vt:lpstr>Natural Language Processing (NLP) </vt:lpstr>
      <vt:lpstr>Generative AI </vt:lpstr>
      <vt:lpstr>Computer Vision </vt:lpstr>
      <vt:lpstr>AI-Driven Portfolio Management &amp; Algo-Trading </vt:lpstr>
      <vt:lpstr> Hyper-Personalized Banking &amp; Wealth Management </vt:lpstr>
      <vt:lpstr>3. Predictive Risk Management &amp; Underwriting </vt:lpstr>
      <vt:lpstr>4. Next-Generation Fraud Detection and AML </vt:lpstr>
      <vt:lpstr>Autonomous Finance Operations </vt:lpstr>
      <vt:lpstr>PowerPoint Presentation</vt:lpstr>
      <vt:lpstr>PowerPoint Presentation</vt:lpstr>
      <vt:lpstr>PowerPoint Presentation</vt:lpstr>
      <vt:lpstr>PowerPoint Presentation</vt:lpstr>
      <vt:lpstr>Language Intelligence for Product Managers</vt:lpstr>
      <vt:lpstr>How AI Understands Language</vt:lpstr>
      <vt:lpstr>PowerPoint Presentation</vt:lpstr>
      <vt:lpstr>How AI Interprets Policies and Rules</vt:lpstr>
      <vt:lpstr>PowerPoint Presentation</vt:lpstr>
      <vt:lpstr>PowerPoint Presentation</vt:lpstr>
      <vt:lpstr>How AI Reads Forms and Financial Documents</vt:lpstr>
      <vt:lpstr>PowerPoint Presentation</vt:lpstr>
      <vt:lpstr>PowerPoint Presentation</vt:lpstr>
      <vt:lpstr>How AI Understands Customer Intent</vt:lpstr>
      <vt:lpstr>PowerPoint Presentation</vt:lpstr>
      <vt:lpstr>PowerPoint Presentation</vt:lpstr>
      <vt:lpstr>PowerPoint Presentation</vt:lpstr>
      <vt:lpstr>How AI Detects Tone and Sentiment</vt:lpstr>
      <vt:lpstr>PowerPoint Presentation</vt:lpstr>
      <vt:lpstr>PowerPoint Presentation</vt:lpstr>
      <vt:lpstr>How AI Uses Context to Understand Meaning</vt:lpstr>
      <vt:lpstr>PowerPoint Presentation</vt:lpstr>
      <vt:lpstr>Strengths of Language AI in Financial Products</vt:lpstr>
      <vt:lpstr>PowerPoint Presentation</vt:lpstr>
      <vt:lpstr>Limitations Financial PMs Must Understand </vt:lpstr>
      <vt:lpstr>PowerPoint Presentation</vt:lpstr>
      <vt:lpstr>PowerPoint Presentation</vt:lpstr>
      <vt:lpstr>Practical Design Guidelines for Financial PMs</vt:lpstr>
      <vt:lpstr>PowerPoint Presentation</vt:lpstr>
      <vt:lpstr>Key Takeaway for Product Managers</vt:lpstr>
      <vt:lpstr>PowerPoint Presentation</vt:lpstr>
      <vt:lpstr>Where LLMs Can Be Used in Financial Products</vt:lpstr>
      <vt:lpstr>Where LLMs Should Not Be Used in Financial Products </vt:lpstr>
      <vt:lpstr>Language Intelligence for Product Managers</vt:lpstr>
      <vt:lpstr>How AI Understands Language</vt:lpstr>
      <vt:lpstr>PowerPoint Presentation</vt:lpstr>
      <vt:lpstr>How AI Interprets Policies and Rules</vt:lpstr>
      <vt:lpstr>PowerPoint Presentation</vt:lpstr>
      <vt:lpstr>PowerPoint Presentation</vt:lpstr>
      <vt:lpstr>How AI Reads Forms and Financial Documents</vt:lpstr>
      <vt:lpstr>PowerPoint Presentation</vt:lpstr>
      <vt:lpstr>PowerPoint Presentation</vt:lpstr>
      <vt:lpstr>How AI Understands Customer Intent</vt:lpstr>
      <vt:lpstr>PowerPoint Presentation</vt:lpstr>
      <vt:lpstr>Step-by-Step Process</vt:lpstr>
      <vt:lpstr>Step-by-Step Process</vt:lpstr>
      <vt:lpstr>Step-by-Step Process</vt:lpstr>
      <vt:lpstr>Step-by-Step Process</vt:lpstr>
      <vt:lpstr>Step-by-Step Process</vt:lpstr>
      <vt:lpstr>Step-by-Step Process</vt:lpstr>
      <vt:lpstr>Step-by-Step Process</vt:lpstr>
      <vt:lpstr>How AI Detects Tone and Sentiment</vt:lpstr>
      <vt:lpstr>How AI Detects Tone and Sentiment</vt:lpstr>
      <vt:lpstr>How AI Detects Tone and Sentiment</vt:lpstr>
      <vt:lpstr>How AI Uses Context to Understand Meaning</vt:lpstr>
      <vt:lpstr>How AI Detects Tone and Sentiment</vt:lpstr>
      <vt:lpstr>Strengths of Language AI in Financial Products</vt:lpstr>
      <vt:lpstr>How AI Detects Tone and Sentiment</vt:lpstr>
      <vt:lpstr>Limitations Financial PMs Must Understand </vt:lpstr>
      <vt:lpstr>PowerPoint Presentation</vt:lpstr>
      <vt:lpstr>PowerPoint Presentation</vt:lpstr>
      <vt:lpstr>Practical Design Guidelines for Financial PMs</vt:lpstr>
      <vt:lpstr>PowerPoint Presentation</vt:lpstr>
      <vt:lpstr>Key Takeaway for Product Managers</vt:lpstr>
      <vt:lpstr>PowerPoint Presentation</vt:lpstr>
      <vt:lpstr>Where LLMs Can Be Used in Financial Products</vt:lpstr>
      <vt:lpstr>Where LLMs Should Not Be Used in Financial Products </vt:lpstr>
      <vt:lpstr>Ethical and Responsible AI in Finance</vt:lpstr>
      <vt:lpstr>PowerPoint Presentation</vt:lpstr>
      <vt:lpstr>PowerPoint Presentation</vt:lpstr>
      <vt:lpstr> Why Ethical AI Is Different in Finance </vt:lpstr>
      <vt:lpstr> Why Ethical AI Is Different in Finance </vt:lpstr>
      <vt:lpstr> Why Ethical AI Is Different in Finance </vt:lpstr>
      <vt:lpstr> Core Ethical Risk Areas in Financial AI </vt:lpstr>
      <vt:lpstr>How Bias Enters AI Systems </vt:lpstr>
      <vt:lpstr>Equal Opportunity and False Positive Gaps</vt:lpstr>
      <vt:lpstr>Strategic Question </vt:lpstr>
      <vt:lpstr> Privacy and Data Governance </vt:lpstr>
      <vt:lpstr> Privacy and Data Governance </vt:lpstr>
      <vt:lpstr> Privacy and Data Governance </vt:lpstr>
      <vt:lpstr>PowerPoint Presentation</vt:lpstr>
      <vt:lpstr>Privacy Mitigation Strategies </vt:lpstr>
      <vt:lpstr> Explainability and Transparency </vt:lpstr>
      <vt:lpstr>Why Explainability Is Critical in Finance </vt:lpstr>
      <vt:lpstr>Global vs Local Explainability </vt:lpstr>
      <vt:lpstr>Governance and Accountability </vt:lpstr>
      <vt:lpstr>AI Governance Framework </vt:lpstr>
      <vt:lpstr>Human-in-the-Loop </vt:lpstr>
      <vt:lpstr>Documentation and Audit </vt:lpstr>
      <vt:lpstr>Ethical AI as Strategic Advantage </vt:lpstr>
      <vt:lpstr> What are AI Guardrails? </vt:lpstr>
      <vt:lpstr> What are AI Guardrails? </vt:lpstr>
      <vt:lpstr>PowerPoint Presentation</vt:lpstr>
      <vt:lpstr>Is Prompt Engineering Enough? </vt:lpstr>
      <vt:lpstr>How Do AI Guardrails Work? </vt:lpstr>
      <vt:lpstr>PowerPoint Presentation</vt:lpstr>
      <vt:lpstr> Types of AI Guardrails </vt:lpstr>
      <vt:lpstr>  Banking Industry </vt:lpstr>
      <vt:lpstr> Types of AI Risks Protected by Guardrails </vt:lpstr>
      <vt:lpstr> Why Do AI Guardrails Matter for Businesses?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Latha T K</dc:creator>
  <cp:lastModifiedBy>Latha T K</cp:lastModifiedBy>
  <cp:revision>15</cp:revision>
  <dcterms:created xsi:type="dcterms:W3CDTF">2026-03-09T16:00:17Z</dcterms:created>
  <dcterms:modified xsi:type="dcterms:W3CDTF">2026-09-21T03:40:29Z</dcterms:modified>
</cp:coreProperties>
</file>